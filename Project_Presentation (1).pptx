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ppt/charts/chart5.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77" r:id="rId3"/>
    <p:sldId id="289" r:id="rId4"/>
    <p:sldId id="288" r:id="rId5"/>
    <p:sldId id="279" r:id="rId6"/>
    <p:sldId id="290" r:id="rId7"/>
    <p:sldId id="261" r:id="rId8"/>
    <p:sldId id="291" r:id="rId9"/>
    <p:sldId id="292" r:id="rId10"/>
    <p:sldId id="264" r:id="rId11"/>
    <p:sldId id="293" r:id="rId12"/>
    <p:sldId id="294" r:id="rId13"/>
    <p:sldId id="295" r:id="rId14"/>
    <p:sldId id="296" r:id="rId15"/>
    <p:sldId id="286" r:id="rId16"/>
    <p:sldId id="298" r:id="rId17"/>
    <p:sldId id="297" r:id="rId18"/>
    <p:sldId id="305" r:id="rId19"/>
    <p:sldId id="306" r:id="rId20"/>
    <p:sldId id="307" r:id="rId21"/>
    <p:sldId id="308" r:id="rId22"/>
    <p:sldId id="309" r:id="rId23"/>
    <p:sldId id="310" r:id="rId24"/>
    <p:sldId id="311" r:id="rId25"/>
    <p:sldId id="274" r:id="rId26"/>
    <p:sldId id="275"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7BCD"/>
    <a:srgbClr val="E4733B"/>
    <a:srgbClr val="FFFFFF"/>
    <a:srgbClr val="F6F4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56007E-9850-7FD4-81FA-8B006AC2C1E1}" v="181" dt="2026-10-11T18:55:18.258"/>
    <p1510:client id="{38E4618F-C8A7-3982-5095-F27D2CAAA032}" v="19" dt="2026-10-11T22:20:26.264"/>
    <p1510:client id="{97F98A57-9768-F8CD-9F46-C3080DCA981D}" v="176" dt="2026-10-10T23:24:59.474"/>
    <p1510:client id="{9F7B3510-161E-ACB4-0078-F228B0A3B5F2}" v="251" dt="2026-10-11T21:53:38.8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F2A3D"/>
                </a:solidFill>
                <a:latin typeface="Calibri"/>
              </a:defRPr>
            </a:pPr>
            <a:r>
              <a:rPr lang="en-US" sz="1200" b="0" i="0" u="none" strike="noStrike">
                <a:solidFill>
                  <a:srgbClr val="0F2A3D"/>
                </a:solidFill>
                <a:latin typeface="Calibri"/>
              </a:rPr>
              <a:t>Salary distribution (outliers removed)</a:t>
            </a:r>
          </a:p>
        </c:rich>
      </c:tx>
      <c:overlay val="0"/>
    </c:title>
    <c:autoTitleDeleted val="0"/>
    <c:plotArea>
      <c:layout/>
      <c:barChart>
        <c:barDir val="col"/>
        <c:grouping val="clustered"/>
        <c:varyColors val="0"/>
        <c:ser>
          <c:idx val="0"/>
          <c:order val="0"/>
          <c:tx>
            <c:strRef>
              <c:f>Sheet1!$B$1</c:f>
              <c:strCache>
                <c:ptCount val="1"/>
                <c:pt idx="0">
                  <c:v>Records</c:v>
                </c:pt>
              </c:strCache>
            </c:strRef>
          </c:tx>
          <c:spPr>
            <a:solidFill>
              <a:srgbClr val="E4733B"/>
            </a:solidFill>
            <a:effectLst/>
          </c:spPr>
          <c:invertIfNegative val="0"/>
          <c:cat>
            <c:strRef>
              <c:f>Sheet1!$A$2:$A$31</c:f>
              <c:strCache>
                <c:ptCount val="30"/>
                <c:pt idx="0">
                  <c:v>15</c:v>
                </c:pt>
                <c:pt idx="1">
                  <c:v>25</c:v>
                </c:pt>
                <c:pt idx="2">
                  <c:v>36</c:v>
                </c:pt>
                <c:pt idx="3">
                  <c:v>46</c:v>
                </c:pt>
                <c:pt idx="4">
                  <c:v>57</c:v>
                </c:pt>
                <c:pt idx="5">
                  <c:v>67</c:v>
                </c:pt>
                <c:pt idx="6">
                  <c:v>78</c:v>
                </c:pt>
                <c:pt idx="7">
                  <c:v>88</c:v>
                </c:pt>
                <c:pt idx="8">
                  <c:v>99</c:v>
                </c:pt>
                <c:pt idx="9">
                  <c:v>109</c:v>
                </c:pt>
                <c:pt idx="10">
                  <c:v>120</c:v>
                </c:pt>
                <c:pt idx="11">
                  <c:v>131</c:v>
                </c:pt>
                <c:pt idx="12">
                  <c:v>141</c:v>
                </c:pt>
                <c:pt idx="13">
                  <c:v>152</c:v>
                </c:pt>
                <c:pt idx="14">
                  <c:v>162</c:v>
                </c:pt>
                <c:pt idx="15">
                  <c:v>173</c:v>
                </c:pt>
                <c:pt idx="16">
                  <c:v>183</c:v>
                </c:pt>
                <c:pt idx="17">
                  <c:v>194</c:v>
                </c:pt>
                <c:pt idx="18">
                  <c:v>204</c:v>
                </c:pt>
                <c:pt idx="19">
                  <c:v>215</c:v>
                </c:pt>
                <c:pt idx="20">
                  <c:v>226</c:v>
                </c:pt>
                <c:pt idx="21">
                  <c:v>236</c:v>
                </c:pt>
                <c:pt idx="22">
                  <c:v>247</c:v>
                </c:pt>
                <c:pt idx="23">
                  <c:v>257</c:v>
                </c:pt>
                <c:pt idx="24">
                  <c:v>268</c:v>
                </c:pt>
                <c:pt idx="25">
                  <c:v>278</c:v>
                </c:pt>
                <c:pt idx="26">
                  <c:v>289</c:v>
                </c:pt>
                <c:pt idx="27">
                  <c:v>299</c:v>
                </c:pt>
                <c:pt idx="28">
                  <c:v>310</c:v>
                </c:pt>
                <c:pt idx="29">
                  <c:v>321</c:v>
                </c:pt>
              </c:strCache>
            </c:strRef>
          </c:cat>
          <c:val>
            <c:numRef>
              <c:f>Sheet1!$B$2:$B$31</c:f>
              <c:numCache>
                <c:formatCode>General</c:formatCode>
                <c:ptCount val="30"/>
                <c:pt idx="0">
                  <c:v>375</c:v>
                </c:pt>
                <c:pt idx="1">
                  <c:v>646</c:v>
                </c:pt>
                <c:pt idx="2">
                  <c:v>1240</c:v>
                </c:pt>
                <c:pt idx="3">
                  <c:v>2151</c:v>
                </c:pt>
                <c:pt idx="4">
                  <c:v>2882</c:v>
                </c:pt>
                <c:pt idx="5">
                  <c:v>3601</c:v>
                </c:pt>
                <c:pt idx="6">
                  <c:v>4102</c:v>
                </c:pt>
                <c:pt idx="7">
                  <c:v>4283</c:v>
                </c:pt>
                <c:pt idx="8">
                  <c:v>4239</c:v>
                </c:pt>
                <c:pt idx="9">
                  <c:v>5107</c:v>
                </c:pt>
                <c:pt idx="10">
                  <c:v>4398</c:v>
                </c:pt>
                <c:pt idx="11">
                  <c:v>4293</c:v>
                </c:pt>
                <c:pt idx="12">
                  <c:v>4328</c:v>
                </c:pt>
                <c:pt idx="13">
                  <c:v>3488</c:v>
                </c:pt>
                <c:pt idx="14">
                  <c:v>3577</c:v>
                </c:pt>
                <c:pt idx="15">
                  <c:v>3258</c:v>
                </c:pt>
                <c:pt idx="16">
                  <c:v>2744</c:v>
                </c:pt>
                <c:pt idx="17">
                  <c:v>2611</c:v>
                </c:pt>
                <c:pt idx="18">
                  <c:v>2242</c:v>
                </c:pt>
                <c:pt idx="19">
                  <c:v>2015</c:v>
                </c:pt>
                <c:pt idx="20">
                  <c:v>1431</c:v>
                </c:pt>
                <c:pt idx="21">
                  <c:v>1324</c:v>
                </c:pt>
                <c:pt idx="22">
                  <c:v>1374</c:v>
                </c:pt>
                <c:pt idx="23">
                  <c:v>1048</c:v>
                </c:pt>
                <c:pt idx="24">
                  <c:v>748</c:v>
                </c:pt>
                <c:pt idx="25">
                  <c:v>747</c:v>
                </c:pt>
                <c:pt idx="26">
                  <c:v>570</c:v>
                </c:pt>
                <c:pt idx="27">
                  <c:v>645</c:v>
                </c:pt>
                <c:pt idx="28">
                  <c:v>374</c:v>
                </c:pt>
                <c:pt idx="29">
                  <c:v>318</c:v>
                </c:pt>
              </c:numCache>
            </c:numRef>
          </c:val>
          <c:extLst>
            <c:ext xmlns:c16="http://schemas.microsoft.com/office/drawing/2014/chart" uri="{C3380CC4-5D6E-409C-BE32-E72D297353CC}">
              <c16:uniqueId val="{00000000-E5A0-4351-9752-79D1BDC3BDAD}"/>
            </c:ext>
          </c:extLst>
        </c:ser>
        <c:dLbls>
          <c:showLegendKey val="0"/>
          <c:showVal val="0"/>
          <c:showCatName val="0"/>
          <c:showSerName val="0"/>
          <c:showPercent val="0"/>
          <c:showBubbleSize val="0"/>
        </c:dLbls>
        <c:gapWidth val="8"/>
        <c:axId val="2094734554"/>
        <c:axId val="2094734552"/>
      </c:barChart>
      <c:catAx>
        <c:axId val="2094734554"/>
        <c:scaling>
          <c:orientation val="minMax"/>
        </c:scaling>
        <c:delete val="0"/>
        <c:axPos val="b"/>
        <c:title>
          <c:tx>
            <c:rich>
              <a:bodyPr/>
              <a:lstStyle/>
              <a:p>
                <a:pPr>
                  <a:defRPr sz="1000" b="0" i="0" u="none" strike="noStrike">
                    <a:solidFill>
                      <a:srgbClr val="5E666C"/>
                    </a:solidFill>
                    <a:latin typeface="Arial"/>
                  </a:defRPr>
                </a:pPr>
                <a:r>
                  <a:rPr lang="en-US" sz="1000" b="0" i="0" u="none" strike="noStrike">
                    <a:solidFill>
                      <a:srgbClr val="5E666C"/>
                    </a:solidFill>
                    <a:latin typeface="Arial"/>
                  </a:rPr>
                  <a:t>Salary (USD thousands, bin start)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F2A3D"/>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DD9CE"/>
              </a:solidFill>
              <a:prstDash val="solid"/>
              <a:round/>
            </a:ln>
          </c:spPr>
        </c:majorGridlines>
        <c:title>
          <c:tx>
            <c:rich>
              <a:bodyPr/>
              <a:lstStyle/>
              <a:p>
                <a:pPr>
                  <a:defRPr sz="1000" b="0" i="0" u="none" strike="noStrike">
                    <a:solidFill>
                      <a:srgbClr val="5E666C"/>
                    </a:solidFill>
                    <a:latin typeface="Arial"/>
                  </a:defRPr>
                </a:pPr>
                <a:r>
                  <a:rPr lang="en-US" sz="1000" b="0" i="0" u="none" strike="noStrike">
                    <a:solidFill>
                      <a:srgbClr val="5E666C"/>
                    </a:solidFill>
                    <a:latin typeface="Arial"/>
                  </a:rPr>
                  <a:t>Records</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F2A3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F2A3D"/>
                </a:solidFill>
                <a:latin typeface="Calibri"/>
              </a:defRPr>
            </a:pPr>
            <a:r>
              <a:rPr lang="en-US" sz="1200" b="0" i="0" u="none" strike="noStrike">
                <a:solidFill>
                  <a:srgbClr val="0F2A3D"/>
                </a:solidFill>
                <a:latin typeface="Calibri"/>
              </a:rPr>
              <a:t>Mean salary (USD), outliers removed</a:t>
            </a:r>
          </a:p>
        </c:rich>
      </c:tx>
      <c:overlay val="0"/>
    </c:title>
    <c:autoTitleDeleted val="0"/>
    <c:plotArea>
      <c:layout/>
      <c:barChart>
        <c:barDir val="bar"/>
        <c:grouping val="clustered"/>
        <c:varyColors val="0"/>
        <c:ser>
          <c:idx val="0"/>
          <c:order val="0"/>
          <c:tx>
            <c:strRef>
              <c:f>Sheet1!$B$1</c:f>
              <c:strCache>
                <c:ptCount val="1"/>
                <c:pt idx="0">
                  <c:v>v</c:v>
                </c:pt>
              </c:strCache>
            </c:strRef>
          </c:tx>
          <c:spPr>
            <a:solidFill>
              <a:srgbClr val="E4733B"/>
            </a:solidFill>
            <a:effectLst/>
          </c:spPr>
          <c:invertIfNegative val="0"/>
          <c:dLbls>
            <c:numFmt formatCode="\$#,##0" sourceLinked="0"/>
            <c:spPr>
              <a:noFill/>
              <a:ln>
                <a:noFill/>
              </a:ln>
              <a:effectLst/>
            </c:spPr>
            <c:txPr>
              <a:bodyPr/>
              <a:lstStyle/>
              <a:p>
                <a:pPr>
                  <a:defRPr sz="1000" b="0" i="0" u="none" strike="noStrike">
                    <a:solidFill>
                      <a:srgbClr val="0F2A3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AI Architect</c:v>
                </c:pt>
                <c:pt idx="1">
                  <c:v>Research Scientist</c:v>
                </c:pt>
                <c:pt idx="2">
                  <c:v>ML Engineer</c:v>
                </c:pt>
                <c:pt idx="3">
                  <c:v>Analytics Manager</c:v>
                </c:pt>
                <c:pt idx="4">
                  <c:v>Computer Vision</c:v>
                </c:pt>
                <c:pt idx="5">
                  <c:v>AI Engineer</c:v>
                </c:pt>
                <c:pt idx="6">
                  <c:v>Data Scientist</c:v>
                </c:pt>
                <c:pt idx="7">
                  <c:v>Other / Unclassified</c:v>
                </c:pt>
                <c:pt idx="8">
                  <c:v>Data Engineer</c:v>
                </c:pt>
                <c:pt idx="9">
                  <c:v>NLP</c:v>
                </c:pt>
                <c:pt idx="10">
                  <c:v>Data Analyst</c:v>
                </c:pt>
              </c:strCache>
            </c:strRef>
          </c:cat>
          <c:val>
            <c:numRef>
              <c:f>Sheet1!$B$2:$B$12</c:f>
              <c:numCache>
                <c:formatCode>General</c:formatCode>
                <c:ptCount val="11"/>
                <c:pt idx="0">
                  <c:v>192781</c:v>
                </c:pt>
                <c:pt idx="1">
                  <c:v>177687</c:v>
                </c:pt>
                <c:pt idx="2">
                  <c:v>176789</c:v>
                </c:pt>
                <c:pt idx="3">
                  <c:v>168747</c:v>
                </c:pt>
                <c:pt idx="4">
                  <c:v>161895</c:v>
                </c:pt>
                <c:pt idx="5">
                  <c:v>154529</c:v>
                </c:pt>
                <c:pt idx="6">
                  <c:v>147433</c:v>
                </c:pt>
                <c:pt idx="7">
                  <c:v>146617</c:v>
                </c:pt>
                <c:pt idx="8">
                  <c:v>141937</c:v>
                </c:pt>
                <c:pt idx="9">
                  <c:v>134649</c:v>
                </c:pt>
                <c:pt idx="10">
                  <c:v>107661</c:v>
                </c:pt>
              </c:numCache>
            </c:numRef>
          </c:val>
          <c:extLst>
            <c:ext xmlns:c16="http://schemas.microsoft.com/office/drawing/2014/chart" uri="{C3380CC4-5D6E-409C-BE32-E72D297353CC}">
              <c16:uniqueId val="{00000000-92EE-46FC-984B-5B092E3965FC}"/>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F2A3D"/>
                </a:solidFill>
                <a:latin typeface="Calibri"/>
              </a:defRPr>
            </a:pPr>
            <a:endParaRPr lang="en-US"/>
          </a:p>
        </c:txPr>
        <c:crossAx val="2094734552"/>
        <c:crosses val="autoZero"/>
        <c:auto val="1"/>
        <c:lblAlgn val="ctr"/>
        <c:lblOffset val="100"/>
        <c:noMultiLvlLbl val="1"/>
      </c:catAx>
      <c:valAx>
        <c:axId val="2094734552"/>
        <c:scaling>
          <c:orientation val="minMax"/>
          <c:max val="24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F2A3D"/>
                </a:solidFill>
                <a:latin typeface="Calibri"/>
              </a:defRPr>
            </a:pPr>
            <a:r>
              <a:rPr lang="en-US" sz="1100" b="0" i="0" u="none" strike="noStrike">
                <a:solidFill>
                  <a:srgbClr val="0F2A3D"/>
                </a:solidFill>
                <a:latin typeface="Calibri"/>
              </a:rPr>
              <a:t>Test-set metrics (precision, recall, F1 macro-averaged)</a:t>
            </a:r>
          </a:p>
        </c:rich>
      </c:tx>
      <c:overlay val="0"/>
    </c:title>
    <c:autoTitleDeleted val="0"/>
    <c:plotArea>
      <c:layout/>
      <c:barChart>
        <c:barDir val="col"/>
        <c:grouping val="clustered"/>
        <c:varyColors val="0"/>
        <c:ser>
          <c:idx val="0"/>
          <c:order val="0"/>
          <c:tx>
            <c:strRef>
              <c:f>Sheet1!$B$1</c:f>
              <c:strCache>
                <c:ptCount val="1"/>
                <c:pt idx="0">
                  <c:v>Dummy (most frequent)</c:v>
                </c:pt>
              </c:strCache>
            </c:strRef>
          </c:tx>
          <c:spPr>
            <a:solidFill>
              <a:srgbClr val="B9B2A2"/>
            </a:solidFill>
            <a:effectLst/>
          </c:spPr>
          <c:invertIfNegative val="0"/>
          <c:dLbls>
            <c:numFmt formatCode="0.00" sourceLinked="0"/>
            <c:spPr>
              <a:noFill/>
              <a:ln>
                <a:noFill/>
              </a:ln>
              <a:effectLst/>
            </c:spPr>
            <c:txPr>
              <a:bodyPr/>
              <a:lstStyle/>
              <a:p>
                <a:pPr>
                  <a:defRPr sz="1100" b="0" i="0" u="none" strike="noStrike">
                    <a:solidFill>
                      <a:srgbClr val="0F2A3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c:v>
                </c:pt>
              </c:strCache>
            </c:strRef>
          </c:cat>
          <c:val>
            <c:numRef>
              <c:f>Sheet1!$B$2:$B$5</c:f>
              <c:numCache>
                <c:formatCode>General</c:formatCode>
                <c:ptCount val="4"/>
                <c:pt idx="0">
                  <c:v>0.249</c:v>
                </c:pt>
                <c:pt idx="1">
                  <c:v>6.2E-2</c:v>
                </c:pt>
                <c:pt idx="2">
                  <c:v>0.25</c:v>
                </c:pt>
                <c:pt idx="3">
                  <c:v>0.1</c:v>
                </c:pt>
              </c:numCache>
            </c:numRef>
          </c:val>
          <c:extLst>
            <c:ext xmlns:c16="http://schemas.microsoft.com/office/drawing/2014/chart" uri="{C3380CC4-5D6E-409C-BE32-E72D297353CC}">
              <c16:uniqueId val="{00000000-6486-41BC-8816-54D69D6978AB}"/>
            </c:ext>
          </c:extLst>
        </c:ser>
        <c:ser>
          <c:idx val="1"/>
          <c:order val="1"/>
          <c:tx>
            <c:strRef>
              <c:f>Sheet1!$C$1</c:f>
              <c:strCache>
                <c:ptCount val="1"/>
                <c:pt idx="0">
                  <c:v>Logistic Regression</c:v>
                </c:pt>
              </c:strCache>
            </c:strRef>
          </c:tx>
          <c:spPr>
            <a:solidFill>
              <a:srgbClr val="E4733B"/>
            </a:solidFill>
            <a:effectLst/>
          </c:spPr>
          <c:invertIfNegative val="0"/>
          <c:dLbls>
            <c:numFmt formatCode="0.00" sourceLinked="0"/>
            <c:spPr>
              <a:noFill/>
              <a:ln>
                <a:noFill/>
              </a:ln>
              <a:effectLst/>
            </c:spPr>
            <c:txPr>
              <a:bodyPr/>
              <a:lstStyle/>
              <a:p>
                <a:pPr>
                  <a:defRPr sz="1100" b="0" i="0" u="none" strike="noStrike">
                    <a:solidFill>
                      <a:srgbClr val="0F2A3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c:v>
                </c:pt>
              </c:strCache>
            </c:strRef>
          </c:cat>
          <c:val>
            <c:numRef>
              <c:f>Sheet1!$C$2:$C$5</c:f>
              <c:numCache>
                <c:formatCode>General</c:formatCode>
                <c:ptCount val="4"/>
                <c:pt idx="0">
                  <c:v>0.41799999999999998</c:v>
                </c:pt>
                <c:pt idx="1">
                  <c:v>0.41899999999999998</c:v>
                </c:pt>
                <c:pt idx="2">
                  <c:v>0.41699999999999998</c:v>
                </c:pt>
                <c:pt idx="3">
                  <c:v>0.39200000000000002</c:v>
                </c:pt>
              </c:numCache>
            </c:numRef>
          </c:val>
          <c:extLst>
            <c:ext xmlns:c16="http://schemas.microsoft.com/office/drawing/2014/chart" uri="{C3380CC4-5D6E-409C-BE32-E72D297353CC}">
              <c16:uniqueId val="{00000001-6486-41BC-8816-54D69D6978AB}"/>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2A3D"/>
                </a:solidFill>
                <a:latin typeface="Calibri"/>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9525" cap="flat">
              <a:solidFill>
                <a:srgbClr val="DDD9C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F2A3D"/>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2A3D"/>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400" b="1">
                <a:solidFill>
                  <a:srgbClr val="0F2A3D"/>
                </a:solidFill>
              </a:rPr>
              <a:t>Earlier models on the same test set</a:t>
            </a:r>
          </a:p>
        </c:rich>
      </c:tx>
      <c:overlay val="0"/>
    </c:title>
    <c:autoTitleDeleted val="0"/>
    <c:plotArea>
      <c:layout/>
      <c:barChart>
        <c:barDir val="col"/>
        <c:grouping val="clustered"/>
        <c:varyColors val="1"/>
        <c:ser>
          <c:idx val="0"/>
          <c:order val="0"/>
          <c:tx>
            <c:strRef>
              <c:f>Sheet1!$B$1</c:f>
              <c:strCache>
                <c:ptCount val="1"/>
                <c:pt idx="0">
                  <c:v>Accuracy</c:v>
                </c:pt>
              </c:strCache>
            </c:strRef>
          </c:tx>
          <c:spPr>
            <a:solidFill>
              <a:srgbClr val="0F2A3D"/>
            </a:solidFill>
          </c:spPr>
          <c:invertIfNegative val="1"/>
          <c:dLbls>
            <c:numFmt formatCode="0.00" sourceLinked="0"/>
            <c:spPr>
              <a:noFill/>
              <a:ln>
                <a:noFill/>
              </a:ln>
              <a:effectLst/>
            </c:spPr>
            <c:txPr>
              <a:bodyPr/>
              <a:lstStyle/>
              <a:p>
                <a:pPr>
                  <a:defRPr sz="1100">
                    <a:solidFill>
                      <a:srgbClr val="0F2A3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Random
Forest</c:v>
                </c:pt>
                <c:pt idx="2">
                  <c:v>Gradient
Boosting</c:v>
                </c:pt>
                <c:pt idx="3">
                  <c:v>Logistic
+ ILO</c:v>
                </c:pt>
              </c:strCache>
            </c:strRef>
          </c:cat>
          <c:val>
            <c:numRef>
              <c:f>Sheet1!$B$2:$B$5</c:f>
              <c:numCache>
                <c:formatCode>General</c:formatCode>
                <c:ptCount val="4"/>
                <c:pt idx="0">
                  <c:v>0.41699999999999998</c:v>
                </c:pt>
                <c:pt idx="1">
                  <c:v>0.41099999999999998</c:v>
                </c:pt>
                <c:pt idx="2">
                  <c:v>0.41899999999999998</c:v>
                </c:pt>
                <c:pt idx="3">
                  <c:v>0.41699999999999998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E1D-45FE-B4D4-635BF8A0BBB6}"/>
            </c:ext>
          </c:extLst>
        </c:ser>
        <c:ser>
          <c:idx val="1"/>
          <c:order val="1"/>
          <c:tx>
            <c:strRef>
              <c:f>Sheet1!$C$1</c:f>
              <c:strCache>
                <c:ptCount val="1"/>
                <c:pt idx="0">
                  <c:v>ROC-AUC</c:v>
                </c:pt>
              </c:strCache>
            </c:strRef>
          </c:tx>
          <c:spPr>
            <a:solidFill>
              <a:srgbClr val="E4733B"/>
            </a:solidFill>
          </c:spPr>
          <c:invertIfNegative val="1"/>
          <c:dLbls>
            <c:numFmt formatCode="0.00" sourceLinked="0"/>
            <c:spPr>
              <a:noFill/>
              <a:ln>
                <a:noFill/>
              </a:ln>
              <a:effectLst/>
            </c:spPr>
            <c:txPr>
              <a:bodyPr/>
              <a:lstStyle/>
              <a:p>
                <a:pPr>
                  <a:defRPr sz="1100">
                    <a:solidFill>
                      <a:srgbClr val="0F2A3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Random
Forest</c:v>
                </c:pt>
                <c:pt idx="2">
                  <c:v>Gradient
Boosting</c:v>
                </c:pt>
                <c:pt idx="3">
                  <c:v>Logistic
+ ILO</c:v>
                </c:pt>
              </c:strCache>
            </c:strRef>
          </c:cat>
          <c:val>
            <c:numRef>
              <c:f>Sheet1!$C$2:$C$5</c:f>
              <c:numCache>
                <c:formatCode>General</c:formatCode>
                <c:ptCount val="4"/>
                <c:pt idx="0">
                  <c:v>0.68500000000000005</c:v>
                </c:pt>
                <c:pt idx="1">
                  <c:v>0.67800000000000005</c:v>
                </c:pt>
                <c:pt idx="2">
                  <c:v>0.68600000000000005</c:v>
                </c:pt>
                <c:pt idx="3">
                  <c:v>0.68500000000000005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E1D-45FE-B4D4-635BF8A0BBB6}"/>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9B3A6"/>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0.8"/>
          <c:min val="0"/>
        </c:scaling>
        <c:delete val="0"/>
        <c:axPos val="l"/>
        <c:majorGridlines>
          <c:spPr>
            <a:ln>
              <a:solidFill>
                <a:srgbClr val="E3DED3"/>
              </a:solidFill>
            </a:ln>
          </c:spPr>
        </c:majorGridlines>
        <c:numFmt formatCode="0.0" sourceLinked="0"/>
        <c:majorTickMark val="out"/>
        <c:minorTickMark val="none"/>
        <c:tickLblPos val="nextTo"/>
        <c:spPr>
          <a:ln>
            <a:noFill/>
          </a:ln>
        </c:spPr>
        <c:txPr>
          <a:bodyPr/>
          <a:lstStyle/>
          <a:p>
            <a:pPr>
              <a:defRPr sz="1100">
                <a:solidFill>
                  <a:srgbClr val="5E666C"/>
                </a:solidFill>
              </a:defRPr>
            </a:pPr>
            <a:endParaRPr lang="en-US"/>
          </a:p>
        </c:txPr>
        <c:crossAx val="-2068027336"/>
        <c:crosses val="autoZero"/>
        <c:crossBetween val="between"/>
        <c:majorUnit val="0.2"/>
      </c:valAx>
    </c:plotArea>
    <c:legend>
      <c:legendPos val="b"/>
      <c:overlay val="0"/>
      <c:txPr>
        <a:bodyPr/>
        <a:lstStyle/>
        <a:p>
          <a:pPr>
            <a:defRPr sz="1200"/>
          </a:pPr>
          <a:endParaRPr lang="en-US"/>
        </a:p>
      </c:txPr>
    </c:legend>
    <c:plotVisOnly val="1"/>
    <c:dispBlanksAs val="gap"/>
    <c:showDLblsOverMax val="1"/>
  </c:chart>
  <c:txPr>
    <a:bodyPr/>
    <a:lstStyle/>
    <a:p>
      <a:pPr>
        <a:defRPr sz="1200">
          <a:solidFill>
            <a:srgbClr val="0F2A3D"/>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400" b="1">
                <a:solidFill>
                  <a:srgbClr val="0F2A3D"/>
                </a:solidFill>
              </a:rPr>
              <a:t>5-fold CV on training data (Logistic Regression)</a:t>
            </a:r>
          </a:p>
        </c:rich>
      </c:tx>
      <c:overlay val="0"/>
    </c:title>
    <c:autoTitleDeleted val="0"/>
    <c:plotArea>
      <c:layout/>
      <c:barChart>
        <c:barDir val="col"/>
        <c:grouping val="clustered"/>
        <c:varyColors val="1"/>
        <c:ser>
          <c:idx val="0"/>
          <c:order val="0"/>
          <c:tx>
            <c:strRef>
              <c:f>Sheet1!$B$1</c:f>
              <c:strCache>
                <c:ptCount val="1"/>
                <c:pt idx="0">
                  <c:v>Accuracy</c:v>
                </c:pt>
              </c:strCache>
            </c:strRef>
          </c:tx>
          <c:spPr>
            <a:solidFill>
              <a:srgbClr val="0F2A3D"/>
            </a:solidFill>
          </c:spPr>
          <c:invertIfNegative val="1"/>
          <c:dLbls>
            <c:numFmt formatCode="0.000" sourceLinked="0"/>
            <c:spPr>
              <a:noFill/>
              <a:ln>
                <a:noFill/>
              </a:ln>
              <a:effectLst/>
            </c:spPr>
            <c:txPr>
              <a:bodyPr/>
              <a:lstStyle/>
              <a:p>
                <a:pPr>
                  <a:defRPr sz="1100">
                    <a:solidFill>
                      <a:srgbClr val="0F2A3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Original 8 features</c:v>
                </c:pt>
                <c:pt idx="1">
                  <c:v>+ keyword flags</c:v>
                </c:pt>
                <c:pt idx="2">
                  <c:v>+ title TF-IDF</c:v>
                </c:pt>
              </c:strCache>
            </c:strRef>
          </c:cat>
          <c:val>
            <c:numRef>
              <c:f>Sheet1!$B$2:$B$4</c:f>
              <c:numCache>
                <c:formatCode>General</c:formatCode>
                <c:ptCount val="3"/>
                <c:pt idx="0">
                  <c:v>0.41099999999999998</c:v>
                </c:pt>
                <c:pt idx="1">
                  <c:v>0.41599999999999998</c:v>
                </c:pt>
                <c:pt idx="2">
                  <c:v>0.441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A91-4A61-8DC7-B80C950526DA}"/>
            </c:ext>
          </c:extLst>
        </c:ser>
        <c:ser>
          <c:idx val="1"/>
          <c:order val="1"/>
          <c:tx>
            <c:strRef>
              <c:f>Sheet1!$C$1</c:f>
              <c:strCache>
                <c:ptCount val="1"/>
                <c:pt idx="0">
                  <c:v>Macro F1</c:v>
                </c:pt>
              </c:strCache>
            </c:strRef>
          </c:tx>
          <c:spPr>
            <a:solidFill>
              <a:srgbClr val="E4733B"/>
            </a:solidFill>
          </c:spPr>
          <c:invertIfNegative val="1"/>
          <c:dLbls>
            <c:numFmt formatCode="0.000" sourceLinked="0"/>
            <c:spPr>
              <a:noFill/>
              <a:ln>
                <a:noFill/>
              </a:ln>
              <a:effectLst/>
            </c:spPr>
            <c:txPr>
              <a:bodyPr/>
              <a:lstStyle/>
              <a:p>
                <a:pPr>
                  <a:defRPr sz="1100">
                    <a:solidFill>
                      <a:srgbClr val="0F2A3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Original 8 features</c:v>
                </c:pt>
                <c:pt idx="1">
                  <c:v>+ keyword flags</c:v>
                </c:pt>
                <c:pt idx="2">
                  <c:v>+ title TF-IDF</c:v>
                </c:pt>
              </c:strCache>
            </c:strRef>
          </c:cat>
          <c:val>
            <c:numRef>
              <c:f>Sheet1!$C$2:$C$4</c:f>
              <c:numCache>
                <c:formatCode>General</c:formatCode>
                <c:ptCount val="3"/>
                <c:pt idx="0">
                  <c:v>0.39500000000000002</c:v>
                </c:pt>
                <c:pt idx="1">
                  <c:v>0.39300000000000002</c:v>
                </c:pt>
                <c:pt idx="2">
                  <c:v>0.42299999999999999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A91-4A61-8DC7-B80C950526DA}"/>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9B3A6"/>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0.46"/>
          <c:min val="0.35"/>
        </c:scaling>
        <c:delete val="0"/>
        <c:axPos val="l"/>
        <c:majorGridlines>
          <c:spPr>
            <a:ln>
              <a:solidFill>
                <a:srgbClr val="E3DED3"/>
              </a:solidFill>
            </a:ln>
          </c:spPr>
        </c:majorGridlines>
        <c:numFmt formatCode="0.00" sourceLinked="0"/>
        <c:majorTickMark val="out"/>
        <c:minorTickMark val="none"/>
        <c:tickLblPos val="nextTo"/>
        <c:spPr>
          <a:ln>
            <a:noFill/>
          </a:ln>
        </c:spPr>
        <c:txPr>
          <a:bodyPr/>
          <a:lstStyle/>
          <a:p>
            <a:pPr>
              <a:defRPr sz="1100">
                <a:solidFill>
                  <a:srgbClr val="5E666C"/>
                </a:solidFill>
              </a:defRPr>
            </a:pPr>
            <a:endParaRPr lang="en-US"/>
          </a:p>
        </c:txPr>
        <c:crossAx val="-2068027336"/>
        <c:crosses val="autoZero"/>
        <c:crossBetween val="between"/>
        <c:majorUnit val="0.02"/>
      </c:valAx>
    </c:plotArea>
    <c:legend>
      <c:legendPos val="b"/>
      <c:overlay val="0"/>
      <c:txPr>
        <a:bodyPr/>
        <a:lstStyle/>
        <a:p>
          <a:pPr>
            <a:defRPr sz="1200"/>
          </a:pPr>
          <a:endParaRPr lang="en-US"/>
        </a:p>
      </c:txPr>
    </c:legend>
    <c:plotVisOnly val="1"/>
    <c:dispBlanksAs val="gap"/>
    <c:showDLblsOverMax val="1"/>
  </c:chart>
  <c:txPr>
    <a:bodyPr/>
    <a:lstStyle/>
    <a:p>
      <a:pPr>
        <a:defRPr sz="1200">
          <a:solidFill>
            <a:srgbClr val="0F2A3D"/>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400" b="1">
                <a:solidFill>
                  <a:srgbClr val="0F2A3D"/>
                </a:solidFill>
              </a:rPr>
              <a:t>What drives P(High tier): mean |SHAP|</a:t>
            </a:r>
          </a:p>
        </c:rich>
      </c:tx>
      <c:overlay val="0"/>
    </c:title>
    <c:autoTitleDeleted val="0"/>
    <c:plotArea>
      <c:layout/>
      <c:barChart>
        <c:barDir val="bar"/>
        <c:grouping val="clustered"/>
        <c:varyColors val="1"/>
        <c:ser>
          <c:idx val="0"/>
          <c:order val="0"/>
          <c:tx>
            <c:strRef>
              <c:f>Sheet1!$B$1</c:f>
              <c:strCache>
                <c:ptCount val="1"/>
                <c:pt idx="0">
                  <c:v>Mean |SHAP|</c:v>
                </c:pt>
              </c:strCache>
            </c:strRef>
          </c:tx>
          <c:spPr>
            <a:solidFill>
              <a:srgbClr val="8FA3B3"/>
            </a:solidFill>
          </c:spPr>
          <c:invertIfNegative val="1"/>
          <c:dPt>
            <c:idx val="3"/>
            <c:invertIfNegative val="1"/>
            <c:bubble3D val="0"/>
            <c:spPr>
              <a:solidFill>
                <a:srgbClr val="0F2A3D"/>
              </a:solidFill>
            </c:spPr>
            <c:extLst>
              <c:ext xmlns:c16="http://schemas.microsoft.com/office/drawing/2014/chart" uri="{C3380CC4-5D6E-409C-BE32-E72D297353CC}">
                <c16:uniqueId val="{00000001-077D-4B36-A10C-85C6A67DD1D3}"/>
              </c:ext>
            </c:extLst>
          </c:dPt>
          <c:dPt>
            <c:idx val="4"/>
            <c:invertIfNegative val="1"/>
            <c:bubble3D val="0"/>
            <c:spPr>
              <a:solidFill>
                <a:srgbClr val="0F2A3D"/>
              </a:solidFill>
            </c:spPr>
            <c:extLst>
              <c:ext xmlns:c16="http://schemas.microsoft.com/office/drawing/2014/chart" uri="{C3380CC4-5D6E-409C-BE32-E72D297353CC}">
                <c16:uniqueId val="{00000003-077D-4B36-A10C-85C6A67DD1D3}"/>
              </c:ext>
            </c:extLst>
          </c:dPt>
          <c:dPt>
            <c:idx val="5"/>
            <c:invertIfNegative val="1"/>
            <c:bubble3D val="0"/>
            <c:spPr>
              <a:solidFill>
                <a:srgbClr val="0F2A3D"/>
              </a:solidFill>
            </c:spPr>
            <c:extLst>
              <c:ext xmlns:c16="http://schemas.microsoft.com/office/drawing/2014/chart" uri="{C3380CC4-5D6E-409C-BE32-E72D297353CC}">
                <c16:uniqueId val="{00000005-077D-4B36-A10C-85C6A67DD1D3}"/>
              </c:ext>
            </c:extLst>
          </c:dPt>
          <c:dLbls>
            <c:numFmt formatCode="0.00" sourceLinked="0"/>
            <c:spPr>
              <a:noFill/>
              <a:ln>
                <a:noFill/>
              </a:ln>
              <a:effectLst/>
            </c:spPr>
            <c:txPr>
              <a:bodyPr/>
              <a:lstStyle/>
              <a:p>
                <a:pPr>
                  <a:defRPr sz="1100">
                    <a:solidFill>
                      <a:srgbClr val="0F2A3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role_family</c:v>
                </c:pt>
                <c:pt idx="1">
                  <c:v>remote_ratio</c:v>
                </c:pt>
                <c:pt idx="2">
                  <c:v>company_location</c:v>
                </c:pt>
                <c:pt idx="3">
                  <c:v>employee_residence</c:v>
                </c:pt>
                <c:pt idx="4">
                  <c:v>experience_level</c:v>
                </c:pt>
                <c:pt idx="5">
                  <c:v>job_title</c:v>
                </c:pt>
              </c:strCache>
            </c:strRef>
          </c:cat>
          <c:val>
            <c:numRef>
              <c:f>Sheet1!$B$2:$B$7</c:f>
              <c:numCache>
                <c:formatCode>General</c:formatCode>
                <c:ptCount val="6"/>
                <c:pt idx="0">
                  <c:v>5.6000000000000001E-2</c:v>
                </c:pt>
                <c:pt idx="1">
                  <c:v>6.4000000000000001E-2</c:v>
                </c:pt>
                <c:pt idx="2">
                  <c:v>9.8000000000000004E-2</c:v>
                </c:pt>
                <c:pt idx="3">
                  <c:v>0.16900000000000001</c:v>
                </c:pt>
                <c:pt idx="4">
                  <c:v>0.34899999999999998</c:v>
                </c:pt>
                <c:pt idx="5">
                  <c:v>0.52700000000000002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77D-4B36-A10C-85C6A67DD1D3}"/>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9B3A6"/>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F2A3D"/>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400" b="1">
                <a:solidFill>
                  <a:srgbClr val="0F2A3D"/>
                </a:solidFill>
              </a:rPr>
              <a:t>Accuracy by actual salary (middle tiers in orange)</a:t>
            </a:r>
          </a:p>
        </c:rich>
      </c:tx>
      <c:overlay val="0"/>
    </c:title>
    <c:autoTitleDeleted val="0"/>
    <c:plotArea>
      <c:layout/>
      <c:barChart>
        <c:barDir val="col"/>
        <c:grouping val="clustered"/>
        <c:varyColors val="1"/>
        <c:ser>
          <c:idx val="0"/>
          <c:order val="0"/>
          <c:tx>
            <c:strRef>
              <c:f>Sheet1!$B$1</c:f>
              <c:strCache>
                <c:ptCount val="1"/>
                <c:pt idx="0">
                  <c:v>Accuracy</c:v>
                </c:pt>
              </c:strCache>
            </c:strRef>
          </c:tx>
          <c:spPr>
            <a:solidFill>
              <a:srgbClr val="0F2A3D"/>
            </a:solidFill>
          </c:spPr>
          <c:invertIfNegative val="1"/>
          <c:dPt>
            <c:idx val="3"/>
            <c:invertIfNegative val="1"/>
            <c:bubble3D val="0"/>
            <c:spPr>
              <a:solidFill>
                <a:srgbClr val="E4733B"/>
              </a:solidFill>
            </c:spPr>
            <c:extLst>
              <c:ext xmlns:c16="http://schemas.microsoft.com/office/drawing/2014/chart" uri="{C3380CC4-5D6E-409C-BE32-E72D297353CC}">
                <c16:uniqueId val="{00000001-46C6-4EE8-A0C8-6185FEDBE9C7}"/>
              </c:ext>
            </c:extLst>
          </c:dPt>
          <c:dPt>
            <c:idx val="4"/>
            <c:invertIfNegative val="1"/>
            <c:bubble3D val="0"/>
            <c:spPr>
              <a:solidFill>
                <a:srgbClr val="E4733B"/>
              </a:solidFill>
            </c:spPr>
            <c:extLst>
              <c:ext xmlns:c16="http://schemas.microsoft.com/office/drawing/2014/chart" uri="{C3380CC4-5D6E-409C-BE32-E72D297353CC}">
                <c16:uniqueId val="{00000003-46C6-4EE8-A0C8-6185FEDBE9C7}"/>
              </c:ext>
            </c:extLst>
          </c:dPt>
          <c:dPt>
            <c:idx val="5"/>
            <c:invertIfNegative val="1"/>
            <c:bubble3D val="0"/>
            <c:spPr>
              <a:solidFill>
                <a:srgbClr val="E4733B"/>
              </a:solidFill>
            </c:spPr>
            <c:extLst>
              <c:ext xmlns:c16="http://schemas.microsoft.com/office/drawing/2014/chart" uri="{C3380CC4-5D6E-409C-BE32-E72D297353CC}">
                <c16:uniqueId val="{00000005-46C6-4EE8-A0C8-6185FEDBE9C7}"/>
              </c:ext>
            </c:extLst>
          </c:dPt>
          <c:dPt>
            <c:idx val="6"/>
            <c:invertIfNegative val="1"/>
            <c:bubble3D val="0"/>
            <c:spPr>
              <a:solidFill>
                <a:srgbClr val="E4733B"/>
              </a:solidFill>
            </c:spPr>
            <c:extLst>
              <c:ext xmlns:c16="http://schemas.microsoft.com/office/drawing/2014/chart" uri="{C3380CC4-5D6E-409C-BE32-E72D297353CC}">
                <c16:uniqueId val="{00000007-46C6-4EE8-A0C8-6185FEDBE9C7}"/>
              </c:ext>
            </c:extLst>
          </c:dPt>
          <c:dLbls>
            <c:numFmt formatCode="0%" sourceLinked="0"/>
            <c:spPr>
              <a:noFill/>
              <a:ln>
                <a:noFill/>
              </a:ln>
              <a:effectLst/>
            </c:spPr>
            <c:txPr>
              <a:bodyPr/>
              <a:lstStyle/>
              <a:p>
                <a:pPr>
                  <a:defRPr sz="1000">
                    <a:solidFill>
                      <a:srgbClr val="0F2A3D"/>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&lt;50K</c:v>
                </c:pt>
                <c:pt idx="1">
                  <c:v>50–80K</c:v>
                </c:pt>
                <c:pt idx="2">
                  <c:v>80–96K</c:v>
                </c:pt>
                <c:pt idx="3">
                  <c:v>96–115K</c:v>
                </c:pt>
                <c:pt idx="4">
                  <c:v>115–139K</c:v>
                </c:pt>
                <c:pt idx="5">
                  <c:v>139–165K</c:v>
                </c:pt>
                <c:pt idx="6">
                  <c:v>165–190K</c:v>
                </c:pt>
                <c:pt idx="7">
                  <c:v>190–230K</c:v>
                </c:pt>
                <c:pt idx="8">
                  <c:v>230–300K</c:v>
                </c:pt>
                <c:pt idx="9">
                  <c:v>300K+</c:v>
                </c:pt>
              </c:strCache>
            </c:strRef>
          </c:cat>
          <c:val>
            <c:numRef>
              <c:f>Sheet1!$B$2:$B$11</c:f>
              <c:numCache>
                <c:formatCode>General</c:formatCode>
                <c:ptCount val="10"/>
                <c:pt idx="0">
                  <c:v>0.89400000000000002</c:v>
                </c:pt>
                <c:pt idx="1">
                  <c:v>0.64600000000000002</c:v>
                </c:pt>
                <c:pt idx="2">
                  <c:v>0.45</c:v>
                </c:pt>
                <c:pt idx="3">
                  <c:v>0.33100000000000002</c:v>
                </c:pt>
                <c:pt idx="4">
                  <c:v>0.312</c:v>
                </c:pt>
                <c:pt idx="5">
                  <c:v>0.20200000000000001</c:v>
                </c:pt>
                <c:pt idx="6">
                  <c:v>0.17799999999999999</c:v>
                </c:pt>
                <c:pt idx="7">
                  <c:v>0.57699999999999996</c:v>
                </c:pt>
                <c:pt idx="8">
                  <c:v>0.68500000000000005</c:v>
                </c:pt>
                <c:pt idx="9">
                  <c:v>0.81499999999999995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46C6-4EE8-A0C8-6185FEDBE9C7}"/>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9B3A6"/>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E3DED3"/>
              </a:solidFill>
            </a:ln>
          </c:spPr>
        </c:majorGridlines>
        <c:numFmt formatCode="0%" sourceLinked="0"/>
        <c:majorTickMark val="out"/>
        <c:minorTickMark val="none"/>
        <c:tickLblPos val="nextTo"/>
        <c:spPr>
          <a:ln>
            <a:noFill/>
          </a:ln>
        </c:spPr>
        <c:txPr>
          <a:bodyPr/>
          <a:lstStyle/>
          <a:p>
            <a:pPr>
              <a:defRPr sz="1100">
                <a:solidFill>
                  <a:srgbClr val="5E666C"/>
                </a:solidFill>
              </a:defRPr>
            </a:pPr>
            <a:endParaRPr lang="en-US"/>
          </a:p>
        </c:txPr>
        <c:crossAx val="-2068027336"/>
        <c:crosses val="autoZero"/>
        <c:crossBetween val="between"/>
        <c:majorUnit val="0.25"/>
      </c:valAx>
    </c:plotArea>
    <c:plotVisOnly val="1"/>
    <c:dispBlanksAs val="gap"/>
    <c:showDLblsOverMax val="1"/>
  </c:chart>
  <c:txPr>
    <a:bodyPr/>
    <a:lstStyle/>
    <a:p>
      <a:pPr>
        <a:defRPr sz="1200">
          <a:solidFill>
            <a:srgbClr val="0F2A3D"/>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7387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P1, ~0:45. Introduce team and the four parts; each person owns one part (about 5 minutes each). Fill in names and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notebook links our job roles to exposure scores from the ILO paper; the main modeling goal is predicting a salary tier.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Salary is continuous, so we cut it into four quartile tiers to use classification metrics. These three objectives are answered again on the Key Findings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4C218-506E-FCE4-547A-4DB1144BC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19412-A4C8-139F-4607-0B5CAB8E8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C9DFD-73A7-365A-7451-7BB946D3B94E}"/>
              </a:ext>
            </a:extLst>
          </p:cNvPr>
          <p:cNvSpPr>
            <a:spLocks noGrp="1"/>
          </p:cNvSpPr>
          <p:nvPr>
            <p:ph type="body" idx="1"/>
          </p:nvPr>
        </p:nvSpPr>
        <p:spPr/>
        <p:txBody>
          <a:bodyPr/>
          <a:lstStyle/>
          <a:p>
            <a:r>
              <a:rPr lang="en-US"/>
              <a:t>International Labor Organization</a:t>
            </a:r>
          </a:p>
        </p:txBody>
      </p:sp>
      <p:sp>
        <p:nvSpPr>
          <p:cNvPr id="4" name="Slide Number Placeholder 3">
            <a:extLst>
              <a:ext uri="{FF2B5EF4-FFF2-40B4-BE49-F238E27FC236}">
                <a16:creationId xmlns:a16="http://schemas.microsoft.com/office/drawing/2014/main" id="{D746135F-029B-2843-6932-A27AFB37CA7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20746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the pipeline left to right. The orange box is the baseline everything is compared to; the navy box is the final model; tuning was not done.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Only isco_group_hint has missing values, because it only covers 5 of 11 role families, so nothing was imputed in the baseline. Tiers are balanced by construction.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Right skew is typical of salary data. Pay rises with experience level and the spread widens with seniority.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NLP (19 rows) and Computer Vision (134 rows) are small groups, so read those bars cautiously.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On-site mean about $144.8K, Remote about $145.5K. Top Hybrid roles: Data Scientist, Other, Data Analyst.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Exposure vs salary uses only five group averages, so it only shows how the join works. Bubble size is the number of records.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salary equals salary_in_usd for 100% of USD rows, so keeping it would let the model read the answer.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Encoding and scaling are fit inside a pipeline on training rows only. Test salaries outside the training range fall into the end tiers.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Dummy: accuracy .249, macro precision .062, recall .250, F1 .100. Logistic regression: accuracy .418, precision .419, recall .417, F1 .392. Same test set for both.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Per-tier values are computed from the confusion matrix. Importance of experience_level and role_family is a hypothesis from EDA, not yet tested.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P4, ~1:00. Each challenger tests one idea. Random Forest: do interactions between role, location and seniority matter? Boosting: a stronger nonlinear learner; XGBoost is added because it handles the sparse job-title features used later. Logistic + ILO: does AI exposure add signal? Trees need no scaling, but one shared pipeline (one-hot + scaling) keeps the comparison fair. Important change from the first draft: the baseline and challengers were originally scored on different splits with different averaging, so I re-scored every model, including the baseline, on one split with one set of metrics.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P4, ~0:50. This is the additional-preprocessing step. We attached the ILO score, imputed the 56% of rows with no score using the training median plus a missing-indicator column, and kept the imputer and scaler inside the pipeline so nothing is fit on test data. Result: identical scores. The reason is structural: every role family has exactly one exposure value, so the score is a relabel of role_family. We report the step even though it did not help.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P4, ~1:15. KEY SLIDE. Left: on the same split, the four earlier models are tied, about 0.42 accuracy and 0.68 ROC-AUC. Right: why. The 57,530 training rows collapse into only 2,201 distinct combinations of the 8 features, and people with identical features report very different salaries. If a model memorised the most common tier for every combination it would still only reach 0.428. Our models are at 0.417 to 0.419, so they are limited by information, not by the algorithm. That is also why we did not run a hyperparameter search: tuning cannot pass that ceiling. Adding the raw job title raises the ceiling to 0.490, which is the next slide.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P4, ~1:00. job_title was dropped during preprocessing because role_family is derived from it, but role_family puts 56% of rows into 'Other'. It is not leakage: the title is known before the salary and appears on every job posting. We used it two ways: three keyword flags (senior, manager, junior words), and TF-IDF on the full title, which turns each title into weights for words and word pairs. Measured with 5-fold cross-validation on training data only, never the test set: keywords help a little, TF-IDF gives the big jump. The fold-to-fold spread is under 0.01, so the gain is real.</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P4, ~1:15. Every model, same 14,383 test rows, same metrics, macro-averaged. The final model is Logistic Regression with title features: accuracy 0.417 to 0.447, F1 0.403 to 0.429, ROC-AUC 0.685 to 0.713. XGBoost ties it, which again shows the gain comes from information, so we keep the simpler, interpretable model. The Ridge row predicts log-salary and then cuts it into tiers: lower exact accuracy but the most predictions within one tier (0.888), and a dollar error of about $46K. ROC-AUC is n/a for Ridge because it outputs a salary, not tier probabilities. Bottom bar: the gain is real. Bootstrap on the test set gives a 95% interval of +0.019 to +0.032 for macro F1, and training on 2020-2024 then predicting 2025 still improves accuracy 0.409 to 0.440.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P4, ~1:15. Left: SHAP values for the XGBoost model's probability of the High tier, summed back to each original column. Job title is the biggest driver, then experience level, then where the employee lives and where the company is. Permutation importance on the logistic model gives the same top three, so two methods on two models agree, and the order is plausible: pay depends on what you do, how senior you are, and where. Right: accuracy by actual salary is U-shaped, about 89% below $50K and 82% above $300K, but only 18-33% in the $96K-$190K middle tiers, which are narrow slices of the densest part of the distribution. Upper-Mid earners are often pushed up into High. Most mistakes are one tier off: 81% of predictions are within one tier. Importance shows association, not cause.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P4, ~1:00. Back to the three objectives on the Problem slide. One: the leak-safe baseline works, 25% to 41.7%. Two: nonlinear models did not help because the features hit a ceiling; new information from the job title did. Three: the ILO score adds nothing here, because it never varies within a role, so this data cannot test the AI-pay link; that is a finding about the data, not proof that AI exposure is unrelated to pay.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P4, ~1:00. Be honest about limits: self-reported, mostly US, mostly 2024-25; four tiers hide wide pay ranges; titles are free text. In practice this is a rough benchmark, not a pay calculator, and the middle tiers are the least reliable. Next steps follow directly from the findings: give the exposure score real variation by matching titles to detailed ISCO occupations, use models that respect tier order, adjust non-US salaries for cost of living, and refresh tier cut-offs each year because salaries drift upward.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All, ~0:30 plus Q&amp;A. Keep this slide up during questions.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Use if asked why accuracy alone is not enough: High-tier recall is only 10%.</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Heavy imbalance means rare categories (Executive, Small company, Hybrid) give models little data.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569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2202F"/>
                </a:solidFill>
                <a:latin typeface="Georgia" pitchFamily="34" charset="0"/>
                <a:ea typeface="Georgia" pitchFamily="34" charset="-122"/>
                <a:cs typeface="Georgia"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800" y="2067520"/>
            <a:ext cx="10566400" cy="3977680"/>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Arial" pitchFamily="34" charset="0"/>
                <a:ea typeface="Arial" pitchFamily="34" charset="-122"/>
                <a:cs typeface="Arial" pitchFamily="34" charset="-120"/>
              </a:defRPr>
            </a:lvl1pPr>
          </a:lstStyle>
          <a:p>
            <a:pPr marL="0" indent="0" algn="l">
              <a:lnSpc>
                <a:spcPct val="140000"/>
              </a:lnSpc>
              <a:buNone/>
            </a:pPr>
            <a:endParaRPr lang="en-US" sz="16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792480"/>
          </a:xfrm>
          <a:prstGeom prst="rect">
            <a:avLst/>
          </a:prstGeom>
          <a:noFill/>
          <a:ln/>
        </p:spPr>
        <p:txBody>
          <a:bodyPr wrap="square" rtlCol="0"/>
          <a:lstStyle>
            <a:lvl1pPr marL="0" indent="0" algn="l">
              <a:buNone/>
              <a:defRPr lang="en-US" sz="40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4000"/>
          </a:p>
        </p:txBody>
      </p:sp>
    </p:spTree>
    <p:extLst>
      <p:ext uri="{BB962C8B-B14F-4D97-AF65-F5344CB8AC3E}">
        <p14:creationId xmlns:p14="http://schemas.microsoft.com/office/powerpoint/2010/main" val="61120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731520" y="6400800"/>
            <a:ext cx="6096000" cy="304800"/>
          </a:xfrm>
          <a:prstGeom prst="rect">
            <a:avLst/>
          </a:prstGeom>
          <a:noFill/>
          <a:ln/>
        </p:spPr>
        <p:txBody>
          <a:bodyPr wrap="square" lIns="0" tIns="0" rIns="0" bIns="0" rtlCol="0" anchor="ctr"/>
          <a:lstStyle/>
          <a:p>
            <a:pPr marL="0" indent="0">
              <a:buNone/>
            </a:pPr>
            <a:r>
              <a:rPr lang="en-US" sz="1200">
                <a:solidFill>
                  <a:srgbClr val="5E666C"/>
                </a:solidFill>
                <a:latin typeface="Calibri" pitchFamily="34" charset="0"/>
                <a:ea typeface="Calibri" pitchFamily="34" charset="-122"/>
                <a:cs typeface="Calibri" pitchFamily="34" charset="-120"/>
              </a:rPr>
              <a:t>DATA 4380 · AI Impact on Jobs &amp; Salaries</a:t>
            </a:r>
            <a:endParaRPr lang="en-US" sz="1200"/>
          </a:p>
        </p:txBody>
      </p:sp>
      <p:sp>
        <p:nvSpPr>
          <p:cNvPr id="3" name="Shape 1"/>
          <p:cNvSpPr/>
          <p:nvPr/>
        </p:nvSpPr>
        <p:spPr>
          <a:xfrm>
            <a:off x="0" y="0"/>
            <a:ext cx="219456" cy="6858000"/>
          </a:xfrm>
          <a:prstGeom prst="rect">
            <a:avLst/>
          </a:prstGeom>
          <a:solidFill>
            <a:srgbClr val="E4733B"/>
          </a:solidFill>
          <a:ln/>
        </p:spPr>
      </p:sp>
      <p:sp>
        <p:nvSpPr>
          <p:cNvPr id="25" name="Slide Number Placeholder 0"/>
          <p:cNvSpPr>
            <a:spLocks noGrp="1"/>
          </p:cNvSpPr>
          <p:nvPr>
            <p:ph type="sldNum" sz="quarter" idx="4294967295"/>
          </p:nvPr>
        </p:nvSpPr>
        <p:spPr>
          <a:xfrm>
            <a:off x="10972800" y="6400800"/>
            <a:ext cx="487680" cy="3048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E666C"/>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342591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792480"/>
          </a:xfrm>
          <a:prstGeom prst="rect">
            <a:avLst/>
          </a:prstGeom>
          <a:noFill/>
          <a:ln/>
        </p:spPr>
        <p:txBody>
          <a:bodyPr wrap="square" rtlCol="0"/>
          <a:lstStyle>
            <a:lvl1pPr marL="0" indent="0" algn="l">
              <a:buNone/>
              <a:defRPr lang="en-US" sz="4000" b="1" dirty="0">
                <a:solidFill>
                  <a:srgbClr val="0F2A3D"/>
                </a:solidFill>
                <a:latin typeface="Cambria" pitchFamily="34" charset="0"/>
                <a:ea typeface="Cambria" pitchFamily="34" charset="-122"/>
                <a:cs typeface="Cambria" pitchFamily="34" charset="-120"/>
              </a:defRPr>
            </a:lvl1pPr>
          </a:lstStyle>
          <a:p>
            <a:pPr marL="0" indent="0" algn="l">
              <a:buNone/>
            </a:pPr>
            <a:endParaRPr lang="en-US" sz="4000"/>
          </a:p>
        </p:txBody>
      </p:sp>
      <p:sp>
        <p:nvSpPr>
          <p:cNvPr id="25" name="Slide Number Placeholder 0"/>
          <p:cNvSpPr>
            <a:spLocks noGrp="1"/>
          </p:cNvSpPr>
          <p:nvPr>
            <p:ph type="sldNum" sz="quarter" idx="4294967295"/>
          </p:nvPr>
        </p:nvSpPr>
        <p:spPr>
          <a:xfrm>
            <a:off x="11216640" y="6400800"/>
            <a:ext cx="609600" cy="304800"/>
          </a:xfrm>
          <a:prstGeom prst="rect">
            <a:avLst/>
          </a:prstGeom>
          <a:extLst>
            <a:ext uri="{C572A759-6A51-4108-AA02-DFA0A04FC94B}">
              <ma14:wrappingTextBoxFlag xmlns:ma14="http://schemas.microsoft.com/office/mac/drawingml/2011/main" xmlns="" val="0"/>
            </a:ext>
          </a:extLst>
        </p:spPr>
        <p:txBody>
          <a:bodyPr/>
          <a:lstStyle>
            <a:lvl1pPr>
              <a:defRPr sz="1333">
                <a:solidFill>
                  <a:srgbClr val="6B778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7260937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569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2202F"/>
                </a:solidFill>
                <a:latin typeface="Georgia" pitchFamily="34" charset="0"/>
                <a:ea typeface="Georgia" pitchFamily="34" charset="-122"/>
                <a:cs typeface="Georgia"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800" y="2067520"/>
            <a:ext cx="10566400" cy="3977680"/>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Arial" pitchFamily="34" charset="0"/>
                <a:ea typeface="Arial" pitchFamily="34" charset="-122"/>
                <a:cs typeface="Arial"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1"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chart" Target="../charts/char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a:solidFill>
                  <a:srgbClr val="E8743B"/>
                </a:solidFill>
                <a:latin typeface="Arial" pitchFamily="34" charset="0"/>
                <a:ea typeface="Arial" pitchFamily="34" charset="-122"/>
                <a:cs typeface="Arial" pitchFamily="34" charset="-120"/>
              </a:rPr>
              <a:t>DATA 4380 · DATA PROBLEMS</a:t>
            </a:r>
            <a:endParaRPr lang="en-US" sz="1400"/>
          </a:p>
        </p:txBody>
      </p:sp>
      <p:sp>
        <p:nvSpPr>
          <p:cNvPr id="3" name="Text 1"/>
          <p:cNvSpPr>
            <a:spLocks noGrp="1"/>
          </p:cNvSpPr>
          <p:nvPr>
            <p:ph type="title"/>
          </p:nvPr>
        </p:nvSpPr>
        <p:spPr>
          <a:xfrm>
            <a:off x="812800" y="2086670"/>
            <a:ext cx="10883392" cy="1358900"/>
          </a:xfrm>
          <a:prstGeom prst="rect">
            <a:avLst/>
          </a:prstGeom>
          <a:noFill/>
          <a:ln/>
        </p:spPr>
        <p:txBody>
          <a:bodyPr wrap="square" lIns="0" tIns="0" rIns="0" bIns="0" rtlCol="0" anchor="t">
            <a:normAutofit/>
          </a:bodyPr>
          <a:lstStyle/>
          <a:p>
            <a:pPr marL="0" indent="0" algn="l">
              <a:lnSpc>
                <a:spcPts val="5250"/>
              </a:lnSpc>
              <a:buNone/>
            </a:pPr>
            <a:r>
              <a:rPr lang="en-US" sz="5000" b="0" i="0">
                <a:solidFill>
                  <a:srgbClr val="F6F4EE"/>
                </a:solidFill>
                <a:latin typeface="Georgia" pitchFamily="18" charset="0"/>
                <a:ea typeface="Georgia" pitchFamily="18" charset="-122"/>
                <a:cs typeface="Georgia" pitchFamily="18" charset="-120"/>
              </a:rPr>
              <a:t>Can Job Details Predict Salary in the Age of AI?</a:t>
            </a:r>
            <a:endParaRPr lang="en-US" sz="5000"/>
          </a:p>
        </p:txBody>
      </p:sp>
      <p:sp>
        <p:nvSpPr>
          <p:cNvPr id="4" name="Text 2"/>
          <p:cNvSpPr/>
          <p:nvPr/>
        </p:nvSpPr>
        <p:spPr>
          <a:xfrm>
            <a:off x="812800" y="359797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a:solidFill>
                  <a:srgbClr val="C9D3DE"/>
                </a:solidFill>
                <a:latin typeface="Arial" pitchFamily="34" charset="0"/>
                <a:ea typeface="Arial" pitchFamily="34" charset="-122"/>
                <a:cs typeface="Arial" pitchFamily="34" charset="-120"/>
              </a:rPr>
              <a:t>AI Impact on Jobs &amp; Salaries, 2020–2026</a:t>
            </a:r>
            <a:endParaRPr lang="en-US" sz="1800"/>
          </a:p>
        </p:txBody>
      </p:sp>
      <p:sp>
        <p:nvSpPr>
          <p:cNvPr id="5" name="Text 3"/>
          <p:cNvSpPr/>
          <p:nvPr/>
        </p:nvSpPr>
        <p:spPr>
          <a:xfrm>
            <a:off x="812800" y="4942929"/>
            <a:ext cx="10883392" cy="274290"/>
          </a:xfrm>
          <a:prstGeom prst="rect">
            <a:avLst/>
          </a:prstGeom>
          <a:noFill/>
          <a:ln/>
        </p:spPr>
        <p:txBody>
          <a:bodyPr wrap="square" lIns="0" tIns="0" rIns="0" bIns="0" rtlCol="0" anchor="t">
            <a:normAutofit/>
          </a:bodyPr>
          <a:lstStyle/>
          <a:p>
            <a:pPr marL="0" indent="0" algn="l">
              <a:lnSpc>
                <a:spcPct val="100000"/>
              </a:lnSpc>
              <a:buNone/>
            </a:pPr>
            <a:r>
              <a:rPr lang="en-US" sz="1400">
                <a:solidFill>
                  <a:srgbClr val="C9D3DE"/>
                </a:solidFill>
                <a:latin typeface="Arial" pitchFamily="34" charset="0"/>
                <a:ea typeface="Arial" pitchFamily="34" charset="-122"/>
                <a:cs typeface="Arial" pitchFamily="34" charset="-120"/>
              </a:rPr>
              <a:t>Quynh Huong Vo · Maryam Irfan · Ruth Slaughter · Subhi Paulraj</a:t>
            </a:r>
            <a:endParaRPr lang="en-US" sz="1400"/>
          </a:p>
        </p:txBody>
      </p:sp>
      <p:sp>
        <p:nvSpPr>
          <p:cNvPr id="6" name="Text 4"/>
          <p:cNvSpPr/>
          <p:nvPr/>
        </p:nvSpPr>
        <p:spPr>
          <a:xfrm>
            <a:off x="812800" y="526802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C9D3DE"/>
                </a:solidFill>
                <a:latin typeface="Arial" pitchFamily="34" charset="0"/>
                <a:ea typeface="Arial" pitchFamily="34" charset="-122"/>
                <a:cs typeface="Arial" pitchFamily="34" charset="-120"/>
              </a:rPr>
              <a:t>Instructor: Dr. Masoud Rostami · October 12, 2026</a:t>
            </a:r>
            <a:endParaRPr 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609600" y="365125"/>
            <a:ext cx="10363200" cy="79375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4000" b="1">
                <a:solidFill>
                  <a:srgbClr val="0F2A3D"/>
                </a:solidFill>
                <a:latin typeface="Cambria" pitchFamily="34" charset="0"/>
                <a:ea typeface="Cambria" pitchFamily="34" charset="-122"/>
                <a:cs typeface="Cambria" pitchFamily="34" charset="-120"/>
              </a:rPr>
              <a:t>Background and Motivation</a:t>
            </a:r>
            <a:endParaRPr lang="en-US" sz="4000"/>
          </a:p>
        </p:txBody>
      </p:sp>
      <p:sp>
        <p:nvSpPr>
          <p:cNvPr id="3" name="Text 1"/>
          <p:cNvSpPr txBox="1"/>
          <p:nvPr/>
        </p:nvSpPr>
        <p:spPr>
          <a:xfrm>
            <a:off x="609600" y="1194816"/>
            <a:ext cx="109728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00" i="1">
                <a:solidFill>
                  <a:schemeClr val="accent4">
                    <a:lumMod val="75000"/>
                  </a:schemeClr>
                </a:solidFill>
                <a:latin typeface="Calibri"/>
                <a:ea typeface="Calibri"/>
                <a:cs typeface="Calibri"/>
              </a:rPr>
              <a:t>Generative AI is changing the tasks we complete in our jobs. What does the pay data look like?</a:t>
            </a:r>
            <a:endParaRPr lang="en-US" sz="2100">
              <a:solidFill>
                <a:schemeClr val="accent4">
                  <a:lumMod val="75000"/>
                </a:schemeClr>
              </a:solidFill>
              <a:latin typeface="Calibri"/>
              <a:ea typeface="Calibri"/>
              <a:cs typeface="Calibri"/>
            </a:endParaRPr>
          </a:p>
        </p:txBody>
      </p:sp>
      <p:sp>
        <p:nvSpPr>
          <p:cNvPr id="4" name="Card0"/>
          <p:cNvSpPr/>
          <p:nvPr/>
        </p:nvSpPr>
        <p:spPr>
          <a:xfrm>
            <a:off x="609600" y="2133600"/>
            <a:ext cx="3474720" cy="3840480"/>
          </a:xfrm>
          <a:prstGeom prst="roundRect">
            <a:avLst>
              <a:gd name="adj" fmla="val 3509"/>
            </a:avLst>
          </a:prstGeom>
          <a:solidFill>
            <a:srgbClr val="FFFFFF"/>
          </a:solidFill>
          <a:ln w="12700">
            <a:solidFill>
              <a:srgbClr val="EEF3F5"/>
            </a:solidFill>
            <a:prstDash val="solid"/>
          </a:ln>
        </p:spPr>
        <p:txBody>
          <a:bodyPr/>
          <a:lstStyle/>
          <a:p>
            <a:endParaRPr lang="en-US"/>
          </a:p>
        </p:txBody>
      </p:sp>
      <p:sp>
        <p:nvSpPr>
          <p:cNvPr id="5" name="Shape 3"/>
          <p:cNvSpPr/>
          <p:nvPr/>
        </p:nvSpPr>
        <p:spPr>
          <a:xfrm>
            <a:off x="914400" y="2438400"/>
            <a:ext cx="853440" cy="853440"/>
          </a:xfrm>
          <a:prstGeom prst="ellipse">
            <a:avLst/>
          </a:prstGeom>
          <a:solidFill>
            <a:srgbClr val="E4733B"/>
          </a:solidFill>
          <a:ln w="12700">
            <a:solidFill>
              <a:srgbClr val="E4733B"/>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121664" y="2645664"/>
            <a:ext cx="438912" cy="438912"/>
          </a:xfrm>
          <a:prstGeom prst="rect">
            <a:avLst/>
          </a:prstGeom>
        </p:spPr>
      </p:pic>
      <p:sp>
        <p:nvSpPr>
          <p:cNvPr id="7" name="Text 4"/>
          <p:cNvSpPr txBox="1"/>
          <p:nvPr/>
        </p:nvSpPr>
        <p:spPr>
          <a:xfrm>
            <a:off x="914400" y="3535680"/>
            <a:ext cx="292608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67" b="1">
                <a:solidFill>
                  <a:srgbClr val="0F2A3D"/>
                </a:solidFill>
                <a:latin typeface="Cambria" pitchFamily="34" charset="0"/>
                <a:ea typeface="Cambria" pitchFamily="34" charset="-122"/>
                <a:cs typeface="Cambria" pitchFamily="34" charset="-120"/>
              </a:rPr>
              <a:t>The context</a:t>
            </a:r>
            <a:endParaRPr lang="en-US" sz="2667"/>
          </a:p>
        </p:txBody>
      </p:sp>
      <p:sp>
        <p:nvSpPr>
          <p:cNvPr id="8" name="Text 5"/>
          <p:cNvSpPr txBox="1"/>
          <p:nvPr/>
        </p:nvSpPr>
        <p:spPr>
          <a:xfrm>
            <a:off x="914400" y="4145280"/>
            <a:ext cx="2926080" cy="17068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0F2A3D"/>
                </a:solidFill>
                <a:latin typeface="Calibri" pitchFamily="34" charset="0"/>
                <a:ea typeface="Calibri" pitchFamily="34" charset="-122"/>
                <a:cs typeface="Calibri" pitchFamily="34" charset="-120"/>
              </a:rPr>
              <a:t>ILO study (Gmyrek et al., 2025) scores occupations 0–1 on exposure to generative AI</a:t>
            </a:r>
            <a:endParaRPr lang="en-US" sz="2000"/>
          </a:p>
        </p:txBody>
      </p:sp>
      <p:sp>
        <p:nvSpPr>
          <p:cNvPr id="9" name="Card1"/>
          <p:cNvSpPr/>
          <p:nvPr/>
        </p:nvSpPr>
        <p:spPr>
          <a:xfrm>
            <a:off x="4328160" y="2133600"/>
            <a:ext cx="3474720" cy="3840480"/>
          </a:xfrm>
          <a:prstGeom prst="roundRect">
            <a:avLst>
              <a:gd name="adj" fmla="val 3509"/>
            </a:avLst>
          </a:prstGeom>
          <a:solidFill>
            <a:srgbClr val="FFFFFF"/>
          </a:solidFill>
          <a:ln w="12700">
            <a:solidFill>
              <a:srgbClr val="EEF3F5"/>
            </a:solidFill>
            <a:prstDash val="solid"/>
          </a:ln>
        </p:spPr>
        <p:txBody>
          <a:bodyPr/>
          <a:lstStyle/>
          <a:p>
            <a:endParaRPr lang="en-US"/>
          </a:p>
        </p:txBody>
      </p:sp>
      <p:sp>
        <p:nvSpPr>
          <p:cNvPr id="10" name="Shape 7"/>
          <p:cNvSpPr/>
          <p:nvPr/>
        </p:nvSpPr>
        <p:spPr>
          <a:xfrm>
            <a:off x="4632960" y="2438400"/>
            <a:ext cx="853440" cy="853440"/>
          </a:xfrm>
          <a:prstGeom prst="ellipse">
            <a:avLst/>
          </a:prstGeom>
          <a:solidFill>
            <a:srgbClr val="E4733B"/>
          </a:solidFill>
          <a:ln w="12700">
            <a:solidFill>
              <a:srgbClr val="E4733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840224" y="2645664"/>
            <a:ext cx="438912" cy="438912"/>
          </a:xfrm>
          <a:prstGeom prst="rect">
            <a:avLst/>
          </a:prstGeom>
        </p:spPr>
      </p:pic>
      <p:sp>
        <p:nvSpPr>
          <p:cNvPr id="12" name="Text 8"/>
          <p:cNvSpPr txBox="1"/>
          <p:nvPr/>
        </p:nvSpPr>
        <p:spPr>
          <a:xfrm>
            <a:off x="4632960" y="3535680"/>
            <a:ext cx="292608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67" b="1">
                <a:solidFill>
                  <a:srgbClr val="0F2A3D"/>
                </a:solidFill>
                <a:latin typeface="Cambria" pitchFamily="34" charset="0"/>
                <a:ea typeface="Cambria" pitchFamily="34" charset="-122"/>
                <a:cs typeface="Cambria" pitchFamily="34" charset="-120"/>
              </a:rPr>
              <a:t>The data</a:t>
            </a:r>
            <a:endParaRPr lang="en-US" sz="2667"/>
          </a:p>
        </p:txBody>
      </p:sp>
      <p:sp>
        <p:nvSpPr>
          <p:cNvPr id="13" name="Text 9"/>
          <p:cNvSpPr txBox="1"/>
          <p:nvPr/>
        </p:nvSpPr>
        <p:spPr>
          <a:xfrm>
            <a:off x="4632960" y="4145280"/>
            <a:ext cx="2926080" cy="17068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0F2A3D"/>
                </a:solidFill>
                <a:latin typeface="Calibri" pitchFamily="34" charset="0"/>
                <a:ea typeface="Calibri" pitchFamily="34" charset="-122"/>
                <a:cs typeface="Calibri" pitchFamily="34" charset="-120"/>
              </a:rPr>
              <a:t>71,913 self-reported salary records for data and AI roles, 2020–2025</a:t>
            </a:r>
            <a:endParaRPr lang="en-US" sz="2000"/>
          </a:p>
        </p:txBody>
      </p:sp>
      <p:sp>
        <p:nvSpPr>
          <p:cNvPr id="14" name="Card2"/>
          <p:cNvSpPr/>
          <p:nvPr/>
        </p:nvSpPr>
        <p:spPr>
          <a:xfrm>
            <a:off x="8046720" y="2133600"/>
            <a:ext cx="3474720" cy="3840480"/>
          </a:xfrm>
          <a:prstGeom prst="roundRect">
            <a:avLst>
              <a:gd name="adj" fmla="val 3509"/>
            </a:avLst>
          </a:prstGeom>
          <a:solidFill>
            <a:srgbClr val="FFFFFF"/>
          </a:solidFill>
          <a:ln w="12700">
            <a:solidFill>
              <a:srgbClr val="EEF3F5"/>
            </a:solidFill>
            <a:prstDash val="solid"/>
          </a:ln>
        </p:spPr>
        <p:txBody>
          <a:bodyPr/>
          <a:lstStyle/>
          <a:p>
            <a:endParaRPr lang="en-US"/>
          </a:p>
        </p:txBody>
      </p:sp>
      <p:sp>
        <p:nvSpPr>
          <p:cNvPr id="15" name="Shape 11"/>
          <p:cNvSpPr/>
          <p:nvPr/>
        </p:nvSpPr>
        <p:spPr>
          <a:xfrm>
            <a:off x="8351520" y="2438400"/>
            <a:ext cx="853440" cy="853440"/>
          </a:xfrm>
          <a:prstGeom prst="ellipse">
            <a:avLst/>
          </a:prstGeom>
          <a:solidFill>
            <a:srgbClr val="E4733B"/>
          </a:solidFill>
          <a:ln w="12700">
            <a:solidFill>
              <a:srgbClr val="0E7C86"/>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558784" y="2645664"/>
            <a:ext cx="438912" cy="438912"/>
          </a:xfrm>
          <a:prstGeom prst="rect">
            <a:avLst/>
          </a:prstGeom>
        </p:spPr>
      </p:pic>
      <p:sp>
        <p:nvSpPr>
          <p:cNvPr id="17" name="Text 12"/>
          <p:cNvSpPr txBox="1"/>
          <p:nvPr/>
        </p:nvSpPr>
        <p:spPr>
          <a:xfrm>
            <a:off x="8351520" y="3535680"/>
            <a:ext cx="292608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667" b="1">
                <a:solidFill>
                  <a:srgbClr val="0F2A3D"/>
                </a:solidFill>
                <a:latin typeface="Cambria" pitchFamily="34" charset="0"/>
                <a:ea typeface="Cambria" pitchFamily="34" charset="-122"/>
                <a:cs typeface="Cambria" pitchFamily="34" charset="-120"/>
              </a:rPr>
              <a:t>Who benefits</a:t>
            </a:r>
            <a:endParaRPr lang="en-US" sz="2667"/>
          </a:p>
        </p:txBody>
      </p:sp>
      <p:sp>
        <p:nvSpPr>
          <p:cNvPr id="18" name="Text 13"/>
          <p:cNvSpPr txBox="1"/>
          <p:nvPr/>
        </p:nvSpPr>
        <p:spPr>
          <a:xfrm>
            <a:off x="8351520" y="4145280"/>
            <a:ext cx="2926080" cy="17068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a:solidFill>
                  <a:srgbClr val="0F2A3D"/>
                </a:solidFill>
                <a:latin typeface="Calibri" pitchFamily="34" charset="0"/>
                <a:ea typeface="Calibri" pitchFamily="34" charset="-122"/>
                <a:cs typeface="Calibri" pitchFamily="34" charset="-120"/>
              </a:rPr>
              <a:t>Job seekers, employers and analysts who want to see what drives pay</a:t>
            </a:r>
            <a:endParaRPr lang="en-US" sz="2000"/>
          </a:p>
        </p:txBody>
      </p:sp>
    </p:spTree>
    <p:extLst>
      <p:ext uri="{BB962C8B-B14F-4D97-AF65-F5344CB8AC3E}">
        <p14:creationId xmlns:p14="http://schemas.microsoft.com/office/powerpoint/2010/main" val="2377012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Problem Statement and Objectives</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Can job, location and company details predict a record's salary tier, and does AI exposure add anything?</a:t>
            </a:r>
            <a:endParaRPr lang="en-US" sz="1867"/>
          </a:p>
        </p:txBody>
      </p:sp>
      <p:sp>
        <p:nvSpPr>
          <p:cNvPr id="5" name="Shape 3"/>
          <p:cNvSpPr/>
          <p:nvPr/>
        </p:nvSpPr>
        <p:spPr>
          <a:xfrm>
            <a:off x="731520" y="2011680"/>
            <a:ext cx="4511040" cy="4023360"/>
          </a:xfrm>
          <a:prstGeom prst="roundRect">
            <a:avLst>
              <a:gd name="adj" fmla="val 2424"/>
            </a:avLst>
          </a:prstGeom>
          <a:solidFill>
            <a:srgbClr val="0F2A3D"/>
          </a:solidFill>
          <a:ln w="12700">
            <a:solidFill>
              <a:srgbClr val="0F2A3D"/>
            </a:solidFill>
            <a:prstDash val="solid"/>
          </a:ln>
        </p:spPr>
      </p:sp>
      <p:sp>
        <p:nvSpPr>
          <p:cNvPr id="6" name="Text 4"/>
          <p:cNvSpPr txBox="1"/>
          <p:nvPr/>
        </p:nvSpPr>
        <p:spPr>
          <a:xfrm>
            <a:off x="1036320" y="2255520"/>
            <a:ext cx="3962400" cy="3657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E4733B"/>
                </a:solidFill>
                <a:latin typeface="Calibri" pitchFamily="34" charset="0"/>
                <a:ea typeface="Calibri" pitchFamily="34" charset="-122"/>
                <a:cs typeface="Calibri" pitchFamily="34" charset="-120"/>
              </a:rPr>
              <a:t>TARGET</a:t>
            </a:r>
            <a:endParaRPr lang="en-US" sz="1600"/>
          </a:p>
          <a:p>
            <a:pPr marL="0" indent="0">
              <a:spcAft>
                <a:spcPts val="1200"/>
              </a:spcAft>
              <a:buNone/>
            </a:pPr>
            <a:r>
              <a:rPr lang="en-US" sz="1733">
                <a:solidFill>
                  <a:srgbClr val="FFFFFF"/>
                </a:solidFill>
                <a:latin typeface="Calibri" pitchFamily="34" charset="0"/>
                <a:ea typeface="Calibri" pitchFamily="34" charset="-122"/>
                <a:cs typeface="Calibri" pitchFamily="34" charset="-120"/>
              </a:rPr>
              <a:t>salary_in_usd, binned into four quartile tiers</a:t>
            </a:r>
            <a:endParaRPr lang="en-US" sz="1600"/>
          </a:p>
          <a:p>
            <a:pPr marL="0" indent="0">
              <a:buNone/>
            </a:pPr>
            <a:r>
              <a:rPr lang="en-US" sz="1333" b="1">
                <a:solidFill>
                  <a:srgbClr val="E4733B"/>
                </a:solidFill>
                <a:latin typeface="Calibri" pitchFamily="34" charset="0"/>
                <a:ea typeface="Calibri" pitchFamily="34" charset="-122"/>
                <a:cs typeface="Calibri" pitchFamily="34" charset="-120"/>
              </a:rPr>
              <a:t>TASK</a:t>
            </a:r>
            <a:endParaRPr lang="en-US" sz="1600"/>
          </a:p>
          <a:p>
            <a:pPr marL="0" indent="0">
              <a:spcAft>
                <a:spcPts val="1200"/>
              </a:spcAft>
              <a:buNone/>
            </a:pPr>
            <a:r>
              <a:rPr lang="en-US" sz="1733">
                <a:solidFill>
                  <a:srgbClr val="FFFFFF"/>
                </a:solidFill>
                <a:latin typeface="Calibri" pitchFamily="34" charset="0"/>
                <a:ea typeface="Calibri" pitchFamily="34" charset="-122"/>
                <a:cs typeface="Calibri" pitchFamily="34" charset="-120"/>
              </a:rPr>
              <a:t>4-class classification: Low, Lower-Mid, Upper-Mid, High</a:t>
            </a:r>
            <a:endParaRPr lang="en-US" sz="1600"/>
          </a:p>
          <a:p>
            <a:pPr marL="0" indent="0">
              <a:buNone/>
            </a:pPr>
            <a:r>
              <a:rPr lang="en-US" sz="1333" b="1">
                <a:solidFill>
                  <a:srgbClr val="E4733B"/>
                </a:solidFill>
                <a:latin typeface="Calibri" pitchFamily="34" charset="0"/>
                <a:ea typeface="Calibri" pitchFamily="34" charset="-122"/>
                <a:cs typeface="Calibri" pitchFamily="34" charset="-120"/>
              </a:rPr>
              <a:t>SUCCESS</a:t>
            </a:r>
            <a:endParaRPr lang="en-US" sz="1600"/>
          </a:p>
          <a:p>
            <a:pPr marL="0" indent="0">
              <a:buNone/>
            </a:pPr>
            <a:r>
              <a:rPr lang="en-US" sz="1733">
                <a:solidFill>
                  <a:srgbClr val="FFFFFF"/>
                </a:solidFill>
                <a:latin typeface="Calibri" pitchFamily="34" charset="0"/>
                <a:ea typeface="Calibri" pitchFamily="34" charset="-122"/>
                <a:cs typeface="Calibri" pitchFamily="34" charset="-120"/>
              </a:rPr>
              <a:t>Beat the 25% majority-class guess; compare models on accuracy, precision, recall and F1</a:t>
            </a:r>
            <a:endParaRPr lang="en-US" sz="1600"/>
          </a:p>
        </p:txBody>
      </p:sp>
      <p:sp>
        <p:nvSpPr>
          <p:cNvPr id="7" name="Shape 5"/>
          <p:cNvSpPr/>
          <p:nvPr/>
        </p:nvSpPr>
        <p:spPr>
          <a:xfrm>
            <a:off x="5669280" y="2218944"/>
            <a:ext cx="670560" cy="670560"/>
          </a:xfrm>
          <a:prstGeom prst="ellipse">
            <a:avLst/>
          </a:prstGeom>
          <a:solidFill>
            <a:srgbClr val="E4733B"/>
          </a:solidFill>
          <a:ln w="12700">
            <a:solidFill>
              <a:srgbClr val="E4733B"/>
            </a:solidFill>
            <a:prstDash val="solid"/>
          </a:ln>
        </p:spPr>
      </p:sp>
      <p:sp>
        <p:nvSpPr>
          <p:cNvPr id="8" name="Text 6"/>
          <p:cNvSpPr txBox="1"/>
          <p:nvPr/>
        </p:nvSpPr>
        <p:spPr>
          <a:xfrm>
            <a:off x="5669280" y="2218944"/>
            <a:ext cx="6705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a:solidFill>
                  <a:srgbClr val="FFFFFF"/>
                </a:solidFill>
                <a:latin typeface="Cambria" pitchFamily="34" charset="0"/>
                <a:ea typeface="Cambria" pitchFamily="34" charset="-122"/>
                <a:cs typeface="Cambria" pitchFamily="34" charset="-120"/>
              </a:rPr>
              <a:t>1</a:t>
            </a:r>
            <a:endParaRPr lang="en-US" sz="2400"/>
          </a:p>
        </p:txBody>
      </p:sp>
      <p:sp>
        <p:nvSpPr>
          <p:cNvPr id="9" name="Text 7"/>
          <p:cNvSpPr txBox="1"/>
          <p:nvPr/>
        </p:nvSpPr>
        <p:spPr>
          <a:xfrm>
            <a:off x="6644640" y="2072640"/>
            <a:ext cx="475488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a:solidFill>
                  <a:srgbClr val="0F2A3D"/>
                </a:solidFill>
                <a:latin typeface="Calibri" pitchFamily="34" charset="0"/>
                <a:ea typeface="Calibri" pitchFamily="34" charset="-122"/>
                <a:cs typeface="Calibri" pitchFamily="34" charset="-120"/>
              </a:rPr>
              <a:t>Explore and clean the data, then build a leak-safe baseline for salary tier</a:t>
            </a:r>
            <a:endParaRPr lang="en-US" sz="1867"/>
          </a:p>
        </p:txBody>
      </p:sp>
      <p:sp>
        <p:nvSpPr>
          <p:cNvPr id="10" name="Shape 8"/>
          <p:cNvSpPr/>
          <p:nvPr/>
        </p:nvSpPr>
        <p:spPr>
          <a:xfrm>
            <a:off x="5669280" y="3560064"/>
            <a:ext cx="670560" cy="670560"/>
          </a:xfrm>
          <a:prstGeom prst="ellipse">
            <a:avLst/>
          </a:prstGeom>
          <a:solidFill>
            <a:srgbClr val="E4733B"/>
          </a:solidFill>
          <a:ln w="12700">
            <a:solidFill>
              <a:srgbClr val="E4733B"/>
            </a:solidFill>
            <a:prstDash val="solid"/>
          </a:ln>
        </p:spPr>
      </p:sp>
      <p:sp>
        <p:nvSpPr>
          <p:cNvPr id="11" name="Text 9"/>
          <p:cNvSpPr txBox="1"/>
          <p:nvPr/>
        </p:nvSpPr>
        <p:spPr>
          <a:xfrm>
            <a:off x="5669280" y="3560064"/>
            <a:ext cx="6705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a:solidFill>
                  <a:srgbClr val="FFFFFF"/>
                </a:solidFill>
                <a:latin typeface="Cambria" pitchFamily="34" charset="0"/>
                <a:ea typeface="Cambria" pitchFamily="34" charset="-122"/>
                <a:cs typeface="Cambria" pitchFamily="34" charset="-120"/>
              </a:rPr>
              <a:t>2</a:t>
            </a:r>
            <a:endParaRPr lang="en-US" sz="2400"/>
          </a:p>
        </p:txBody>
      </p:sp>
      <p:sp>
        <p:nvSpPr>
          <p:cNvPr id="12" name="Text 10"/>
          <p:cNvSpPr txBox="1"/>
          <p:nvPr/>
        </p:nvSpPr>
        <p:spPr>
          <a:xfrm>
            <a:off x="6644640" y="3413760"/>
            <a:ext cx="475488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a:solidFill>
                  <a:srgbClr val="0F2A3D"/>
                </a:solidFill>
                <a:latin typeface="Calibri" pitchFamily="34" charset="0"/>
                <a:ea typeface="Calibri" pitchFamily="34" charset="-122"/>
                <a:cs typeface="Calibri" pitchFamily="34" charset="-120"/>
              </a:rPr>
              <a:t>Compare the baseline with nonlinear models: Random Forest and Gradient Boosting</a:t>
            </a:r>
            <a:endParaRPr lang="en-US" sz="1867"/>
          </a:p>
        </p:txBody>
      </p:sp>
      <p:sp>
        <p:nvSpPr>
          <p:cNvPr id="13" name="Shape 11"/>
          <p:cNvSpPr/>
          <p:nvPr/>
        </p:nvSpPr>
        <p:spPr>
          <a:xfrm>
            <a:off x="5669280" y="4901184"/>
            <a:ext cx="670560" cy="670560"/>
          </a:xfrm>
          <a:prstGeom prst="ellipse">
            <a:avLst/>
          </a:prstGeom>
          <a:solidFill>
            <a:srgbClr val="E4733B"/>
          </a:solidFill>
          <a:ln w="12700">
            <a:solidFill>
              <a:srgbClr val="E4733B"/>
            </a:solidFill>
            <a:prstDash val="solid"/>
          </a:ln>
        </p:spPr>
      </p:sp>
      <p:sp>
        <p:nvSpPr>
          <p:cNvPr id="14" name="Text 12"/>
          <p:cNvSpPr txBox="1"/>
          <p:nvPr/>
        </p:nvSpPr>
        <p:spPr>
          <a:xfrm>
            <a:off x="5669280" y="4901184"/>
            <a:ext cx="6705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a:solidFill>
                  <a:srgbClr val="FFFFFF"/>
                </a:solidFill>
                <a:latin typeface="Cambria" pitchFamily="34" charset="0"/>
                <a:ea typeface="Cambria" pitchFamily="34" charset="-122"/>
                <a:cs typeface="Cambria" pitchFamily="34" charset="-120"/>
              </a:rPr>
              <a:t>3</a:t>
            </a:r>
            <a:endParaRPr lang="en-US" sz="2400"/>
          </a:p>
        </p:txBody>
      </p:sp>
      <p:sp>
        <p:nvSpPr>
          <p:cNvPr id="15" name="Text 13"/>
          <p:cNvSpPr txBox="1"/>
          <p:nvPr/>
        </p:nvSpPr>
        <p:spPr>
          <a:xfrm>
            <a:off x="6644640" y="4754880"/>
            <a:ext cx="475488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a:solidFill>
                  <a:srgbClr val="0F2A3D"/>
                </a:solidFill>
                <a:latin typeface="Calibri" pitchFamily="34" charset="0"/>
                <a:ea typeface="Calibri" pitchFamily="34" charset="-122"/>
                <a:cs typeface="Calibri" pitchFamily="34" charset="-120"/>
              </a:rPr>
              <a:t>Test whether the ILO AI-exposure score adds predictive signal</a:t>
            </a:r>
            <a:endParaRPr lang="en-US" sz="1867"/>
          </a:p>
        </p:txBody>
      </p:sp>
    </p:spTree>
    <p:extLst>
      <p:ext uri="{BB962C8B-B14F-4D97-AF65-F5344CB8AC3E}">
        <p14:creationId xmlns:p14="http://schemas.microsoft.com/office/powerpoint/2010/main" val="1904841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DF76B-8BEA-AE71-C8DC-710A8211E2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9EADE0-0C1A-C6BA-DE4F-2CF78CB0909C}"/>
              </a:ext>
            </a:extLst>
          </p:cNvPr>
          <p:cNvSpPr>
            <a:spLocks noGrp="1"/>
          </p:cNvSpPr>
          <p:nvPr>
            <p:ph type="title" idx="4294967295" hasCustomPrompt="1"/>
          </p:nvPr>
        </p:nvSpPr>
        <p:spPr>
          <a:xfrm>
            <a:off x="609600" y="365125"/>
            <a:ext cx="10363200" cy="79375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4000" b="1">
                <a:solidFill>
                  <a:srgbClr val="0F2A3D"/>
                </a:solidFill>
                <a:latin typeface="Cambria" pitchFamily="34" charset="0"/>
                <a:ea typeface="Cambria" pitchFamily="34" charset="-122"/>
                <a:cs typeface="Cambria" pitchFamily="34" charset="-120"/>
              </a:rPr>
              <a:t>Isco_group_hint</a:t>
            </a:r>
            <a:endParaRPr lang="en-US" sz="4000"/>
          </a:p>
        </p:txBody>
      </p:sp>
      <p:sp>
        <p:nvSpPr>
          <p:cNvPr id="3" name="Text 1">
            <a:extLst>
              <a:ext uri="{FF2B5EF4-FFF2-40B4-BE49-F238E27FC236}">
                <a16:creationId xmlns:a16="http://schemas.microsoft.com/office/drawing/2014/main" id="{E9EB43EA-D417-313E-317F-6F5E82FFB968}"/>
              </a:ext>
            </a:extLst>
          </p:cNvPr>
          <p:cNvSpPr txBox="1"/>
          <p:nvPr/>
        </p:nvSpPr>
        <p:spPr>
          <a:xfrm>
            <a:off x="609600" y="1194816"/>
            <a:ext cx="109728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00" i="1">
                <a:solidFill>
                  <a:schemeClr val="accent4">
                    <a:lumMod val="75000"/>
                  </a:schemeClr>
                </a:solidFill>
                <a:latin typeface="Calibri"/>
                <a:ea typeface="Calibri"/>
                <a:cs typeface="Calibri"/>
              </a:rPr>
              <a:t>Our dataset has a special variable based off a study to further examine AI’s impacts on jobs. </a:t>
            </a:r>
            <a:endParaRPr lang="en-US" sz="2100">
              <a:solidFill>
                <a:schemeClr val="accent4">
                  <a:lumMod val="75000"/>
                </a:schemeClr>
              </a:solidFill>
              <a:latin typeface="Calibri"/>
              <a:ea typeface="Calibri"/>
              <a:cs typeface="Calibri"/>
            </a:endParaRPr>
          </a:p>
        </p:txBody>
      </p:sp>
      <p:sp>
        <p:nvSpPr>
          <p:cNvPr id="8" name="Text 6">
            <a:extLst>
              <a:ext uri="{FF2B5EF4-FFF2-40B4-BE49-F238E27FC236}">
                <a16:creationId xmlns:a16="http://schemas.microsoft.com/office/drawing/2014/main" id="{13EC3309-7860-4037-C669-DA4BC9206483}"/>
              </a:ext>
            </a:extLst>
          </p:cNvPr>
          <p:cNvSpPr txBox="1"/>
          <p:nvPr/>
        </p:nvSpPr>
        <p:spPr>
          <a:xfrm>
            <a:off x="609600" y="1804416"/>
            <a:ext cx="10972800" cy="45963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2100">
                <a:solidFill>
                  <a:srgbClr val="0F2A3D"/>
                </a:solidFill>
                <a:latin typeface="Calibri" pitchFamily="34" charset="0"/>
                <a:cs typeface="Calibri" pitchFamily="34" charset="-120"/>
              </a:rPr>
              <a:t>This variable was derived from the study of </a:t>
            </a:r>
            <a:r>
              <a:rPr lang="en-US" sz="2100">
                <a:solidFill>
                  <a:schemeClr val="accent1"/>
                </a:solidFill>
                <a:latin typeface="Calibri" pitchFamily="34" charset="0"/>
                <a:cs typeface="Calibri" pitchFamily="34" charset="-120"/>
              </a:rPr>
              <a:t>ILO’s Generative AI and Jobs paper by Gymrek et al. (2025), </a:t>
            </a:r>
            <a:r>
              <a:rPr lang="en-US" sz="2100">
                <a:solidFill>
                  <a:srgbClr val="0F2A3D"/>
                </a:solidFill>
                <a:latin typeface="Calibri" pitchFamily="34" charset="0"/>
                <a:cs typeface="Calibri" pitchFamily="34" charset="-120"/>
              </a:rPr>
              <a:t>exploring how different careers can be affected by generative AI. </a:t>
            </a:r>
          </a:p>
          <a:p>
            <a:endParaRPr lang="en-US" sz="2100">
              <a:solidFill>
                <a:srgbClr val="0F2A3D"/>
              </a:solidFill>
              <a:latin typeface="Calibri" pitchFamily="34" charset="0"/>
              <a:cs typeface="Calibri" pitchFamily="34" charset="-120"/>
            </a:endParaRPr>
          </a:p>
          <a:p>
            <a:r>
              <a:rPr lang="en-US" sz="2100">
                <a:solidFill>
                  <a:srgbClr val="0F2A3D"/>
                </a:solidFill>
                <a:latin typeface="Calibri" pitchFamily="34" charset="0"/>
                <a:cs typeface="Calibri" pitchFamily="34" charset="-120"/>
              </a:rPr>
              <a:t>The ”isco_group_hint” column identifies </a:t>
            </a:r>
            <a:r>
              <a:rPr lang="en-US" sz="2100">
                <a:solidFill>
                  <a:schemeClr val="accent1"/>
                </a:solidFill>
                <a:latin typeface="Calibri" pitchFamily="34" charset="0"/>
                <a:cs typeface="Calibri" pitchFamily="34" charset="-120"/>
              </a:rPr>
              <a:t>AI exposure on a scale of 0-1</a:t>
            </a:r>
            <a:r>
              <a:rPr lang="en-US" sz="2100">
                <a:solidFill>
                  <a:srgbClr val="0F2A3D"/>
                </a:solidFill>
                <a:latin typeface="Calibri" pitchFamily="34" charset="0"/>
                <a:cs typeface="Calibri" pitchFamily="34" charset="-120"/>
              </a:rPr>
              <a:t>, where a higher score indicates a higher chance of generative AI being present in the job. </a:t>
            </a:r>
          </a:p>
          <a:p>
            <a:endParaRPr lang="en-US" sz="2100">
              <a:solidFill>
                <a:srgbClr val="0F2A3D"/>
              </a:solidFill>
              <a:latin typeface="Calibri" pitchFamily="34" charset="0"/>
              <a:cs typeface="Calibri" pitchFamily="34" charset="-120"/>
              <a:sym typeface="Wingdings" pitchFamily="2" charset="2"/>
            </a:endParaRPr>
          </a:p>
          <a:p>
            <a:r>
              <a:rPr lang="en-US" sz="2100">
                <a:solidFill>
                  <a:srgbClr val="0F2A3D"/>
                </a:solidFill>
                <a:latin typeface="Calibri" pitchFamily="34" charset="0"/>
                <a:cs typeface="Calibri" pitchFamily="34" charset="-120"/>
                <a:sym typeface="Wingdings" pitchFamily="2" charset="2"/>
              </a:rPr>
              <a:t>Based off the study, </a:t>
            </a:r>
            <a:r>
              <a:rPr lang="en-US" sz="2100">
                <a:solidFill>
                  <a:schemeClr val="accent1"/>
                </a:solidFill>
                <a:latin typeface="Calibri" pitchFamily="34" charset="0"/>
                <a:cs typeface="Calibri" pitchFamily="34" charset="-120"/>
                <a:sym typeface="Wingdings" pitchFamily="2" charset="2"/>
              </a:rPr>
              <a:t>higher scores show how a job’s tasks can be done or helped by generative AI</a:t>
            </a:r>
            <a:r>
              <a:rPr lang="en-US" sz="2100">
                <a:solidFill>
                  <a:srgbClr val="0F2A3D"/>
                </a:solidFill>
                <a:latin typeface="Calibri" pitchFamily="34" charset="0"/>
                <a:cs typeface="Calibri" pitchFamily="34" charset="-120"/>
                <a:sym typeface="Wingdings" pitchFamily="2" charset="2"/>
              </a:rPr>
              <a:t>. Grouped jobs had different exposure levels based on their scores. </a:t>
            </a:r>
          </a:p>
          <a:p>
            <a:endParaRPr lang="en-US" sz="2100">
              <a:solidFill>
                <a:srgbClr val="0F2A3D"/>
              </a:solidFill>
              <a:latin typeface="Calibri" pitchFamily="34" charset="0"/>
              <a:cs typeface="Calibri" pitchFamily="34" charset="-120"/>
              <a:sym typeface="Wingdings" pitchFamily="2" charset="2"/>
            </a:endParaRPr>
          </a:p>
          <a:p>
            <a:r>
              <a:rPr lang="en-US" sz="2100">
                <a:solidFill>
                  <a:srgbClr val="0F2A3D"/>
                </a:solidFill>
                <a:latin typeface="Calibri" pitchFamily="34" charset="0"/>
                <a:cs typeface="Calibri" pitchFamily="34" charset="-120"/>
                <a:sym typeface="Wingdings" pitchFamily="2" charset="2"/>
              </a:rPr>
              <a:t>Isco_group_hint does not add new information, as its value is a bridge to the study’s exposure scores; </a:t>
            </a:r>
            <a:r>
              <a:rPr lang="en-US" sz="2100">
                <a:solidFill>
                  <a:schemeClr val="accent1"/>
                </a:solidFill>
                <a:latin typeface="Calibri" pitchFamily="34" charset="0"/>
                <a:cs typeface="Calibri" pitchFamily="34" charset="-120"/>
                <a:sym typeface="Wingdings" pitchFamily="2" charset="2"/>
              </a:rPr>
              <a:t>it is not a standalone predictor</a:t>
            </a:r>
            <a:r>
              <a:rPr lang="en-US" sz="2100">
                <a:solidFill>
                  <a:srgbClr val="0F2A3D"/>
                </a:solidFill>
                <a:latin typeface="Calibri" pitchFamily="34" charset="0"/>
                <a:cs typeface="Calibri" pitchFamily="34" charset="-120"/>
                <a:sym typeface="Wingdings" pitchFamily="2" charset="2"/>
              </a:rPr>
              <a:t>. </a:t>
            </a:r>
            <a:endParaRPr lang="en-US" sz="2100">
              <a:solidFill>
                <a:srgbClr val="0F2A3D"/>
              </a:solidFill>
              <a:latin typeface="Calibri" pitchFamily="34" charset="0"/>
              <a:cs typeface="Calibri" pitchFamily="34" charset="-120"/>
            </a:endParaRPr>
          </a:p>
        </p:txBody>
      </p:sp>
    </p:spTree>
    <p:extLst>
      <p:ext uri="{BB962C8B-B14F-4D97-AF65-F5344CB8AC3E}">
        <p14:creationId xmlns:p14="http://schemas.microsoft.com/office/powerpoint/2010/main" val="3012364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txBox="1"/>
          <p:nvPr/>
        </p:nvSpPr>
        <p:spPr>
          <a:xfrm>
            <a:off x="731520" y="637491"/>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How AI Exposure Was Attached</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Manual, approximate mapping; scores averaged from Gmyrek et al. (2025)</a:t>
            </a:r>
            <a:endParaRPr lang="en-US" sz="1867"/>
          </a:p>
        </p:txBody>
      </p:sp>
      <p:graphicFrame>
        <p:nvGraphicFramePr>
          <p:cNvPr id="25" name="Table 0"/>
          <p:cNvGraphicFramePr>
            <a:graphicFrameLocks noGrp="1"/>
          </p:cNvGraphicFramePr>
          <p:nvPr/>
        </p:nvGraphicFramePr>
        <p:xfrm>
          <a:off x="731520" y="2011680"/>
          <a:ext cx="10728960" cy="3304032"/>
        </p:xfrm>
        <a:graphic>
          <a:graphicData uri="http://schemas.openxmlformats.org/drawingml/2006/table">
            <a:tbl>
              <a:tblPr/>
              <a:tblGrid>
                <a:gridCol w="37795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341120">
                  <a:extLst>
                    <a:ext uri="{9D8B030D-6E8A-4147-A177-3AD203B41FA5}">
                      <a16:colId xmlns:a16="http://schemas.microsoft.com/office/drawing/2014/main" val="20003"/>
                    </a:ext>
                  </a:extLst>
                </a:gridCol>
              </a:tblGrid>
              <a:tr h="438912">
                <a:tc>
                  <a:txBody>
                    <a:bodyPr/>
                    <a:lstStyle/>
                    <a:p>
                      <a:pPr marL="0" indent="0" algn="l">
                        <a:buNone/>
                      </a:pPr>
                      <a:r>
                        <a:rPr lang="en-US" sz="1500" b="1">
                          <a:solidFill>
                            <a:srgbClr val="FFFFFF"/>
                          </a:solidFill>
                          <a:latin typeface="Calibri" pitchFamily="34" charset="0"/>
                          <a:ea typeface="Calibri" pitchFamily="34" charset="-122"/>
                          <a:cs typeface="Calibri" pitchFamily="34" charset="-120"/>
                        </a:rPr>
                        <a:t>ISCO group</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0F2A3D"/>
                    </a:solidFill>
                  </a:tcPr>
                </a:tc>
                <a:tc>
                  <a:txBody>
                    <a:bodyPr/>
                    <a:lstStyle/>
                    <a:p>
                      <a:pPr marL="0" indent="0" algn="l">
                        <a:buNone/>
                      </a:pPr>
                      <a:r>
                        <a:rPr lang="en-US" sz="1500" b="1">
                          <a:solidFill>
                            <a:srgbClr val="FFFFFF"/>
                          </a:solidFill>
                          <a:latin typeface="Calibri" pitchFamily="34" charset="0"/>
                          <a:ea typeface="Calibri" pitchFamily="34" charset="-122"/>
                          <a:cs typeface="Calibri" pitchFamily="34" charset="-120"/>
                        </a:rPr>
                        <a:t>Role family</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0F2A3D"/>
                    </a:solidFill>
                  </a:tcPr>
                </a:tc>
                <a:tc>
                  <a:txBody>
                    <a:bodyPr/>
                    <a:lstStyle/>
                    <a:p>
                      <a:pPr marL="0" indent="0" algn="ctr">
                        <a:buNone/>
                      </a:pPr>
                      <a:r>
                        <a:rPr lang="en-US" sz="1500" b="1">
                          <a:solidFill>
                            <a:srgbClr val="FFFFFF"/>
                          </a:solidFill>
                          <a:latin typeface="Calibri" pitchFamily="34" charset="0"/>
                          <a:ea typeface="Calibri" pitchFamily="34" charset="-122"/>
                          <a:cs typeface="Calibri" pitchFamily="34" charset="-120"/>
                        </a:rPr>
                        <a:t>Score</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0F2A3D"/>
                    </a:solidFill>
                  </a:tcPr>
                </a:tc>
                <a:tc>
                  <a:txBody>
                    <a:bodyPr/>
                    <a:lstStyle/>
                    <a:p>
                      <a:pPr marL="0" indent="0" algn="ctr">
                        <a:buNone/>
                      </a:pPr>
                      <a:r>
                        <a:rPr lang="en-US" sz="1500" b="1">
                          <a:solidFill>
                            <a:srgbClr val="FFFFFF"/>
                          </a:solidFill>
                          <a:latin typeface="Calibri" pitchFamily="34" charset="0"/>
                          <a:ea typeface="Calibri" pitchFamily="34" charset="-122"/>
                          <a:cs typeface="Calibri" pitchFamily="34" charset="-120"/>
                        </a:rPr>
                        <a:t>Rows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0F2A3D"/>
                    </a:solidFill>
                  </a:tcPr>
                </a:tc>
                <a:extLst>
                  <a:ext uri="{0D108BD9-81ED-4DB2-BD59-A6C34878D82A}">
                    <a16:rowId xmlns:a16="http://schemas.microsoft.com/office/drawing/2014/main" val="10000"/>
                  </a:ext>
                </a:extLst>
              </a:tr>
              <a:tr h="548640">
                <a:tc>
                  <a:txBody>
                    <a:bodyPr/>
                    <a:lstStyle/>
                    <a:p>
                      <a:pPr marL="0" indent="0">
                        <a:buNone/>
                      </a:pPr>
                      <a:r>
                        <a:rPr lang="en-US" sz="1500" b="1">
                          <a:solidFill>
                            <a:srgbClr val="0F2A3D"/>
                          </a:solidFill>
                          <a:latin typeface="Calibri" pitchFamily="34" charset="0"/>
                          <a:ea typeface="Calibri" pitchFamily="34" charset="-122"/>
                          <a:cs typeface="Calibri" pitchFamily="34" charset="-120"/>
                        </a:rPr>
                        <a:t>Mathematicians, actuaries, statisticians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Data Scientist</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0.561</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7,216</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0560">
                <a:tc>
                  <a:txBody>
                    <a:bodyPr/>
                    <a:lstStyle/>
                    <a:p>
                      <a:pPr marL="0" indent="0">
                        <a:buNone/>
                      </a:pPr>
                      <a:r>
                        <a:rPr lang="en-US" sz="1500" b="1">
                          <a:solidFill>
                            <a:srgbClr val="0F2A3D"/>
                          </a:solidFill>
                          <a:latin typeface="Calibri" pitchFamily="34" charset="0"/>
                          <a:ea typeface="Calibri" pitchFamily="34" charset="-122"/>
                          <a:cs typeface="Calibri" pitchFamily="34" charset="-120"/>
                        </a:rPr>
                        <a:t>Software and applications developers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Data Engineer, ML Eng., AI Eng., AI Architect, CV, NLP</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0.527</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12,475</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500" b="1">
                          <a:solidFill>
                            <a:srgbClr val="0F2A3D"/>
                          </a:solidFill>
                          <a:latin typeface="Calibri" pitchFamily="34" charset="0"/>
                          <a:ea typeface="Calibri" pitchFamily="34" charset="-122"/>
                          <a:cs typeface="Calibri" pitchFamily="34" charset="-120"/>
                        </a:rPr>
                        <a:t>ICT service managers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Analytics Manager</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0.440</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495</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500" b="1">
                          <a:solidFill>
                            <a:srgbClr val="0F2A3D"/>
                          </a:solidFill>
                          <a:latin typeface="Calibri" pitchFamily="34" charset="0"/>
                          <a:ea typeface="Calibri" pitchFamily="34" charset="-122"/>
                          <a:cs typeface="Calibri" pitchFamily="34" charset="-120"/>
                        </a:rPr>
                        <a:t>Business services managers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Data Analyst</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0.419</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8,335</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500" b="1">
                          <a:solidFill>
                            <a:srgbClr val="0F2A3D"/>
                          </a:solidFill>
                          <a:latin typeface="Calibri" pitchFamily="34" charset="0"/>
                          <a:ea typeface="Calibri" pitchFamily="34" charset="-122"/>
                          <a:cs typeface="Calibri" pitchFamily="34" charset="-120"/>
                        </a:rPr>
                        <a:t>Physical and earth science professionals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Research Scientist</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0.411</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a:solidFill>
                            <a:srgbClr val="0F2A3D"/>
                          </a:solidFill>
                          <a:latin typeface="Calibri" pitchFamily="34" charset="0"/>
                          <a:ea typeface="Calibri" pitchFamily="34" charset="-122"/>
                          <a:cs typeface="Calibri" pitchFamily="34" charset="-120"/>
                        </a:rPr>
                        <a:t>2,852</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731520" y="5608320"/>
            <a:ext cx="10728960" cy="36576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a:solidFill>
                  <a:srgbClr val="5E666C"/>
                </a:solidFill>
                <a:latin typeface="Calibri" pitchFamily="34" charset="0"/>
                <a:ea typeface="Calibri" pitchFamily="34" charset="-122"/>
                <a:cs typeface="Calibri" pitchFamily="34" charset="-120"/>
              </a:rPr>
              <a:t>Covers 31,373 of 71,913 rows (44%); the other 40,540 rows have no score.</a:t>
            </a:r>
            <a:endParaRPr lang="en-US" sz="1467"/>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365760"/>
            <a:ext cx="10363200" cy="26822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kern="0" spc="267">
                <a:solidFill>
                  <a:srgbClr val="C4561F"/>
                </a:solidFill>
                <a:latin typeface="Calibri" pitchFamily="34" charset="0"/>
                <a:ea typeface="Calibri" pitchFamily="34" charset="-122"/>
                <a:cs typeface="Calibri" pitchFamily="34" charset="-120"/>
              </a:rPr>
              <a:t>PART 1 · PROBLEM &amp; DATA</a:t>
            </a:r>
            <a:endParaRPr lang="en-US" sz="1333"/>
          </a:p>
        </p:txBody>
      </p:sp>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Our Workflow</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We worked through the data science pipeline to answer the research question.</a:t>
            </a:r>
            <a:endParaRPr lang="en-US" sz="1867"/>
          </a:p>
        </p:txBody>
      </p:sp>
      <p:sp>
        <p:nvSpPr>
          <p:cNvPr id="5" name="Text 3"/>
          <p:cNvSpPr txBox="1"/>
          <p:nvPr/>
        </p:nvSpPr>
        <p:spPr>
          <a:xfrm>
            <a:off x="731520" y="2011680"/>
            <a:ext cx="3657600" cy="26822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C4561F"/>
                </a:solidFill>
                <a:latin typeface="Calibri" pitchFamily="34" charset="0"/>
                <a:ea typeface="Calibri" pitchFamily="34" charset="-122"/>
                <a:cs typeface="Calibri" pitchFamily="34" charset="-120"/>
              </a:rPr>
              <a:t>BASELINE STAGE</a:t>
            </a:r>
            <a:endParaRPr lang="en-US" sz="1333"/>
          </a:p>
        </p:txBody>
      </p:sp>
      <p:sp>
        <p:nvSpPr>
          <p:cNvPr id="6" name="Shape 4"/>
          <p:cNvSpPr/>
          <p:nvPr/>
        </p:nvSpPr>
        <p:spPr>
          <a:xfrm>
            <a:off x="731520" y="2377440"/>
            <a:ext cx="1889760" cy="1097280"/>
          </a:xfrm>
          <a:prstGeom prst="roundRect">
            <a:avLst>
              <a:gd name="adj" fmla="val 8889"/>
            </a:avLst>
          </a:prstGeom>
          <a:solidFill>
            <a:srgbClr val="FFFFFF"/>
          </a:solidFill>
          <a:ln w="12700">
            <a:solidFill>
              <a:srgbClr val="CFC9BB"/>
            </a:solidFill>
            <a:prstDash val="solid"/>
          </a:ln>
        </p:spPr>
      </p:sp>
      <p:sp>
        <p:nvSpPr>
          <p:cNvPr id="7" name="Text 5"/>
          <p:cNvSpPr txBox="1"/>
          <p:nvPr/>
        </p:nvSpPr>
        <p:spPr>
          <a:xfrm>
            <a:off x="792480" y="237744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0F2A3D"/>
                </a:solidFill>
                <a:latin typeface="Calibri" pitchFamily="34" charset="0"/>
                <a:ea typeface="Calibri" pitchFamily="34" charset="-122"/>
                <a:cs typeface="Calibri" pitchFamily="34" charset="-120"/>
              </a:rPr>
              <a:t>Raw data</a:t>
            </a:r>
            <a:endParaRPr lang="en-US" sz="1600"/>
          </a:p>
        </p:txBody>
      </p:sp>
      <p:sp>
        <p:nvSpPr>
          <p:cNvPr id="8" name="Text 6"/>
          <p:cNvSpPr txBox="1"/>
          <p:nvPr/>
        </p:nvSpPr>
        <p:spPr>
          <a:xfrm>
            <a:off x="2621280" y="2377440"/>
            <a:ext cx="280416"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E666C"/>
                </a:solidFill>
                <a:latin typeface="Calibri" pitchFamily="34" charset="0"/>
                <a:ea typeface="Calibri" pitchFamily="34" charset="-122"/>
                <a:cs typeface="Calibri" pitchFamily="34" charset="-120"/>
              </a:rPr>
              <a:t>›</a:t>
            </a:r>
            <a:endParaRPr lang="en-US" sz="2400"/>
          </a:p>
        </p:txBody>
      </p:sp>
      <p:sp>
        <p:nvSpPr>
          <p:cNvPr id="9" name="Shape 7"/>
          <p:cNvSpPr/>
          <p:nvPr/>
        </p:nvSpPr>
        <p:spPr>
          <a:xfrm>
            <a:off x="2901696" y="2377440"/>
            <a:ext cx="1889760" cy="1097280"/>
          </a:xfrm>
          <a:prstGeom prst="roundRect">
            <a:avLst>
              <a:gd name="adj" fmla="val 8889"/>
            </a:avLst>
          </a:prstGeom>
          <a:solidFill>
            <a:srgbClr val="FFFFFF"/>
          </a:solidFill>
          <a:ln w="12700">
            <a:solidFill>
              <a:srgbClr val="CFC9BB"/>
            </a:solidFill>
            <a:prstDash val="solid"/>
          </a:ln>
        </p:spPr>
      </p:sp>
      <p:sp>
        <p:nvSpPr>
          <p:cNvPr id="10" name="Text 8"/>
          <p:cNvSpPr txBox="1"/>
          <p:nvPr/>
        </p:nvSpPr>
        <p:spPr>
          <a:xfrm>
            <a:off x="2962656" y="237744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0F2A3D"/>
                </a:solidFill>
                <a:latin typeface="Calibri" pitchFamily="34" charset="0"/>
                <a:ea typeface="Calibri" pitchFamily="34" charset="-122"/>
                <a:cs typeface="Calibri" pitchFamily="34" charset="-120"/>
              </a:rPr>
              <a:t>Data understanding</a:t>
            </a:r>
            <a:endParaRPr lang="en-US" sz="1600"/>
          </a:p>
        </p:txBody>
      </p:sp>
      <p:sp>
        <p:nvSpPr>
          <p:cNvPr id="11" name="Text 9"/>
          <p:cNvSpPr txBox="1"/>
          <p:nvPr/>
        </p:nvSpPr>
        <p:spPr>
          <a:xfrm>
            <a:off x="4791456" y="2377440"/>
            <a:ext cx="280416"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E666C"/>
                </a:solidFill>
                <a:latin typeface="Calibri" pitchFamily="34" charset="0"/>
                <a:ea typeface="Calibri" pitchFamily="34" charset="-122"/>
                <a:cs typeface="Calibri" pitchFamily="34" charset="-120"/>
              </a:rPr>
              <a:t>›</a:t>
            </a:r>
            <a:endParaRPr lang="en-US" sz="2400"/>
          </a:p>
        </p:txBody>
      </p:sp>
      <p:sp>
        <p:nvSpPr>
          <p:cNvPr id="12" name="Shape 10"/>
          <p:cNvSpPr/>
          <p:nvPr/>
        </p:nvSpPr>
        <p:spPr>
          <a:xfrm>
            <a:off x="5071872" y="2377440"/>
            <a:ext cx="1889760" cy="1097280"/>
          </a:xfrm>
          <a:prstGeom prst="roundRect">
            <a:avLst>
              <a:gd name="adj" fmla="val 8889"/>
            </a:avLst>
          </a:prstGeom>
          <a:solidFill>
            <a:srgbClr val="FFFFFF"/>
          </a:solidFill>
          <a:ln w="12700">
            <a:solidFill>
              <a:srgbClr val="CFC9BB"/>
            </a:solidFill>
            <a:prstDash val="solid"/>
          </a:ln>
        </p:spPr>
      </p:sp>
      <p:sp>
        <p:nvSpPr>
          <p:cNvPr id="13" name="Text 11"/>
          <p:cNvSpPr txBox="1"/>
          <p:nvPr/>
        </p:nvSpPr>
        <p:spPr>
          <a:xfrm>
            <a:off x="5132832" y="237744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0F2A3D"/>
                </a:solidFill>
                <a:latin typeface="Calibri" pitchFamily="34" charset="0"/>
                <a:ea typeface="Calibri" pitchFamily="34" charset="-122"/>
                <a:cs typeface="Calibri" pitchFamily="34" charset="-120"/>
              </a:rPr>
              <a:t>Minimum cleaning</a:t>
            </a:r>
            <a:endParaRPr lang="en-US" sz="1600"/>
          </a:p>
        </p:txBody>
      </p:sp>
      <p:sp>
        <p:nvSpPr>
          <p:cNvPr id="14" name="Text 12"/>
          <p:cNvSpPr txBox="1"/>
          <p:nvPr/>
        </p:nvSpPr>
        <p:spPr>
          <a:xfrm>
            <a:off x="6961632" y="2377440"/>
            <a:ext cx="280416"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E666C"/>
                </a:solidFill>
                <a:latin typeface="Calibri" pitchFamily="34" charset="0"/>
                <a:ea typeface="Calibri" pitchFamily="34" charset="-122"/>
                <a:cs typeface="Calibri" pitchFamily="34" charset="-120"/>
              </a:rPr>
              <a:t>›</a:t>
            </a:r>
            <a:endParaRPr lang="en-US" sz="2400"/>
          </a:p>
        </p:txBody>
      </p:sp>
      <p:sp>
        <p:nvSpPr>
          <p:cNvPr id="15" name="Shape 13"/>
          <p:cNvSpPr/>
          <p:nvPr/>
        </p:nvSpPr>
        <p:spPr>
          <a:xfrm>
            <a:off x="7242048" y="2377440"/>
            <a:ext cx="1889760" cy="1097280"/>
          </a:xfrm>
          <a:prstGeom prst="roundRect">
            <a:avLst>
              <a:gd name="adj" fmla="val 8889"/>
            </a:avLst>
          </a:prstGeom>
          <a:solidFill>
            <a:srgbClr val="FFFFFF"/>
          </a:solidFill>
          <a:ln w="12700">
            <a:solidFill>
              <a:srgbClr val="CFC9BB"/>
            </a:solidFill>
            <a:prstDash val="solid"/>
          </a:ln>
        </p:spPr>
      </p:sp>
      <p:sp>
        <p:nvSpPr>
          <p:cNvPr id="16" name="Text 14"/>
          <p:cNvSpPr txBox="1"/>
          <p:nvPr/>
        </p:nvSpPr>
        <p:spPr>
          <a:xfrm>
            <a:off x="7303008" y="237744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0F2A3D"/>
                </a:solidFill>
                <a:latin typeface="Calibri" pitchFamily="34" charset="0"/>
                <a:ea typeface="Calibri" pitchFamily="34" charset="-122"/>
                <a:cs typeface="Calibri" pitchFamily="34" charset="-120"/>
              </a:rPr>
              <a:t>Train / test split</a:t>
            </a:r>
            <a:endParaRPr lang="en-US" sz="1600"/>
          </a:p>
        </p:txBody>
      </p:sp>
      <p:sp>
        <p:nvSpPr>
          <p:cNvPr id="17" name="Text 15"/>
          <p:cNvSpPr txBox="1"/>
          <p:nvPr/>
        </p:nvSpPr>
        <p:spPr>
          <a:xfrm>
            <a:off x="9131808" y="2377440"/>
            <a:ext cx="280416"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E666C"/>
                </a:solidFill>
                <a:latin typeface="Calibri" pitchFamily="34" charset="0"/>
                <a:ea typeface="Calibri" pitchFamily="34" charset="-122"/>
                <a:cs typeface="Calibri" pitchFamily="34" charset="-120"/>
              </a:rPr>
              <a:t>›</a:t>
            </a:r>
            <a:endParaRPr lang="en-US" sz="2400"/>
          </a:p>
        </p:txBody>
      </p:sp>
      <p:sp>
        <p:nvSpPr>
          <p:cNvPr id="18" name="Shape 16"/>
          <p:cNvSpPr/>
          <p:nvPr/>
        </p:nvSpPr>
        <p:spPr>
          <a:xfrm>
            <a:off x="9412224" y="2377440"/>
            <a:ext cx="1889760" cy="1097280"/>
          </a:xfrm>
          <a:prstGeom prst="roundRect">
            <a:avLst>
              <a:gd name="adj" fmla="val 8889"/>
            </a:avLst>
          </a:prstGeom>
          <a:solidFill>
            <a:srgbClr val="E4733B"/>
          </a:solidFill>
          <a:ln w="12700">
            <a:solidFill>
              <a:srgbClr val="E4733B"/>
            </a:solidFill>
            <a:prstDash val="solid"/>
          </a:ln>
        </p:spPr>
      </p:sp>
      <p:sp>
        <p:nvSpPr>
          <p:cNvPr id="19" name="Text 17"/>
          <p:cNvSpPr txBox="1"/>
          <p:nvPr/>
        </p:nvSpPr>
        <p:spPr>
          <a:xfrm>
            <a:off x="9473184" y="237744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FFFFFF"/>
                </a:solidFill>
                <a:latin typeface="Calibri" pitchFamily="34" charset="0"/>
                <a:ea typeface="Calibri" pitchFamily="34" charset="-122"/>
                <a:cs typeface="Calibri" pitchFamily="34" charset="-120"/>
              </a:rPr>
              <a:t>Baseline model</a:t>
            </a:r>
            <a:endParaRPr lang="en-US" sz="1600"/>
          </a:p>
        </p:txBody>
      </p:sp>
      <p:sp>
        <p:nvSpPr>
          <p:cNvPr id="20" name="Text 18"/>
          <p:cNvSpPr txBox="1"/>
          <p:nvPr/>
        </p:nvSpPr>
        <p:spPr>
          <a:xfrm>
            <a:off x="731520" y="3901440"/>
            <a:ext cx="3657600" cy="26822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C4561F"/>
                </a:solidFill>
                <a:latin typeface="Calibri" pitchFamily="34" charset="0"/>
                <a:ea typeface="Calibri" pitchFamily="34" charset="-122"/>
                <a:cs typeface="Calibri" pitchFamily="34" charset="-120"/>
              </a:rPr>
              <a:t>MODELING STAGE</a:t>
            </a:r>
            <a:endParaRPr lang="en-US" sz="1333"/>
          </a:p>
        </p:txBody>
      </p:sp>
      <p:sp>
        <p:nvSpPr>
          <p:cNvPr id="21" name="Shape 19"/>
          <p:cNvSpPr/>
          <p:nvPr/>
        </p:nvSpPr>
        <p:spPr>
          <a:xfrm>
            <a:off x="731520" y="4267200"/>
            <a:ext cx="1889760" cy="1097280"/>
          </a:xfrm>
          <a:prstGeom prst="roundRect">
            <a:avLst>
              <a:gd name="adj" fmla="val 8889"/>
            </a:avLst>
          </a:prstGeom>
          <a:solidFill>
            <a:srgbClr val="FFFFFF"/>
          </a:solidFill>
          <a:ln w="12700">
            <a:solidFill>
              <a:srgbClr val="CFC9BB"/>
            </a:solidFill>
            <a:prstDash val="solid"/>
          </a:ln>
        </p:spPr>
      </p:sp>
      <p:sp>
        <p:nvSpPr>
          <p:cNvPr id="22" name="Text 20"/>
          <p:cNvSpPr txBox="1"/>
          <p:nvPr/>
        </p:nvSpPr>
        <p:spPr>
          <a:xfrm>
            <a:off x="792480" y="426720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0F2A3D"/>
                </a:solidFill>
                <a:latin typeface="Calibri" pitchFamily="34" charset="0"/>
                <a:ea typeface="Calibri" pitchFamily="34" charset="-122"/>
                <a:cs typeface="Calibri" pitchFamily="34" charset="-120"/>
              </a:rPr>
              <a:t>Additional preprocessing </a:t>
            </a:r>
          </a:p>
          <a:p>
            <a:pPr marL="0" indent="0" algn="ctr">
              <a:buNone/>
            </a:pPr>
            <a:r>
              <a:rPr lang="en-US" sz="1600" b="1">
                <a:solidFill>
                  <a:srgbClr val="0F2A3D"/>
                </a:solidFill>
                <a:latin typeface="Calibri" pitchFamily="34" charset="0"/>
                <a:ea typeface="Calibri" pitchFamily="34" charset="-122"/>
                <a:cs typeface="Calibri" pitchFamily="34" charset="-120"/>
              </a:rPr>
              <a:t>+ ILO score</a:t>
            </a:r>
            <a:endParaRPr lang="en-US" sz="1600"/>
          </a:p>
        </p:txBody>
      </p:sp>
      <p:sp>
        <p:nvSpPr>
          <p:cNvPr id="23" name="Text 21"/>
          <p:cNvSpPr txBox="1"/>
          <p:nvPr/>
        </p:nvSpPr>
        <p:spPr>
          <a:xfrm>
            <a:off x="2621280" y="4267200"/>
            <a:ext cx="280416"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E666C"/>
                </a:solidFill>
                <a:latin typeface="Calibri" pitchFamily="34" charset="0"/>
                <a:ea typeface="Calibri" pitchFamily="34" charset="-122"/>
                <a:cs typeface="Calibri" pitchFamily="34" charset="-120"/>
              </a:rPr>
              <a:t>›</a:t>
            </a:r>
            <a:endParaRPr lang="en-US" sz="2400"/>
          </a:p>
        </p:txBody>
      </p:sp>
      <p:sp>
        <p:nvSpPr>
          <p:cNvPr id="24" name="Shape 22"/>
          <p:cNvSpPr/>
          <p:nvPr/>
        </p:nvSpPr>
        <p:spPr>
          <a:xfrm>
            <a:off x="2901696" y="4267200"/>
            <a:ext cx="1889760" cy="1097280"/>
          </a:xfrm>
          <a:prstGeom prst="roundRect">
            <a:avLst>
              <a:gd name="adj" fmla="val 8889"/>
            </a:avLst>
          </a:prstGeom>
          <a:solidFill>
            <a:srgbClr val="FFFFFF"/>
          </a:solidFill>
          <a:ln w="12700">
            <a:solidFill>
              <a:srgbClr val="CFC9BB"/>
            </a:solidFill>
            <a:prstDash val="solid"/>
          </a:ln>
        </p:spPr>
      </p:sp>
      <p:sp>
        <p:nvSpPr>
          <p:cNvPr id="25" name="Text 23"/>
          <p:cNvSpPr txBox="1"/>
          <p:nvPr/>
        </p:nvSpPr>
        <p:spPr>
          <a:xfrm>
            <a:off x="2962656" y="426720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0F2A3D"/>
                </a:solidFill>
                <a:latin typeface="Calibri" pitchFamily="34" charset="0"/>
                <a:ea typeface="Calibri" pitchFamily="34" charset="-122"/>
                <a:cs typeface="Calibri" pitchFamily="34" charset="-120"/>
              </a:rPr>
              <a:t>Model selection </a:t>
            </a:r>
          </a:p>
          <a:p>
            <a:pPr marL="0" indent="0" algn="ctr">
              <a:buNone/>
            </a:pPr>
            <a:r>
              <a:rPr lang="en-US" sz="1600" b="1">
                <a:solidFill>
                  <a:srgbClr val="0F2A3D"/>
                </a:solidFill>
                <a:latin typeface="Calibri" pitchFamily="34" charset="0"/>
                <a:ea typeface="Calibri" pitchFamily="34" charset="-122"/>
                <a:cs typeface="Calibri" pitchFamily="34" charset="-120"/>
              </a:rPr>
              <a:t>(RF, GB)</a:t>
            </a:r>
            <a:endParaRPr lang="en-US" sz="1600"/>
          </a:p>
        </p:txBody>
      </p:sp>
      <p:sp>
        <p:nvSpPr>
          <p:cNvPr id="26" name="Text 24"/>
          <p:cNvSpPr txBox="1"/>
          <p:nvPr/>
        </p:nvSpPr>
        <p:spPr>
          <a:xfrm>
            <a:off x="4791456" y="4267200"/>
            <a:ext cx="280416"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E666C"/>
                </a:solidFill>
                <a:latin typeface="Calibri" pitchFamily="34" charset="0"/>
                <a:ea typeface="Calibri" pitchFamily="34" charset="-122"/>
                <a:cs typeface="Calibri" pitchFamily="34" charset="-120"/>
              </a:rPr>
              <a:t>›</a:t>
            </a:r>
            <a:endParaRPr lang="en-US" sz="2400"/>
          </a:p>
        </p:txBody>
      </p:sp>
      <p:sp>
        <p:nvSpPr>
          <p:cNvPr id="27" name="Shape 25"/>
          <p:cNvSpPr/>
          <p:nvPr/>
        </p:nvSpPr>
        <p:spPr>
          <a:xfrm>
            <a:off x="5071872" y="4267200"/>
            <a:ext cx="1889760" cy="1097280"/>
          </a:xfrm>
          <a:prstGeom prst="roundRect">
            <a:avLst>
              <a:gd name="adj" fmla="val 8889"/>
            </a:avLst>
          </a:prstGeom>
          <a:solidFill>
            <a:srgbClr val="FFFFFF"/>
          </a:solidFill>
          <a:ln w="12700">
            <a:solidFill>
              <a:srgbClr val="CFC9BB"/>
            </a:solidFill>
            <a:prstDash val="solid"/>
          </a:ln>
        </p:spPr>
      </p:sp>
      <p:sp>
        <p:nvSpPr>
          <p:cNvPr id="28" name="Text 26"/>
          <p:cNvSpPr txBox="1"/>
          <p:nvPr/>
        </p:nvSpPr>
        <p:spPr>
          <a:xfrm>
            <a:off x="5132832" y="426720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0F2A3D"/>
                </a:solidFill>
                <a:latin typeface="Calibri" pitchFamily="34" charset="0"/>
                <a:ea typeface="Calibri" pitchFamily="34" charset="-122"/>
                <a:cs typeface="Calibri" pitchFamily="34" charset="-120"/>
              </a:rPr>
              <a:t>Evaluation </a:t>
            </a:r>
          </a:p>
          <a:p>
            <a:pPr marL="0" indent="0" algn="ctr">
              <a:buNone/>
            </a:pPr>
            <a:r>
              <a:rPr lang="en-US" sz="1600" b="1">
                <a:solidFill>
                  <a:srgbClr val="0F2A3D"/>
                </a:solidFill>
                <a:latin typeface="Calibri" pitchFamily="34" charset="0"/>
                <a:ea typeface="Calibri" pitchFamily="34" charset="-122"/>
                <a:cs typeface="Calibri" pitchFamily="34" charset="-120"/>
              </a:rPr>
              <a:t>(same metrics)</a:t>
            </a:r>
            <a:endParaRPr lang="en-US" sz="1600"/>
          </a:p>
        </p:txBody>
      </p:sp>
      <p:sp>
        <p:nvSpPr>
          <p:cNvPr id="29" name="Text 27"/>
          <p:cNvSpPr txBox="1"/>
          <p:nvPr/>
        </p:nvSpPr>
        <p:spPr>
          <a:xfrm>
            <a:off x="6961632" y="4267200"/>
            <a:ext cx="280416"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E666C"/>
                </a:solidFill>
                <a:latin typeface="Calibri" pitchFamily="34" charset="0"/>
                <a:ea typeface="Calibri" pitchFamily="34" charset="-122"/>
                <a:cs typeface="Calibri" pitchFamily="34" charset="-120"/>
              </a:rPr>
              <a:t>›</a:t>
            </a:r>
            <a:endParaRPr lang="en-US" sz="2400"/>
          </a:p>
        </p:txBody>
      </p:sp>
      <p:sp>
        <p:nvSpPr>
          <p:cNvPr id="30" name="Shape 28"/>
          <p:cNvSpPr/>
          <p:nvPr/>
        </p:nvSpPr>
        <p:spPr>
          <a:xfrm>
            <a:off x="7242048" y="4267200"/>
            <a:ext cx="1889760" cy="1097280"/>
          </a:xfrm>
          <a:prstGeom prst="roundRect">
            <a:avLst>
              <a:gd name="adj" fmla="val 8889"/>
            </a:avLst>
          </a:prstGeom>
          <a:solidFill>
            <a:srgbClr val="F6F4EE"/>
          </a:solidFill>
          <a:ln w="12700">
            <a:solidFill>
              <a:srgbClr val="9AA0A5"/>
            </a:solidFill>
            <a:prstDash val="dash"/>
          </a:ln>
        </p:spPr>
      </p:sp>
      <p:sp>
        <p:nvSpPr>
          <p:cNvPr id="31" name="Text 29"/>
          <p:cNvSpPr txBox="1"/>
          <p:nvPr/>
        </p:nvSpPr>
        <p:spPr>
          <a:xfrm>
            <a:off x="7303008" y="426720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a:solidFill>
                  <a:srgbClr val="5E666C"/>
                </a:solidFill>
                <a:latin typeface="Calibri" pitchFamily="34" charset="0"/>
                <a:ea typeface="Calibri" pitchFamily="34" charset="-122"/>
                <a:cs typeface="Calibri" pitchFamily="34" charset="-120"/>
              </a:rPr>
              <a:t>Hyperparameter tuning </a:t>
            </a:r>
          </a:p>
          <a:p>
            <a:pPr marL="0" indent="0" algn="ctr">
              <a:buNone/>
            </a:pPr>
            <a:r>
              <a:rPr lang="en-US" sz="1600">
                <a:solidFill>
                  <a:srgbClr val="5E666C"/>
                </a:solidFill>
                <a:latin typeface="Calibri" pitchFamily="34" charset="0"/>
                <a:ea typeface="Calibri" pitchFamily="34" charset="-122"/>
                <a:cs typeface="Calibri" pitchFamily="34" charset="-120"/>
              </a:rPr>
              <a:t>(future work)</a:t>
            </a:r>
            <a:endParaRPr lang="en-US" sz="1600"/>
          </a:p>
        </p:txBody>
      </p:sp>
      <p:sp>
        <p:nvSpPr>
          <p:cNvPr id="32" name="Text 30"/>
          <p:cNvSpPr txBox="1"/>
          <p:nvPr/>
        </p:nvSpPr>
        <p:spPr>
          <a:xfrm>
            <a:off x="9131808" y="4267200"/>
            <a:ext cx="280416"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a:solidFill>
                  <a:srgbClr val="5E666C"/>
                </a:solidFill>
                <a:latin typeface="Calibri" pitchFamily="34" charset="0"/>
                <a:ea typeface="Calibri" pitchFamily="34" charset="-122"/>
                <a:cs typeface="Calibri" pitchFamily="34" charset="-120"/>
              </a:rPr>
              <a:t>›</a:t>
            </a:r>
            <a:endParaRPr lang="en-US" sz="2400"/>
          </a:p>
        </p:txBody>
      </p:sp>
      <p:sp>
        <p:nvSpPr>
          <p:cNvPr id="33" name="Shape 31"/>
          <p:cNvSpPr/>
          <p:nvPr/>
        </p:nvSpPr>
        <p:spPr>
          <a:xfrm>
            <a:off x="9412224" y="4267200"/>
            <a:ext cx="1889760" cy="1097280"/>
          </a:xfrm>
          <a:prstGeom prst="roundRect">
            <a:avLst>
              <a:gd name="adj" fmla="val 8889"/>
            </a:avLst>
          </a:prstGeom>
          <a:solidFill>
            <a:srgbClr val="0F2A3D"/>
          </a:solidFill>
          <a:ln w="12700">
            <a:solidFill>
              <a:srgbClr val="0F2A3D"/>
            </a:solidFill>
            <a:prstDash val="solid"/>
          </a:ln>
        </p:spPr>
      </p:sp>
      <p:sp>
        <p:nvSpPr>
          <p:cNvPr id="34" name="Text 32"/>
          <p:cNvSpPr txBox="1"/>
          <p:nvPr/>
        </p:nvSpPr>
        <p:spPr>
          <a:xfrm>
            <a:off x="9473184" y="4267200"/>
            <a:ext cx="1767840" cy="10972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a:solidFill>
                  <a:srgbClr val="FFFFFF"/>
                </a:solidFill>
                <a:latin typeface="Calibri" pitchFamily="34" charset="0"/>
                <a:ea typeface="Calibri" pitchFamily="34" charset="-122"/>
                <a:cs typeface="Calibri" pitchFamily="34" charset="-120"/>
              </a:rPr>
              <a:t>Final model: </a:t>
            </a:r>
          </a:p>
          <a:p>
            <a:pPr marL="0" indent="0" algn="ctr">
              <a:buNone/>
            </a:pPr>
            <a:r>
              <a:rPr lang="en-US" sz="1600" b="1">
                <a:solidFill>
                  <a:srgbClr val="FFFFFF"/>
                </a:solidFill>
                <a:latin typeface="Calibri" pitchFamily="34" charset="0"/>
                <a:ea typeface="Calibri" pitchFamily="34" charset="-122"/>
                <a:cs typeface="Calibri" pitchFamily="34" charset="-120"/>
              </a:rPr>
              <a:t>Logistic Regression</a:t>
            </a:r>
            <a:endParaRPr lang="en-US" sz="1600"/>
          </a:p>
        </p:txBody>
      </p:sp>
      <p:sp>
        <p:nvSpPr>
          <p:cNvPr id="35" name="Text 33"/>
          <p:cNvSpPr txBox="1"/>
          <p:nvPr/>
        </p:nvSpPr>
        <p:spPr>
          <a:xfrm>
            <a:off x="731520" y="5730240"/>
            <a:ext cx="9753600" cy="3048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a:solidFill>
                  <a:srgbClr val="5E666C"/>
                </a:solidFill>
                <a:latin typeface="Calibri" pitchFamily="34" charset="0"/>
                <a:ea typeface="Calibri" pitchFamily="34" charset="-122"/>
                <a:cs typeface="Calibri" pitchFamily="34" charset="-120"/>
              </a:rPr>
              <a:t>Solid boxes were completed in this project; the dashed box was not done.</a:t>
            </a:r>
            <a:endParaRPr lang="en-US" sz="1333"/>
          </a:p>
        </p:txBody>
      </p:sp>
    </p:spTree>
    <p:extLst>
      <p:ext uri="{BB962C8B-B14F-4D97-AF65-F5344CB8AC3E}">
        <p14:creationId xmlns:p14="http://schemas.microsoft.com/office/powerpoint/2010/main" val="2903262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Dataset and Data Understanding</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One row per salary record; the target is salary in USD</a:t>
            </a:r>
            <a:endParaRPr lang="en-US" sz="1867"/>
          </a:p>
        </p:txBody>
      </p:sp>
      <p:sp>
        <p:nvSpPr>
          <p:cNvPr id="5" name="Text 3"/>
          <p:cNvSpPr txBox="1"/>
          <p:nvPr/>
        </p:nvSpPr>
        <p:spPr>
          <a:xfrm>
            <a:off x="731520" y="1950720"/>
            <a:ext cx="256032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C4561F"/>
                </a:solidFill>
                <a:latin typeface="Cambria" pitchFamily="34" charset="0"/>
                <a:ea typeface="Cambria" pitchFamily="34" charset="-122"/>
                <a:cs typeface="Cambria" pitchFamily="34" charset="-120"/>
              </a:rPr>
              <a:t>71,913</a:t>
            </a:r>
            <a:endParaRPr lang="en-US" sz="3733"/>
          </a:p>
        </p:txBody>
      </p:sp>
      <p:sp>
        <p:nvSpPr>
          <p:cNvPr id="6" name="Text 4"/>
          <p:cNvSpPr txBox="1"/>
          <p:nvPr/>
        </p:nvSpPr>
        <p:spPr>
          <a:xfrm>
            <a:off x="731520" y="2657856"/>
            <a:ext cx="256032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a:solidFill>
                  <a:srgbClr val="5E666C"/>
                </a:solidFill>
                <a:latin typeface="Calibri" pitchFamily="34" charset="0"/>
                <a:ea typeface="Calibri" pitchFamily="34" charset="-122"/>
                <a:cs typeface="Calibri" pitchFamily="34" charset="-120"/>
              </a:rPr>
              <a:t>rows</a:t>
            </a:r>
            <a:endParaRPr lang="en-US" sz="1467"/>
          </a:p>
        </p:txBody>
      </p:sp>
      <p:sp>
        <p:nvSpPr>
          <p:cNvPr id="7" name="Text 5"/>
          <p:cNvSpPr txBox="1"/>
          <p:nvPr/>
        </p:nvSpPr>
        <p:spPr>
          <a:xfrm>
            <a:off x="3413760" y="1950720"/>
            <a:ext cx="256032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C4561F"/>
                </a:solidFill>
                <a:latin typeface="Cambria" pitchFamily="34" charset="0"/>
                <a:ea typeface="Cambria" pitchFamily="34" charset="-122"/>
                <a:cs typeface="Cambria" pitchFamily="34" charset="-120"/>
              </a:rPr>
              <a:t>17</a:t>
            </a:r>
            <a:endParaRPr lang="en-US" sz="3733"/>
          </a:p>
        </p:txBody>
      </p:sp>
      <p:sp>
        <p:nvSpPr>
          <p:cNvPr id="8" name="Text 6"/>
          <p:cNvSpPr txBox="1"/>
          <p:nvPr/>
        </p:nvSpPr>
        <p:spPr>
          <a:xfrm>
            <a:off x="3413760" y="2657856"/>
            <a:ext cx="256032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a:solidFill>
                  <a:srgbClr val="5E666C"/>
                </a:solidFill>
                <a:latin typeface="Calibri" pitchFamily="34" charset="0"/>
                <a:ea typeface="Calibri" pitchFamily="34" charset="-122"/>
                <a:cs typeface="Calibri" pitchFamily="34" charset="-120"/>
              </a:rPr>
              <a:t>columns</a:t>
            </a:r>
            <a:endParaRPr lang="en-US" sz="1467"/>
          </a:p>
        </p:txBody>
      </p:sp>
      <p:sp>
        <p:nvSpPr>
          <p:cNvPr id="9" name="Text 7"/>
          <p:cNvSpPr txBox="1"/>
          <p:nvPr/>
        </p:nvSpPr>
        <p:spPr>
          <a:xfrm>
            <a:off x="6096000" y="1950720"/>
            <a:ext cx="256032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C4561F"/>
                </a:solidFill>
                <a:latin typeface="Cambria" pitchFamily="34" charset="0"/>
                <a:ea typeface="Cambria" pitchFamily="34" charset="-122"/>
                <a:cs typeface="Cambria" pitchFamily="34" charset="-120"/>
              </a:rPr>
              <a:t>2020–2025</a:t>
            </a:r>
            <a:endParaRPr lang="en-US" sz="3733"/>
          </a:p>
        </p:txBody>
      </p:sp>
      <p:sp>
        <p:nvSpPr>
          <p:cNvPr id="10" name="Text 8"/>
          <p:cNvSpPr txBox="1"/>
          <p:nvPr/>
        </p:nvSpPr>
        <p:spPr>
          <a:xfrm>
            <a:off x="6096000" y="2657856"/>
            <a:ext cx="256032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a:solidFill>
                  <a:srgbClr val="5E666C"/>
                </a:solidFill>
                <a:latin typeface="Calibri" pitchFamily="34" charset="0"/>
                <a:ea typeface="Calibri" pitchFamily="34" charset="-122"/>
                <a:cs typeface="Calibri" pitchFamily="34" charset="-120"/>
              </a:rPr>
              <a:t>years covered</a:t>
            </a:r>
            <a:endParaRPr lang="en-US" sz="1467"/>
          </a:p>
        </p:txBody>
      </p:sp>
      <p:sp>
        <p:nvSpPr>
          <p:cNvPr id="11" name="Text 9"/>
          <p:cNvSpPr txBox="1"/>
          <p:nvPr/>
        </p:nvSpPr>
        <p:spPr>
          <a:xfrm>
            <a:off x="8778240" y="1950720"/>
            <a:ext cx="256032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267" b="1">
                <a:solidFill>
                  <a:srgbClr val="0F2A3D"/>
                </a:solidFill>
                <a:latin typeface="Cambria" pitchFamily="34" charset="0"/>
                <a:ea typeface="Cambria" pitchFamily="34" charset="-122"/>
                <a:cs typeface="Cambria" pitchFamily="34" charset="-120"/>
              </a:rPr>
              <a:t>salary_in_usd</a:t>
            </a:r>
            <a:endParaRPr lang="en-US" sz="2267"/>
          </a:p>
        </p:txBody>
      </p:sp>
      <p:sp>
        <p:nvSpPr>
          <p:cNvPr id="12" name="Text 10"/>
          <p:cNvSpPr txBox="1"/>
          <p:nvPr/>
        </p:nvSpPr>
        <p:spPr>
          <a:xfrm>
            <a:off x="8778240" y="2657856"/>
            <a:ext cx="256032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a:solidFill>
                  <a:srgbClr val="5E666C"/>
                </a:solidFill>
                <a:latin typeface="Calibri" pitchFamily="34" charset="0"/>
                <a:ea typeface="Calibri" pitchFamily="34" charset="-122"/>
                <a:cs typeface="Calibri" pitchFamily="34" charset="-120"/>
              </a:rPr>
              <a:t>target variable</a:t>
            </a:r>
            <a:endParaRPr lang="en-US" sz="1467"/>
          </a:p>
        </p:txBody>
      </p:sp>
      <p:sp>
        <p:nvSpPr>
          <p:cNvPr id="13" name="Shape 11"/>
          <p:cNvSpPr/>
          <p:nvPr/>
        </p:nvSpPr>
        <p:spPr>
          <a:xfrm>
            <a:off x="731520" y="3474720"/>
            <a:ext cx="2499360" cy="2133600"/>
          </a:xfrm>
          <a:prstGeom prst="roundRect">
            <a:avLst>
              <a:gd name="adj" fmla="val 4571"/>
            </a:avLst>
          </a:prstGeom>
          <a:solidFill>
            <a:srgbClr val="FFFFFF"/>
          </a:solidFill>
          <a:ln w="9525">
            <a:solidFill>
              <a:srgbClr val="E8E4DA"/>
            </a:solidFill>
            <a:prstDash val="solid"/>
          </a:ln>
        </p:spPr>
      </p:sp>
      <p:sp>
        <p:nvSpPr>
          <p:cNvPr id="14" name="Text 12"/>
          <p:cNvSpPr txBox="1"/>
          <p:nvPr/>
        </p:nvSpPr>
        <p:spPr>
          <a:xfrm>
            <a:off x="914400" y="3596640"/>
            <a:ext cx="2194560" cy="36576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C4561F"/>
                </a:solidFill>
                <a:latin typeface="Cambria" pitchFamily="34" charset="0"/>
                <a:ea typeface="Cambria" pitchFamily="34" charset="-122"/>
                <a:cs typeface="Cambria" pitchFamily="34" charset="-120"/>
              </a:rPr>
              <a:t>Numeric</a:t>
            </a:r>
            <a:endParaRPr lang="en-US" sz="1733"/>
          </a:p>
        </p:txBody>
      </p:sp>
      <p:sp>
        <p:nvSpPr>
          <p:cNvPr id="15" name="Text 13"/>
          <p:cNvSpPr txBox="1"/>
          <p:nvPr/>
        </p:nvSpPr>
        <p:spPr>
          <a:xfrm>
            <a:off x="914400" y="4023360"/>
            <a:ext cx="2170176" cy="15240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err="1">
                <a:solidFill>
                  <a:srgbClr val="0F2A3D"/>
                </a:solidFill>
                <a:latin typeface="Calibri"/>
                <a:ea typeface="Calibri"/>
                <a:cs typeface="Calibri"/>
              </a:rPr>
              <a:t>work_year</a:t>
            </a:r>
            <a:r>
              <a:rPr lang="en-US" sz="1400">
                <a:solidFill>
                  <a:srgbClr val="0F2A3D"/>
                </a:solidFill>
                <a:latin typeface="Calibri"/>
                <a:ea typeface="Calibri"/>
                <a:cs typeface="Calibri"/>
              </a:rPr>
              <a:t>, </a:t>
            </a:r>
            <a:r>
              <a:rPr lang="en-US" sz="1400" err="1">
                <a:solidFill>
                  <a:srgbClr val="0F2A3D"/>
                </a:solidFill>
                <a:latin typeface="Calibri"/>
                <a:ea typeface="Calibri"/>
                <a:cs typeface="Calibri"/>
              </a:rPr>
              <a:t>remote_ratio</a:t>
            </a:r>
            <a:r>
              <a:rPr lang="en-US" sz="1400">
                <a:solidFill>
                  <a:srgbClr val="0F2A3D"/>
                </a:solidFill>
                <a:latin typeface="Calibri"/>
                <a:ea typeface="Calibri"/>
                <a:cs typeface="Calibri"/>
              </a:rPr>
              <a:t>, </a:t>
            </a:r>
            <a:r>
              <a:rPr lang="en-US" sz="1400" err="1">
                <a:solidFill>
                  <a:srgbClr val="0F2A3D"/>
                </a:solidFill>
                <a:latin typeface="Calibri"/>
                <a:ea typeface="Calibri"/>
                <a:cs typeface="Calibri"/>
              </a:rPr>
              <a:t>salary_in_usd</a:t>
            </a:r>
            <a:r>
              <a:rPr lang="en-US" sz="1400">
                <a:solidFill>
                  <a:srgbClr val="0F2A3D"/>
                </a:solidFill>
                <a:latin typeface="Calibri"/>
                <a:ea typeface="Calibri"/>
                <a:cs typeface="Calibri"/>
              </a:rPr>
              <a:t> </a:t>
            </a:r>
            <a:endParaRPr lang="en-US" sz="1400">
              <a:latin typeface="Calibri"/>
              <a:ea typeface="Calibri"/>
              <a:cs typeface="Calibri"/>
            </a:endParaRPr>
          </a:p>
        </p:txBody>
      </p:sp>
      <p:sp>
        <p:nvSpPr>
          <p:cNvPr id="16" name="Shape 14"/>
          <p:cNvSpPr/>
          <p:nvPr/>
        </p:nvSpPr>
        <p:spPr>
          <a:xfrm>
            <a:off x="3413760" y="3474720"/>
            <a:ext cx="2499360" cy="2133600"/>
          </a:xfrm>
          <a:prstGeom prst="roundRect">
            <a:avLst>
              <a:gd name="adj" fmla="val 4571"/>
            </a:avLst>
          </a:prstGeom>
          <a:solidFill>
            <a:srgbClr val="FFFFFF"/>
          </a:solidFill>
          <a:ln w="9525">
            <a:solidFill>
              <a:srgbClr val="E8E4DA"/>
            </a:solidFill>
            <a:prstDash val="solid"/>
          </a:ln>
        </p:spPr>
      </p:sp>
      <p:sp>
        <p:nvSpPr>
          <p:cNvPr id="17" name="Text 15"/>
          <p:cNvSpPr txBox="1"/>
          <p:nvPr/>
        </p:nvSpPr>
        <p:spPr>
          <a:xfrm>
            <a:off x="3596640" y="3596640"/>
            <a:ext cx="2194560" cy="36576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C4561F"/>
                </a:solidFill>
                <a:latin typeface="Cambria" pitchFamily="34" charset="0"/>
                <a:ea typeface="Cambria" pitchFamily="34" charset="-122"/>
                <a:cs typeface="Cambria" pitchFamily="34" charset="-120"/>
              </a:rPr>
              <a:t>Categorical</a:t>
            </a:r>
            <a:endParaRPr lang="en-US" sz="1733"/>
          </a:p>
        </p:txBody>
      </p:sp>
      <p:sp>
        <p:nvSpPr>
          <p:cNvPr id="18" name="Text 16"/>
          <p:cNvSpPr txBox="1"/>
          <p:nvPr/>
        </p:nvSpPr>
        <p:spPr>
          <a:xfrm>
            <a:off x="3596640" y="4023360"/>
            <a:ext cx="2170176" cy="15240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0F2A3D"/>
                </a:solidFill>
                <a:latin typeface="Calibri" pitchFamily="34" charset="0"/>
                <a:ea typeface="Calibri" pitchFamily="34" charset="-122"/>
                <a:cs typeface="Calibri" pitchFamily="34" charset="-120"/>
              </a:rPr>
              <a:t>experience_level, employment_type, employee_residence, company_location, company_size, role_family</a:t>
            </a:r>
            <a:endParaRPr lang="en-US" sz="1400"/>
          </a:p>
        </p:txBody>
      </p:sp>
      <p:sp>
        <p:nvSpPr>
          <p:cNvPr id="19" name="Shape 17"/>
          <p:cNvSpPr/>
          <p:nvPr/>
        </p:nvSpPr>
        <p:spPr>
          <a:xfrm>
            <a:off x="6096000" y="3474720"/>
            <a:ext cx="2499360" cy="2133600"/>
          </a:xfrm>
          <a:prstGeom prst="roundRect">
            <a:avLst>
              <a:gd name="adj" fmla="val 4571"/>
            </a:avLst>
          </a:prstGeom>
          <a:solidFill>
            <a:srgbClr val="FFFFFF"/>
          </a:solidFill>
          <a:ln w="9525">
            <a:solidFill>
              <a:srgbClr val="E8E4DA"/>
            </a:solidFill>
            <a:prstDash val="solid"/>
          </a:ln>
        </p:spPr>
      </p:sp>
      <p:sp>
        <p:nvSpPr>
          <p:cNvPr id="20" name="Text 18"/>
          <p:cNvSpPr txBox="1"/>
          <p:nvPr/>
        </p:nvSpPr>
        <p:spPr>
          <a:xfrm>
            <a:off x="6278880" y="3596640"/>
            <a:ext cx="2194560" cy="36576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C4561F"/>
                </a:solidFill>
                <a:latin typeface="Cambria" pitchFamily="34" charset="0"/>
                <a:ea typeface="Cambria" pitchFamily="34" charset="-122"/>
                <a:cs typeface="Cambria" pitchFamily="34" charset="-120"/>
              </a:rPr>
              <a:t>Free text</a:t>
            </a:r>
            <a:endParaRPr lang="en-US" sz="1733"/>
          </a:p>
        </p:txBody>
      </p:sp>
      <p:sp>
        <p:nvSpPr>
          <p:cNvPr id="21" name="Text 19"/>
          <p:cNvSpPr txBox="1"/>
          <p:nvPr/>
        </p:nvSpPr>
        <p:spPr>
          <a:xfrm>
            <a:off x="6278880" y="4023360"/>
            <a:ext cx="2170176" cy="15240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0F2A3D"/>
                </a:solidFill>
                <a:latin typeface="Calibri" pitchFamily="34" charset="0"/>
                <a:ea typeface="Calibri" pitchFamily="34" charset="-122"/>
                <a:cs typeface="Calibri" pitchFamily="34" charset="-120"/>
              </a:rPr>
              <a:t>job_title (422 distinct values)</a:t>
            </a:r>
            <a:endParaRPr lang="en-US" sz="1400"/>
          </a:p>
        </p:txBody>
      </p:sp>
      <p:sp>
        <p:nvSpPr>
          <p:cNvPr id="22" name="Shape 20"/>
          <p:cNvSpPr/>
          <p:nvPr/>
        </p:nvSpPr>
        <p:spPr>
          <a:xfrm>
            <a:off x="8778240" y="3474720"/>
            <a:ext cx="2499360" cy="2133600"/>
          </a:xfrm>
          <a:prstGeom prst="roundRect">
            <a:avLst>
              <a:gd name="adj" fmla="val 4571"/>
            </a:avLst>
          </a:prstGeom>
          <a:solidFill>
            <a:srgbClr val="FFFFFF"/>
          </a:solidFill>
          <a:ln w="9525">
            <a:solidFill>
              <a:srgbClr val="E8E4DA"/>
            </a:solidFill>
            <a:prstDash val="solid"/>
          </a:ln>
        </p:spPr>
      </p:sp>
      <p:sp>
        <p:nvSpPr>
          <p:cNvPr id="23" name="Text 21"/>
          <p:cNvSpPr txBox="1"/>
          <p:nvPr/>
        </p:nvSpPr>
        <p:spPr>
          <a:xfrm>
            <a:off x="8961120" y="3596640"/>
            <a:ext cx="2194560" cy="36576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C4561F"/>
                </a:solidFill>
                <a:latin typeface="Cambria" pitchFamily="34" charset="0"/>
                <a:ea typeface="Cambria" pitchFamily="34" charset="-122"/>
                <a:cs typeface="Cambria" pitchFamily="34" charset="-120"/>
              </a:rPr>
              <a:t>Quality</a:t>
            </a:r>
            <a:endParaRPr lang="en-US" sz="1733"/>
          </a:p>
        </p:txBody>
      </p:sp>
      <p:sp>
        <p:nvSpPr>
          <p:cNvPr id="24" name="Text 22"/>
          <p:cNvSpPr txBox="1"/>
          <p:nvPr/>
        </p:nvSpPr>
        <p:spPr>
          <a:xfrm>
            <a:off x="8961120" y="4023360"/>
            <a:ext cx="2170176" cy="15240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solidFill>
                  <a:srgbClr val="0F2A3D"/>
                </a:solidFill>
                <a:latin typeface="Calibri" pitchFamily="34" charset="0"/>
                <a:ea typeface="Calibri" pitchFamily="34" charset="-122"/>
                <a:cs typeface="Calibri" pitchFamily="34" charset="-120"/>
              </a:rPr>
              <a:t>Only isco_group_hint has gaps (56% missing). 2.4% of salaries are flagged outliers, kept in the data.</a:t>
            </a:r>
            <a:endParaRPr 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Salary Distribution</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Right-skewed, and salary rises with seniority</a:t>
            </a:r>
            <a:endParaRPr lang="en-US" sz="1867"/>
          </a:p>
        </p:txBody>
      </p:sp>
      <p:graphicFrame>
        <p:nvGraphicFramePr>
          <p:cNvPr id="5" name="Chart 0"/>
          <p:cNvGraphicFramePr/>
          <p:nvPr/>
        </p:nvGraphicFramePr>
        <p:xfrm>
          <a:off x="609600" y="1828800"/>
          <a:ext cx="5608320" cy="4023360"/>
        </p:xfrm>
        <a:graphic>
          <a:graphicData uri="http://schemas.openxmlformats.org/drawingml/2006/chart">
            <c:chart xmlns:c="http://schemas.openxmlformats.org/drawingml/2006/chart" xmlns:r="http://schemas.openxmlformats.org/officeDocument/2006/relationships" r:id="rId3"/>
          </a:graphicData>
        </a:graphic>
      </p:graphicFrame>
      <p:pic>
        <p:nvPicPr>
          <p:cNvPr id="6" name="Image 0" descr="Boxplot of salary by experience level"/>
          <p:cNvPicPr>
            <a:picLocks noChangeAspect="1"/>
          </p:cNvPicPr>
          <p:nvPr/>
        </p:nvPicPr>
        <p:blipFill>
          <a:blip r:embed="rId4"/>
          <a:stretch>
            <a:fillRect/>
          </a:stretch>
        </p:blipFill>
        <p:spPr>
          <a:xfrm>
            <a:off x="6400800" y="1889760"/>
            <a:ext cx="5059680" cy="3621024"/>
          </a:xfrm>
          <a:prstGeom prst="rect">
            <a:avLst/>
          </a:prstGeom>
        </p:spPr>
      </p:pic>
      <p:sp>
        <p:nvSpPr>
          <p:cNvPr id="7" name="Text 3"/>
          <p:cNvSpPr txBox="1"/>
          <p:nvPr/>
        </p:nvSpPr>
        <p:spPr>
          <a:xfrm>
            <a:off x="731520" y="5913120"/>
            <a:ext cx="10728960" cy="36576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a:solidFill>
                  <a:srgbClr val="5E666C"/>
                </a:solidFill>
                <a:latin typeface="Calibri" pitchFamily="34" charset="0"/>
                <a:ea typeface="Calibri" pitchFamily="34" charset="-122"/>
                <a:cs typeface="Calibri" pitchFamily="34" charset="-120"/>
              </a:rPr>
              <a:t>Mean $151K, median $139K, skewness 1.48 (full data). Outliers are removed for plotting only and never used as a feature.</a:t>
            </a:r>
            <a:endParaRPr lang="en-US" sz="1333"/>
          </a:p>
        </p:txBody>
      </p:sp>
    </p:spTree>
    <p:extLst>
      <p:ext uri="{BB962C8B-B14F-4D97-AF65-F5344CB8AC3E}">
        <p14:creationId xmlns:p14="http://schemas.microsoft.com/office/powerpoint/2010/main" val="3061170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Average Salary by Role Family</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Architect and research roles pay most; Data Analyst pays least</a:t>
            </a:r>
            <a:endParaRPr lang="en-US" sz="1867"/>
          </a:p>
        </p:txBody>
      </p:sp>
      <p:graphicFrame>
        <p:nvGraphicFramePr>
          <p:cNvPr id="5" name="Chart 0"/>
          <p:cNvGraphicFramePr/>
          <p:nvPr/>
        </p:nvGraphicFramePr>
        <p:xfrm>
          <a:off x="609600" y="1828800"/>
          <a:ext cx="7071360" cy="4145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985760" y="2072640"/>
            <a:ext cx="3474720" cy="39014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spcAft>
                <a:spcPts val="267"/>
              </a:spcAft>
              <a:buNone/>
            </a:pPr>
            <a:r>
              <a:rPr lang="en-US" sz="1733" b="1">
                <a:solidFill>
                  <a:srgbClr val="C4561F"/>
                </a:solidFill>
                <a:latin typeface="Cambria" pitchFamily="34" charset="0"/>
                <a:ea typeface="Cambria" pitchFamily="34" charset="-122"/>
                <a:cs typeface="Cambria" pitchFamily="34" charset="-120"/>
              </a:rPr>
              <a:t>Top</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AI Architect, Analytics Manager, Research Scientist and ML Engineer</a:t>
            </a:r>
            <a:endParaRPr lang="en-US" sz="1600"/>
          </a:p>
          <a:p>
            <a:pPr marL="0" indent="0">
              <a:spcAft>
                <a:spcPts val="267"/>
              </a:spcAft>
              <a:buNone/>
            </a:pPr>
            <a:r>
              <a:rPr lang="en-US" sz="1733" b="1">
                <a:solidFill>
                  <a:srgbClr val="C4561F"/>
                </a:solidFill>
                <a:latin typeface="Cambria" pitchFamily="34" charset="0"/>
                <a:ea typeface="Cambria" pitchFamily="34" charset="-122"/>
                <a:cs typeface="Cambria" pitchFamily="34" charset="-120"/>
              </a:rPr>
              <a:t>Middle</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“Other / Unclassified” is 56% of rows and mixes many job titles, so it is not one role</a:t>
            </a:r>
            <a:endParaRPr lang="en-US" sz="1600"/>
          </a:p>
          <a:p>
            <a:pPr marL="0" indent="0">
              <a:spcAft>
                <a:spcPts val="267"/>
              </a:spcAft>
              <a:buNone/>
            </a:pPr>
            <a:r>
              <a:rPr lang="en-US" sz="1733" b="1">
                <a:solidFill>
                  <a:srgbClr val="C4561F"/>
                </a:solidFill>
                <a:latin typeface="Cambria" pitchFamily="34" charset="0"/>
                <a:ea typeface="Cambria" pitchFamily="34" charset="-122"/>
                <a:cs typeface="Cambria" pitchFamily="34" charset="-120"/>
              </a:rPr>
              <a:t>Lowest</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Data Analyst, about $108K</a:t>
            </a:r>
            <a:endParaRPr lang="en-US" sz="1600"/>
          </a:p>
        </p:txBody>
      </p:sp>
    </p:spTree>
    <p:extLst>
      <p:ext uri="{BB962C8B-B14F-4D97-AF65-F5344CB8AC3E}">
        <p14:creationId xmlns:p14="http://schemas.microsoft.com/office/powerpoint/2010/main" val="4039337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Salary by Work Arrangement</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Hybrid looks underpaid, but its group is tiny and junior-heavy</a:t>
            </a:r>
            <a:endParaRPr lang="en-US" sz="1867"/>
          </a:p>
        </p:txBody>
      </p:sp>
      <p:pic>
        <p:nvPicPr>
          <p:cNvPr id="5" name="Image 0" descr="Boxplot of salary by work arrangement"/>
          <p:cNvPicPr>
            <a:picLocks noChangeAspect="1"/>
          </p:cNvPicPr>
          <p:nvPr/>
        </p:nvPicPr>
        <p:blipFill>
          <a:blip r:embed="rId3"/>
          <a:stretch>
            <a:fillRect/>
          </a:stretch>
        </p:blipFill>
        <p:spPr>
          <a:xfrm>
            <a:off x="670560" y="1889760"/>
            <a:ext cx="5364480" cy="3852672"/>
          </a:xfrm>
          <a:prstGeom prst="rect">
            <a:avLst/>
          </a:prstGeom>
        </p:spPr>
      </p:pic>
      <p:sp>
        <p:nvSpPr>
          <p:cNvPr id="6" name="Text 3"/>
          <p:cNvSpPr txBox="1"/>
          <p:nvPr/>
        </p:nvSpPr>
        <p:spPr>
          <a:xfrm>
            <a:off x="6461760" y="1950720"/>
            <a:ext cx="243840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C4561F"/>
                </a:solidFill>
                <a:latin typeface="Cambria" pitchFamily="34" charset="0"/>
                <a:ea typeface="Cambria" pitchFamily="34" charset="-122"/>
                <a:cs typeface="Cambria" pitchFamily="34" charset="-120"/>
              </a:rPr>
              <a:t>$79K</a:t>
            </a:r>
            <a:endParaRPr lang="en-US" sz="3733"/>
          </a:p>
        </p:txBody>
      </p:sp>
      <p:sp>
        <p:nvSpPr>
          <p:cNvPr id="7" name="Text 4"/>
          <p:cNvSpPr txBox="1"/>
          <p:nvPr/>
        </p:nvSpPr>
        <p:spPr>
          <a:xfrm>
            <a:off x="6461760" y="2657856"/>
            <a:ext cx="243840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a:solidFill>
                  <a:srgbClr val="5E666C"/>
                </a:solidFill>
                <a:latin typeface="Calibri" pitchFamily="34" charset="0"/>
                <a:ea typeface="Calibri" pitchFamily="34" charset="-122"/>
                <a:cs typeface="Calibri" pitchFamily="34" charset="-120"/>
              </a:rPr>
              <a:t>Hybrid mean (324 rows)</a:t>
            </a:r>
            <a:endParaRPr lang="en-US" sz="1467"/>
          </a:p>
        </p:txBody>
      </p:sp>
      <p:sp>
        <p:nvSpPr>
          <p:cNvPr id="8" name="Text 5"/>
          <p:cNvSpPr txBox="1"/>
          <p:nvPr/>
        </p:nvSpPr>
        <p:spPr>
          <a:xfrm>
            <a:off x="9022080" y="1950720"/>
            <a:ext cx="243840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a:solidFill>
                  <a:srgbClr val="0F2A3D"/>
                </a:solidFill>
                <a:latin typeface="Cambria" pitchFamily="34" charset="0"/>
                <a:ea typeface="Cambria" pitchFamily="34" charset="-122"/>
                <a:cs typeface="Cambria" pitchFamily="34" charset="-120"/>
              </a:rPr>
              <a:t>$145K</a:t>
            </a:r>
            <a:endParaRPr lang="en-US" sz="3733"/>
          </a:p>
        </p:txBody>
      </p:sp>
      <p:sp>
        <p:nvSpPr>
          <p:cNvPr id="9" name="Text 6"/>
          <p:cNvSpPr txBox="1"/>
          <p:nvPr/>
        </p:nvSpPr>
        <p:spPr>
          <a:xfrm>
            <a:off x="9022080" y="2657856"/>
            <a:ext cx="243840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a:solidFill>
                  <a:srgbClr val="5E666C"/>
                </a:solidFill>
                <a:latin typeface="Calibri" pitchFamily="34" charset="0"/>
                <a:ea typeface="Calibri" pitchFamily="34" charset="-122"/>
                <a:cs typeface="Calibri" pitchFamily="34" charset="-120"/>
              </a:rPr>
              <a:t>On-site and Remote means</a:t>
            </a:r>
            <a:endParaRPr lang="en-US" sz="1467"/>
          </a:p>
        </p:txBody>
      </p:sp>
      <p:sp>
        <p:nvSpPr>
          <p:cNvPr id="10" name="Text 7"/>
          <p:cNvSpPr txBox="1"/>
          <p:nvPr/>
        </p:nvSpPr>
        <p:spPr>
          <a:xfrm>
            <a:off x="6461760" y="3657600"/>
            <a:ext cx="4998720" cy="18288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00">
                <a:solidFill>
                  <a:srgbClr val="0F2A3D"/>
                </a:solidFill>
                <a:latin typeface="Calibri"/>
                <a:ea typeface="Calibri"/>
                <a:cs typeface="Calibri"/>
              </a:rPr>
              <a:t>Hybrid has few Executives (11 of 324), so the gap reflects who is in the group, not the work style.</a:t>
            </a:r>
            <a:endParaRPr lang="en-US" sz="1700">
              <a:latin typeface="Calibri"/>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a:ea typeface="Cambria"/>
                <a:cs typeface="Cambria" pitchFamily="34" charset="-120"/>
              </a:rPr>
              <a:t> Exposure, Hybrid and Correlation</a:t>
            </a:r>
            <a:endParaRPr lang="en-US" sz="3600">
              <a:latin typeface="Cambria"/>
              <a:ea typeface="Cambria"/>
            </a:endParaRPr>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What we expected to matter but did not, and one result that looks odd</a:t>
            </a:r>
            <a:endParaRPr lang="en-US" sz="1867"/>
          </a:p>
        </p:txBody>
      </p:sp>
      <p:pic>
        <p:nvPicPr>
          <p:cNvPr id="5" name="Image 0" descr="Scatter of AI exposure score vs mean salary by ISCO group"/>
          <p:cNvPicPr>
            <a:picLocks noChangeAspect="1"/>
          </p:cNvPicPr>
          <p:nvPr/>
        </p:nvPicPr>
        <p:blipFill>
          <a:blip r:embed="rId3"/>
          <a:stretch>
            <a:fillRect/>
          </a:stretch>
        </p:blipFill>
        <p:spPr>
          <a:xfrm>
            <a:off x="609600" y="1889760"/>
            <a:ext cx="5974080" cy="4023360"/>
          </a:xfrm>
          <a:prstGeom prst="rect">
            <a:avLst/>
          </a:prstGeom>
        </p:spPr>
      </p:pic>
      <p:sp>
        <p:nvSpPr>
          <p:cNvPr id="6" name="Text 3"/>
          <p:cNvSpPr txBox="1"/>
          <p:nvPr/>
        </p:nvSpPr>
        <p:spPr>
          <a:xfrm>
            <a:off x="6888480" y="2072640"/>
            <a:ext cx="4572000" cy="39014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50">
                <a:latin typeface="Calibri"/>
                <a:ea typeface="Calibri"/>
                <a:cs typeface="Calibri"/>
              </a:rPr>
              <a:t>You would expect a</a:t>
            </a:r>
            <a:r>
              <a:rPr lang="en-US" sz="1650" b="1">
                <a:solidFill>
                  <a:srgbClr val="C4561F"/>
                </a:solidFill>
                <a:latin typeface="Calibri"/>
                <a:ea typeface="Calibri"/>
                <a:cs typeface="Calibri"/>
              </a:rPr>
              <a:t> negative relationship </a:t>
            </a:r>
            <a:r>
              <a:rPr lang="en-US" sz="1650">
                <a:latin typeface="Calibri"/>
                <a:ea typeface="Calibri"/>
                <a:cs typeface="Calibri"/>
              </a:rPr>
              <a:t>between these two variables, so as AI exposure increases salary decreases.</a:t>
            </a:r>
          </a:p>
          <a:p>
            <a:endParaRPr lang="en-US" sz="1650" b="1">
              <a:solidFill>
                <a:srgbClr val="C4561F"/>
              </a:solidFill>
              <a:latin typeface="Calibri"/>
              <a:ea typeface="Calibri"/>
              <a:cs typeface="Calibri"/>
            </a:endParaRPr>
          </a:p>
          <a:p>
            <a:pPr marL="0" indent="0">
              <a:buNone/>
            </a:pPr>
            <a:r>
              <a:rPr lang="en-US" sz="1650" b="1">
                <a:solidFill>
                  <a:srgbClr val="C4561F"/>
                </a:solidFill>
                <a:latin typeface="Calibri"/>
                <a:ea typeface="Calibri"/>
                <a:cs typeface="Calibri"/>
              </a:rPr>
              <a:t>No clear link </a:t>
            </a:r>
            <a:r>
              <a:rPr lang="en-US" sz="1650">
                <a:solidFill>
                  <a:srgbClr val="0F2A3D"/>
                </a:solidFill>
                <a:latin typeface="Calibri"/>
                <a:ea typeface="Calibri"/>
                <a:cs typeface="Calibri"/>
              </a:rPr>
              <a:t>between AI exposure and pay across the 5 groups. Exploratory only.</a:t>
            </a:r>
            <a:endParaRPr lang="en-US" sz="1650">
              <a:latin typeface="Calibri"/>
              <a:ea typeface="Calibri"/>
              <a:cs typeface="Calibri"/>
            </a:endParaRPr>
          </a:p>
        </p:txBody>
      </p:sp>
    </p:spTree>
    <p:extLst>
      <p:ext uri="{BB962C8B-B14F-4D97-AF65-F5344CB8AC3E}">
        <p14:creationId xmlns:p14="http://schemas.microsoft.com/office/powerpoint/2010/main" val="3607004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Data Leakage Audit: What We Removed and Why</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Five checks before any model sees the data</a:t>
            </a:r>
            <a:endParaRPr lang="en-US" sz="1867"/>
          </a:p>
        </p:txBody>
      </p:sp>
      <p:graphicFrame>
        <p:nvGraphicFramePr>
          <p:cNvPr id="13" name="Table 0"/>
          <p:cNvGraphicFramePr>
            <a:graphicFrameLocks noGrp="1"/>
          </p:cNvGraphicFramePr>
          <p:nvPr>
            <p:extLst>
              <p:ext uri="{D42A27DB-BD31-4B8C-83A1-F6EECF244321}">
                <p14:modId xmlns:p14="http://schemas.microsoft.com/office/powerpoint/2010/main" val="2149838267"/>
              </p:ext>
            </p:extLst>
          </p:nvPr>
        </p:nvGraphicFramePr>
        <p:xfrm>
          <a:off x="731520" y="1950720"/>
          <a:ext cx="10728960" cy="3023616"/>
        </p:xfrm>
        <a:graphic>
          <a:graphicData uri="http://schemas.openxmlformats.org/drawingml/2006/table">
            <a:tbl>
              <a:tblPr/>
              <a:tblGrid>
                <a:gridCol w="4876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38912">
                <a:tc>
                  <a:txBody>
                    <a:bodyPr/>
                    <a:lstStyle/>
                    <a:p>
                      <a:pPr marL="0" indent="0" algn="l">
                        <a:buNone/>
                      </a:pPr>
                      <a:r>
                        <a:rPr lang="en-US" sz="1500" b="1">
                          <a:solidFill>
                            <a:srgbClr val="FFFFFF"/>
                          </a:solidFill>
                          <a:latin typeface="Calibri" pitchFamily="34" charset="0"/>
                          <a:ea typeface="Calibri" pitchFamily="34" charset="-122"/>
                          <a:cs typeface="Calibri" pitchFamily="34" charset="-120"/>
                        </a:rPr>
                        <a:t>Column(s)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0F2A3D"/>
                    </a:solidFill>
                  </a:tcPr>
                </a:tc>
                <a:tc>
                  <a:txBody>
                    <a:bodyPr/>
                    <a:lstStyle/>
                    <a:p>
                      <a:pPr marL="0" indent="0" algn="ctr">
                        <a:buNone/>
                      </a:pPr>
                      <a:r>
                        <a:rPr lang="en-US" sz="1500" b="1">
                          <a:solidFill>
                            <a:srgbClr val="FFFFFF"/>
                          </a:solidFill>
                          <a:latin typeface="Calibri" pitchFamily="34" charset="0"/>
                          <a:ea typeface="Calibri" pitchFamily="34" charset="-122"/>
                          <a:cs typeface="Calibri" pitchFamily="34" charset="-120"/>
                        </a:rPr>
                        <a:t>Action</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0F2A3D"/>
                    </a:solidFill>
                  </a:tcPr>
                </a:tc>
                <a:tc>
                  <a:txBody>
                    <a:bodyPr/>
                    <a:lstStyle/>
                    <a:p>
                      <a:pPr marL="0" indent="0" algn="l">
                        <a:buNone/>
                      </a:pPr>
                      <a:r>
                        <a:rPr lang="en-US" sz="1500" b="1">
                          <a:solidFill>
                            <a:srgbClr val="FFFFFF"/>
                          </a:solidFill>
                          <a:latin typeface="Calibri" pitchFamily="34" charset="0"/>
                          <a:ea typeface="Calibri" pitchFamily="34" charset="-122"/>
                          <a:cs typeface="Calibri" pitchFamily="34" charset="-120"/>
                        </a:rPr>
                        <a:t>Reason</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0F2A3D"/>
                    </a:solidFill>
                  </a:tcPr>
                </a:tc>
                <a:extLst>
                  <a:ext uri="{0D108BD9-81ED-4DB2-BD59-A6C34878D82A}">
                    <a16:rowId xmlns:a16="http://schemas.microsoft.com/office/drawing/2014/main" val="10000"/>
                  </a:ext>
                </a:extLst>
              </a:tr>
              <a:tr h="487680">
                <a:tc>
                  <a:txBody>
                    <a:bodyPr/>
                    <a:lstStyle/>
                    <a:p>
                      <a:pPr marL="0" indent="0">
                        <a:buNone/>
                      </a:pPr>
                      <a:r>
                        <a:rPr lang="en-US" sz="1500" b="1">
                          <a:solidFill>
                            <a:srgbClr val="0F2A3D"/>
                          </a:solidFill>
                          <a:latin typeface="Calibri" pitchFamily="34" charset="0"/>
                          <a:ea typeface="Calibri" pitchFamily="34" charset="-122"/>
                          <a:cs typeface="Calibri" pitchFamily="34" charset="-120"/>
                        </a:rPr>
                        <a:t>salary, salary_currency</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b="1">
                          <a:solidFill>
                            <a:srgbClr val="C4561F"/>
                          </a:solidFill>
                          <a:latin typeface="Calibri" pitchFamily="34" charset="0"/>
                          <a:ea typeface="Calibri" pitchFamily="34" charset="-122"/>
                          <a:cs typeface="Calibri" pitchFamily="34" charset="-120"/>
                        </a:rPr>
                        <a:t>Drop</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lvl="0" indent="0">
                        <a:buNone/>
                      </a:pPr>
                      <a:r>
                        <a:rPr lang="en-US" sz="1500">
                          <a:solidFill>
                            <a:srgbClr val="0F2A3D"/>
                          </a:solidFill>
                          <a:latin typeface="Calibri"/>
                          <a:ea typeface="Calibri"/>
                          <a:cs typeface="Calibri"/>
                        </a:rPr>
                        <a:t>Rows with USD currency were identical</a:t>
                      </a:r>
                      <a:endParaRPr lang="en-US" sz="1500" dirty="0">
                        <a:solidFill>
                          <a:srgbClr val="0F2A3D"/>
                        </a:solidFill>
                        <a:latin typeface="Calibri"/>
                        <a:ea typeface="Calibri"/>
                        <a:cs typeface="Calibri"/>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7680">
                <a:tc>
                  <a:txBody>
                    <a:bodyPr/>
                    <a:lstStyle/>
                    <a:p>
                      <a:pPr marL="0" indent="0">
                        <a:buNone/>
                      </a:pPr>
                      <a:r>
                        <a:rPr lang="en-US" sz="1500" b="1">
                          <a:solidFill>
                            <a:srgbClr val="0F2A3D"/>
                          </a:solidFill>
                          <a:latin typeface="Calibri" pitchFamily="34" charset="0"/>
                          <a:ea typeface="Calibri" pitchFamily="34" charset="-122"/>
                          <a:cs typeface="Calibri" pitchFamily="34" charset="-120"/>
                        </a:rPr>
                        <a:t>salary_outlier_flag</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b="1">
                          <a:solidFill>
                            <a:srgbClr val="C4561F"/>
                          </a:solidFill>
                          <a:latin typeface="Calibri" pitchFamily="34" charset="0"/>
                          <a:ea typeface="Calibri" pitchFamily="34" charset="-122"/>
                          <a:cs typeface="Calibri" pitchFamily="34" charset="-120"/>
                        </a:rPr>
                        <a:t>Drop</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Computed from salary_in_usd</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3984">
                <a:tc>
                  <a:txBody>
                    <a:bodyPr/>
                    <a:lstStyle/>
                    <a:p>
                      <a:pPr marL="0" indent="0">
                        <a:buNone/>
                      </a:pPr>
                      <a:r>
                        <a:rPr lang="en-US" sz="1500" b="1">
                          <a:solidFill>
                            <a:srgbClr val="0F2A3D"/>
                          </a:solidFill>
                          <a:latin typeface="Calibri" pitchFamily="34" charset="0"/>
                          <a:ea typeface="Calibri" pitchFamily="34" charset="-122"/>
                          <a:cs typeface="Calibri" pitchFamily="34" charset="-120"/>
                        </a:rPr>
                        <a:t>experience_level_label, employment_type_label, work_mode</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b="1">
                          <a:solidFill>
                            <a:srgbClr val="C4561F"/>
                          </a:solidFill>
                          <a:latin typeface="Calibri" pitchFamily="34" charset="0"/>
                          <a:ea typeface="Calibri" pitchFamily="34" charset="-122"/>
                          <a:cs typeface="Calibri" pitchFamily="34" charset="-120"/>
                        </a:rPr>
                        <a:t>Drop</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Duplicates of coded columns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7680">
                <a:tc>
                  <a:txBody>
                    <a:bodyPr/>
                    <a:lstStyle/>
                    <a:p>
                      <a:pPr marL="0" indent="0">
                        <a:buNone/>
                      </a:pPr>
                      <a:r>
                        <a:rPr lang="en-US" sz="1500" b="1">
                          <a:solidFill>
                            <a:srgbClr val="0F2A3D"/>
                          </a:solidFill>
                          <a:latin typeface="Calibri" pitchFamily="34" charset="0"/>
                          <a:ea typeface="Calibri" pitchFamily="34" charset="-122"/>
                          <a:cs typeface="Calibri" pitchFamily="34" charset="-120"/>
                        </a:rPr>
                        <a:t>job_title (422 values)</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b="1">
                          <a:solidFill>
                            <a:srgbClr val="C4561F"/>
                          </a:solidFill>
                          <a:latin typeface="Calibri" pitchFamily="34" charset="0"/>
                          <a:ea typeface="Calibri" pitchFamily="34" charset="-122"/>
                          <a:cs typeface="Calibri" pitchFamily="34" charset="-120"/>
                        </a:rPr>
                        <a:t>Drop</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Captured by the 11-group role_family</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7680">
                <a:tc>
                  <a:txBody>
                    <a:bodyPr/>
                    <a:lstStyle/>
                    <a:p>
                      <a:pPr marL="0" indent="0">
                        <a:buNone/>
                      </a:pPr>
                      <a:r>
                        <a:rPr lang="en-US" sz="1500" b="1">
                          <a:solidFill>
                            <a:srgbClr val="0F2A3D"/>
                          </a:solidFill>
                          <a:latin typeface="Calibri" pitchFamily="34" charset="0"/>
                          <a:ea typeface="Calibri" pitchFamily="34" charset="-122"/>
                          <a:cs typeface="Calibri" pitchFamily="34" charset="-120"/>
                        </a:rPr>
                        <a:t>isco_group_hint</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lgn="ctr">
                        <a:buNone/>
                      </a:pPr>
                      <a:r>
                        <a:rPr lang="en-US" sz="1500" b="1">
                          <a:solidFill>
                            <a:srgbClr val="C4561F"/>
                          </a:solidFill>
                          <a:latin typeface="Calibri" pitchFamily="34" charset="0"/>
                          <a:ea typeface="Calibri" pitchFamily="34" charset="-122"/>
                          <a:cs typeface="Calibri" pitchFamily="34" charset="-120"/>
                        </a:rPr>
                        <a:t>Drop</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tc>
                  <a:txBody>
                    <a:bodyPr/>
                    <a:lstStyle/>
                    <a:p>
                      <a:pPr marL="0" indent="0">
                        <a:buNone/>
                      </a:pPr>
                      <a:r>
                        <a:rPr lang="en-US" sz="1500">
                          <a:solidFill>
                            <a:srgbClr val="0F2A3D"/>
                          </a:solidFill>
                          <a:latin typeface="Calibri" pitchFamily="34" charset="0"/>
                          <a:ea typeface="Calibri" pitchFamily="34" charset="-122"/>
                          <a:cs typeface="Calibri" pitchFamily="34" charset="-120"/>
                        </a:rPr>
                        <a:t>56% missing; repeats role_family</a:t>
                      </a:r>
                      <a:endParaRPr lang="en-US" sz="1500">
                        <a:latin typeface="Calibri" charset="0"/>
                        <a:ea typeface="Calibri" charset="0"/>
                        <a:cs typeface="Calibri" charset="0"/>
                      </a:endParaRPr>
                    </a:p>
                  </a:txBody>
                  <a:tcPr marL="121920" marR="121920" marT="60960" marB="60960" anchor="ctr">
                    <a:lnL w="9525" cap="flat" cmpd="sng" algn="ctr">
                      <a:solidFill>
                        <a:srgbClr val="DDD9CE"/>
                      </a:solidFill>
                      <a:prstDash val="solid"/>
                      <a:round/>
                      <a:headEnd type="none" w="med" len="med"/>
                      <a:tailEnd type="none" w="med" len="med"/>
                    </a:lnL>
                    <a:lnR w="9525" cap="flat" cmpd="sng" algn="ctr">
                      <a:solidFill>
                        <a:srgbClr val="DDD9CE"/>
                      </a:solidFill>
                      <a:prstDash val="solid"/>
                      <a:round/>
                      <a:headEnd type="none" w="med" len="med"/>
                      <a:tailEnd type="none" w="med" len="med"/>
                    </a:lnR>
                    <a:lnT w="9525" cap="flat" cmpd="sng" algn="ctr">
                      <a:solidFill>
                        <a:srgbClr val="DDD9CE"/>
                      </a:solidFill>
                      <a:prstDash val="solid"/>
                      <a:round/>
                      <a:headEnd type="none" w="med" len="med"/>
                      <a:tailEnd type="none" w="med" len="med"/>
                    </a:lnT>
                    <a:lnB w="9525" cap="flat" cmpd="sng" algn="ctr">
                      <a:solidFill>
                        <a:srgbClr val="DDD9C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731520" y="5242560"/>
            <a:ext cx="10728960" cy="853440"/>
          </a:xfrm>
          <a:prstGeom prst="roundRect">
            <a:avLst>
              <a:gd name="adj" fmla="val 11429"/>
            </a:avLst>
          </a:prstGeom>
          <a:solidFill>
            <a:srgbClr val="FBE6DA"/>
          </a:solidFill>
          <a:ln w="9525">
            <a:solidFill>
              <a:srgbClr val="FBE6DA"/>
            </a:solidFill>
            <a:prstDash val="solid"/>
          </a:ln>
        </p:spPr>
      </p:sp>
      <p:sp>
        <p:nvSpPr>
          <p:cNvPr id="7" name="Text 4"/>
          <p:cNvSpPr txBox="1"/>
          <p:nvPr/>
        </p:nvSpPr>
        <p:spPr>
          <a:xfrm>
            <a:off x="975360" y="5242560"/>
            <a:ext cx="10241280" cy="8534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b="1">
                <a:solidFill>
                  <a:srgbClr val="C4561F"/>
                </a:solidFill>
                <a:latin typeface="Calibri" pitchFamily="34" charset="0"/>
                <a:ea typeface="Calibri" pitchFamily="34" charset="-122"/>
                <a:cs typeface="Calibri" pitchFamily="34" charset="-120"/>
              </a:rPr>
              <a:t>Left with 8 features: </a:t>
            </a:r>
            <a:r>
              <a:rPr lang="en-US" sz="1533">
                <a:solidFill>
                  <a:srgbClr val="0F2A3D"/>
                </a:solidFill>
                <a:latin typeface="Calibri" pitchFamily="34" charset="0"/>
                <a:ea typeface="Calibri" pitchFamily="34" charset="-122"/>
                <a:cs typeface="Calibri" pitchFamily="34" charset="-120"/>
              </a:rPr>
              <a:t>work_year, experience_level, employment_type, employee_residence, remote_ratio, company_location, company_size, role_family</a:t>
            </a:r>
            <a:endParaRPr lang="en-US" sz="1533"/>
          </a:p>
        </p:txBody>
      </p:sp>
    </p:spTree>
    <p:extLst>
      <p:ext uri="{BB962C8B-B14F-4D97-AF65-F5344CB8AC3E}">
        <p14:creationId xmlns:p14="http://schemas.microsoft.com/office/powerpoint/2010/main" val="1026243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Minimum Preprocessing and Split</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Only what the baseline cannot run without; all fitting uses training data only</a:t>
            </a:r>
            <a:endParaRPr lang="en-US" sz="1867"/>
          </a:p>
        </p:txBody>
      </p:sp>
      <p:sp>
        <p:nvSpPr>
          <p:cNvPr id="5" name="Shape 3"/>
          <p:cNvSpPr/>
          <p:nvPr/>
        </p:nvSpPr>
        <p:spPr>
          <a:xfrm>
            <a:off x="731520" y="2011680"/>
            <a:ext cx="2499360" cy="2926080"/>
          </a:xfrm>
          <a:prstGeom prst="roundRect">
            <a:avLst>
              <a:gd name="adj" fmla="val 3902"/>
            </a:avLst>
          </a:prstGeom>
          <a:solidFill>
            <a:srgbClr val="FFFFFF"/>
          </a:solidFill>
          <a:ln w="9525">
            <a:solidFill>
              <a:srgbClr val="E8E4DA"/>
            </a:solidFill>
            <a:prstDash val="solid"/>
          </a:ln>
        </p:spPr>
      </p:sp>
      <p:sp>
        <p:nvSpPr>
          <p:cNvPr id="6" name="Shape 4"/>
          <p:cNvSpPr/>
          <p:nvPr/>
        </p:nvSpPr>
        <p:spPr>
          <a:xfrm>
            <a:off x="950976" y="2218944"/>
            <a:ext cx="548640" cy="548640"/>
          </a:xfrm>
          <a:prstGeom prst="ellipse">
            <a:avLst/>
          </a:prstGeom>
          <a:solidFill>
            <a:srgbClr val="E4733B"/>
          </a:solidFill>
          <a:ln w="12700">
            <a:solidFill>
              <a:srgbClr val="E4733B"/>
            </a:solidFill>
            <a:prstDash val="solid"/>
          </a:ln>
        </p:spPr>
      </p:sp>
      <p:sp>
        <p:nvSpPr>
          <p:cNvPr id="7" name="Text 5"/>
          <p:cNvSpPr txBox="1"/>
          <p:nvPr/>
        </p:nvSpPr>
        <p:spPr>
          <a:xfrm>
            <a:off x="950976" y="2218944"/>
            <a:ext cx="548640"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latin typeface="Cambria" pitchFamily="34" charset="0"/>
                <a:ea typeface="Cambria" pitchFamily="34" charset="-122"/>
                <a:cs typeface="Cambria" pitchFamily="34" charset="-120"/>
              </a:rPr>
              <a:t>1</a:t>
            </a:r>
            <a:endParaRPr lang="en-US" sz="2000"/>
          </a:p>
        </p:txBody>
      </p:sp>
      <p:sp>
        <p:nvSpPr>
          <p:cNvPr id="8" name="Text 6"/>
          <p:cNvSpPr txBox="1"/>
          <p:nvPr/>
        </p:nvSpPr>
        <p:spPr>
          <a:xfrm>
            <a:off x="950976" y="2926080"/>
            <a:ext cx="21336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0F2A3D"/>
                </a:solidFill>
                <a:latin typeface="Cambria" pitchFamily="34" charset="0"/>
                <a:ea typeface="Cambria" pitchFamily="34" charset="-122"/>
                <a:cs typeface="Cambria" pitchFamily="34" charset="-120"/>
              </a:rPr>
              <a:t>Random 80/20 split</a:t>
            </a:r>
            <a:endParaRPr lang="en-US" sz="1867"/>
          </a:p>
        </p:txBody>
      </p:sp>
      <p:sp>
        <p:nvSpPr>
          <p:cNvPr id="9" name="Text 7"/>
          <p:cNvSpPr txBox="1"/>
          <p:nvPr/>
        </p:nvSpPr>
        <p:spPr>
          <a:xfrm>
            <a:off x="950976" y="3596640"/>
            <a:ext cx="2170176" cy="12192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a:solidFill>
                  <a:srgbClr val="0F2A3D"/>
                </a:solidFill>
                <a:latin typeface="Calibri" pitchFamily="34" charset="0"/>
                <a:ea typeface="Calibri" pitchFamily="34" charset="-122"/>
                <a:cs typeface="Calibri" pitchFamily="34" charset="-120"/>
              </a:rPr>
              <a:t>57,530 train, 14,383 test, seed 42</a:t>
            </a:r>
            <a:endParaRPr lang="en-US" sz="1533"/>
          </a:p>
        </p:txBody>
      </p:sp>
      <p:sp>
        <p:nvSpPr>
          <p:cNvPr id="10" name="Shape 8"/>
          <p:cNvSpPr/>
          <p:nvPr/>
        </p:nvSpPr>
        <p:spPr>
          <a:xfrm>
            <a:off x="3413760" y="2011680"/>
            <a:ext cx="2499360" cy="2926080"/>
          </a:xfrm>
          <a:prstGeom prst="roundRect">
            <a:avLst>
              <a:gd name="adj" fmla="val 3902"/>
            </a:avLst>
          </a:prstGeom>
          <a:solidFill>
            <a:srgbClr val="FFFFFF"/>
          </a:solidFill>
          <a:ln w="9525">
            <a:solidFill>
              <a:srgbClr val="E8E4DA"/>
            </a:solidFill>
            <a:prstDash val="solid"/>
          </a:ln>
        </p:spPr>
      </p:sp>
      <p:sp>
        <p:nvSpPr>
          <p:cNvPr id="11" name="Shape 9"/>
          <p:cNvSpPr/>
          <p:nvPr/>
        </p:nvSpPr>
        <p:spPr>
          <a:xfrm>
            <a:off x="3633216" y="2218944"/>
            <a:ext cx="548640" cy="548640"/>
          </a:xfrm>
          <a:prstGeom prst="ellipse">
            <a:avLst/>
          </a:prstGeom>
          <a:solidFill>
            <a:srgbClr val="E4733B"/>
          </a:solidFill>
          <a:ln w="12700">
            <a:solidFill>
              <a:srgbClr val="E4733B"/>
            </a:solidFill>
            <a:prstDash val="solid"/>
          </a:ln>
        </p:spPr>
      </p:sp>
      <p:sp>
        <p:nvSpPr>
          <p:cNvPr id="12" name="Text 10"/>
          <p:cNvSpPr txBox="1"/>
          <p:nvPr/>
        </p:nvSpPr>
        <p:spPr>
          <a:xfrm>
            <a:off x="3633216" y="2218944"/>
            <a:ext cx="548640"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latin typeface="Cambria" pitchFamily="34" charset="0"/>
                <a:ea typeface="Cambria" pitchFamily="34" charset="-122"/>
                <a:cs typeface="Cambria" pitchFamily="34" charset="-120"/>
              </a:rPr>
              <a:t>2</a:t>
            </a:r>
            <a:endParaRPr lang="en-US" sz="2000"/>
          </a:p>
        </p:txBody>
      </p:sp>
      <p:sp>
        <p:nvSpPr>
          <p:cNvPr id="13" name="Text 11"/>
          <p:cNvSpPr txBox="1"/>
          <p:nvPr/>
        </p:nvSpPr>
        <p:spPr>
          <a:xfrm>
            <a:off x="3633216" y="2926080"/>
            <a:ext cx="21336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0F2A3D"/>
                </a:solidFill>
                <a:latin typeface="Cambria" pitchFamily="34" charset="0"/>
                <a:ea typeface="Cambria" pitchFamily="34" charset="-122"/>
                <a:cs typeface="Cambria" pitchFamily="34" charset="-120"/>
              </a:rPr>
              <a:t>Quartile salary tiers</a:t>
            </a:r>
            <a:endParaRPr lang="en-US" sz="1867"/>
          </a:p>
        </p:txBody>
      </p:sp>
      <p:sp>
        <p:nvSpPr>
          <p:cNvPr id="14" name="Text 12"/>
          <p:cNvSpPr txBox="1"/>
          <p:nvPr/>
        </p:nvSpPr>
        <p:spPr>
          <a:xfrm>
            <a:off x="3633216" y="3596640"/>
            <a:ext cx="2170176" cy="12192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a:solidFill>
                  <a:srgbClr val="0F2A3D"/>
                </a:solidFill>
                <a:latin typeface="Calibri" pitchFamily="34" charset="0"/>
                <a:ea typeface="Calibri" pitchFamily="34" charset="-122"/>
                <a:cs typeface="Calibri" pitchFamily="34" charset="-120"/>
              </a:rPr>
              <a:t>Cut points from training data only: $96,000, $138,750, $190,200</a:t>
            </a:r>
            <a:endParaRPr lang="en-US" sz="1533"/>
          </a:p>
        </p:txBody>
      </p:sp>
      <p:sp>
        <p:nvSpPr>
          <p:cNvPr id="15" name="Shape 13"/>
          <p:cNvSpPr/>
          <p:nvPr/>
        </p:nvSpPr>
        <p:spPr>
          <a:xfrm>
            <a:off x="6096000" y="2011680"/>
            <a:ext cx="2499360" cy="2926080"/>
          </a:xfrm>
          <a:prstGeom prst="roundRect">
            <a:avLst>
              <a:gd name="adj" fmla="val 3902"/>
            </a:avLst>
          </a:prstGeom>
          <a:solidFill>
            <a:srgbClr val="FFFFFF"/>
          </a:solidFill>
          <a:ln w="9525">
            <a:solidFill>
              <a:srgbClr val="E8E4DA"/>
            </a:solidFill>
            <a:prstDash val="solid"/>
          </a:ln>
        </p:spPr>
      </p:sp>
      <p:sp>
        <p:nvSpPr>
          <p:cNvPr id="16" name="Shape 14"/>
          <p:cNvSpPr/>
          <p:nvPr/>
        </p:nvSpPr>
        <p:spPr>
          <a:xfrm>
            <a:off x="6315456" y="2218944"/>
            <a:ext cx="548640" cy="548640"/>
          </a:xfrm>
          <a:prstGeom prst="ellipse">
            <a:avLst/>
          </a:prstGeom>
          <a:solidFill>
            <a:srgbClr val="E4733B"/>
          </a:solidFill>
          <a:ln w="12700">
            <a:solidFill>
              <a:srgbClr val="E4733B"/>
            </a:solidFill>
            <a:prstDash val="solid"/>
          </a:ln>
        </p:spPr>
      </p:sp>
      <p:sp>
        <p:nvSpPr>
          <p:cNvPr id="17" name="Text 15"/>
          <p:cNvSpPr txBox="1"/>
          <p:nvPr/>
        </p:nvSpPr>
        <p:spPr>
          <a:xfrm>
            <a:off x="6315456" y="2218944"/>
            <a:ext cx="548640"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latin typeface="Cambria" pitchFamily="34" charset="0"/>
                <a:ea typeface="Cambria" pitchFamily="34" charset="-122"/>
                <a:cs typeface="Cambria" pitchFamily="34" charset="-120"/>
              </a:rPr>
              <a:t>3</a:t>
            </a:r>
            <a:endParaRPr lang="en-US" sz="2000"/>
          </a:p>
        </p:txBody>
      </p:sp>
      <p:sp>
        <p:nvSpPr>
          <p:cNvPr id="18" name="Text 16"/>
          <p:cNvSpPr txBox="1"/>
          <p:nvPr/>
        </p:nvSpPr>
        <p:spPr>
          <a:xfrm>
            <a:off x="6315456" y="2926080"/>
            <a:ext cx="21336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0F2A3D"/>
                </a:solidFill>
                <a:latin typeface="Cambria" pitchFamily="34" charset="0"/>
                <a:ea typeface="Cambria" pitchFamily="34" charset="-122"/>
                <a:cs typeface="Cambria" pitchFamily="34" charset="-120"/>
              </a:rPr>
              <a:t>One-hot encode</a:t>
            </a:r>
            <a:endParaRPr lang="en-US" sz="1867"/>
          </a:p>
        </p:txBody>
      </p:sp>
      <p:sp>
        <p:nvSpPr>
          <p:cNvPr id="19" name="Text 17"/>
          <p:cNvSpPr txBox="1"/>
          <p:nvPr/>
        </p:nvSpPr>
        <p:spPr>
          <a:xfrm>
            <a:off x="6315456" y="3596640"/>
            <a:ext cx="2170176" cy="12192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a:solidFill>
                  <a:srgbClr val="0F2A3D"/>
                </a:solidFill>
                <a:latin typeface="Calibri" pitchFamily="34" charset="0"/>
                <a:ea typeface="Calibri" pitchFamily="34" charset="-122"/>
                <a:cs typeface="Calibri" pitchFamily="34" charset="-120"/>
              </a:rPr>
              <a:t>6 categorical features become about 217 columns with the scaled numerics</a:t>
            </a:r>
            <a:endParaRPr lang="en-US" sz="1533"/>
          </a:p>
        </p:txBody>
      </p:sp>
      <p:sp>
        <p:nvSpPr>
          <p:cNvPr id="20" name="Shape 18"/>
          <p:cNvSpPr/>
          <p:nvPr/>
        </p:nvSpPr>
        <p:spPr>
          <a:xfrm>
            <a:off x="8778240" y="2011680"/>
            <a:ext cx="2499360" cy="2926080"/>
          </a:xfrm>
          <a:prstGeom prst="roundRect">
            <a:avLst>
              <a:gd name="adj" fmla="val 3902"/>
            </a:avLst>
          </a:prstGeom>
          <a:solidFill>
            <a:srgbClr val="FFFFFF"/>
          </a:solidFill>
          <a:ln w="9525">
            <a:solidFill>
              <a:srgbClr val="E8E4DA"/>
            </a:solidFill>
            <a:prstDash val="solid"/>
          </a:ln>
        </p:spPr>
      </p:sp>
      <p:sp>
        <p:nvSpPr>
          <p:cNvPr id="21" name="Shape 19"/>
          <p:cNvSpPr/>
          <p:nvPr/>
        </p:nvSpPr>
        <p:spPr>
          <a:xfrm>
            <a:off x="8997696" y="2218944"/>
            <a:ext cx="548640" cy="548640"/>
          </a:xfrm>
          <a:prstGeom prst="ellipse">
            <a:avLst/>
          </a:prstGeom>
          <a:solidFill>
            <a:srgbClr val="E4733B"/>
          </a:solidFill>
          <a:ln w="12700">
            <a:solidFill>
              <a:srgbClr val="E4733B"/>
            </a:solidFill>
            <a:prstDash val="solid"/>
          </a:ln>
        </p:spPr>
      </p:sp>
      <p:sp>
        <p:nvSpPr>
          <p:cNvPr id="22" name="Text 20"/>
          <p:cNvSpPr txBox="1"/>
          <p:nvPr/>
        </p:nvSpPr>
        <p:spPr>
          <a:xfrm>
            <a:off x="8997696" y="2218944"/>
            <a:ext cx="548640"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a:solidFill>
                  <a:srgbClr val="FFFFFF"/>
                </a:solidFill>
                <a:latin typeface="Cambria" pitchFamily="34" charset="0"/>
                <a:ea typeface="Cambria" pitchFamily="34" charset="-122"/>
                <a:cs typeface="Cambria" pitchFamily="34" charset="-120"/>
              </a:rPr>
              <a:t>4</a:t>
            </a:r>
            <a:endParaRPr lang="en-US" sz="2000"/>
          </a:p>
        </p:txBody>
      </p:sp>
      <p:sp>
        <p:nvSpPr>
          <p:cNvPr id="23" name="Text 21"/>
          <p:cNvSpPr txBox="1"/>
          <p:nvPr/>
        </p:nvSpPr>
        <p:spPr>
          <a:xfrm>
            <a:off x="8997696" y="2926080"/>
            <a:ext cx="21336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0F2A3D"/>
                </a:solidFill>
                <a:latin typeface="Cambria" pitchFamily="34" charset="0"/>
                <a:ea typeface="Cambria" pitchFamily="34" charset="-122"/>
                <a:cs typeface="Cambria" pitchFamily="34" charset="-120"/>
              </a:rPr>
              <a:t>Standardize numerics</a:t>
            </a:r>
            <a:endParaRPr lang="en-US" sz="1867"/>
          </a:p>
        </p:txBody>
      </p:sp>
      <p:sp>
        <p:nvSpPr>
          <p:cNvPr id="24" name="Text 22"/>
          <p:cNvSpPr txBox="1"/>
          <p:nvPr/>
        </p:nvSpPr>
        <p:spPr>
          <a:xfrm>
            <a:off x="8997696" y="3596640"/>
            <a:ext cx="2170176" cy="12192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a:solidFill>
                  <a:srgbClr val="0F2A3D"/>
                </a:solidFill>
                <a:latin typeface="Calibri" pitchFamily="34" charset="0"/>
                <a:ea typeface="Calibri" pitchFamily="34" charset="-122"/>
                <a:cs typeface="Calibri" pitchFamily="34" charset="-120"/>
              </a:rPr>
              <a:t>work_year and remote_ratio put on a common scale</a:t>
            </a:r>
            <a:endParaRPr lang="en-US" sz="1533"/>
          </a:p>
        </p:txBody>
      </p:sp>
      <p:sp>
        <p:nvSpPr>
          <p:cNvPr id="25" name="Shape 23"/>
          <p:cNvSpPr/>
          <p:nvPr/>
        </p:nvSpPr>
        <p:spPr>
          <a:xfrm>
            <a:off x="731520" y="5181600"/>
            <a:ext cx="10728960" cy="792480"/>
          </a:xfrm>
          <a:prstGeom prst="roundRect">
            <a:avLst>
              <a:gd name="adj" fmla="val 12308"/>
            </a:avLst>
          </a:prstGeom>
          <a:solidFill>
            <a:srgbClr val="0F2A3D"/>
          </a:solidFill>
          <a:ln w="9525">
            <a:solidFill>
              <a:srgbClr val="0F2A3D"/>
            </a:solidFill>
            <a:prstDash val="solid"/>
          </a:ln>
        </p:spPr>
      </p:sp>
      <p:sp>
        <p:nvSpPr>
          <p:cNvPr id="26" name="Text 24"/>
          <p:cNvSpPr txBox="1"/>
          <p:nvPr/>
        </p:nvSpPr>
        <p:spPr>
          <a:xfrm>
            <a:off x="1036320" y="5181600"/>
            <a:ext cx="10119360" cy="7924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a:solidFill>
                  <a:srgbClr val="FFFFFF"/>
                </a:solidFill>
                <a:latin typeface="Calibri" pitchFamily="34" charset="0"/>
                <a:ea typeface="Calibri" pitchFamily="34" charset="-122"/>
                <a:cs typeface="Calibri" pitchFamily="34" charset="-120"/>
              </a:rPr>
              <a:t>Tiers are 25% each in training and about 25% in test, so a plain random split is enough.</a:t>
            </a:r>
            <a:endParaRPr lang="en-US" sz="1733"/>
          </a:p>
        </p:txBody>
      </p:sp>
    </p:spTree>
    <p:extLst>
      <p:ext uri="{BB962C8B-B14F-4D97-AF65-F5344CB8AC3E}">
        <p14:creationId xmlns:p14="http://schemas.microsoft.com/office/powerpoint/2010/main" val="465734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Baseline Models and Results</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Logistic regression nearly doubles the majority-class accuracy</a:t>
            </a:r>
            <a:endParaRPr lang="en-US" sz="1867"/>
          </a:p>
        </p:txBody>
      </p:sp>
      <p:graphicFrame>
        <p:nvGraphicFramePr>
          <p:cNvPr id="5" name="Chart 0"/>
          <p:cNvGraphicFramePr/>
          <p:nvPr/>
        </p:nvGraphicFramePr>
        <p:xfrm>
          <a:off x="609600" y="1828800"/>
          <a:ext cx="6949440" cy="4145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924800" y="2011680"/>
            <a:ext cx="3535680" cy="39014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spcAft>
                <a:spcPts val="267"/>
              </a:spcAft>
              <a:buNone/>
            </a:pPr>
            <a:r>
              <a:rPr lang="en-US" sz="1733" b="1">
                <a:solidFill>
                  <a:srgbClr val="C4561F"/>
                </a:solidFill>
                <a:latin typeface="Cambria" pitchFamily="34" charset="0"/>
                <a:ea typeface="Cambria" pitchFamily="34" charset="-122"/>
                <a:cs typeface="Cambria" pitchFamily="34" charset="-120"/>
              </a:rPr>
              <a:t>Why these baselines</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The dummy sets the floor (about 25%). Logistic regression is simple and interpretable.</a:t>
            </a:r>
            <a:endParaRPr lang="en-US" sz="1600"/>
          </a:p>
          <a:p>
            <a:pPr marL="0" indent="0">
              <a:spcAft>
                <a:spcPts val="267"/>
              </a:spcAft>
              <a:buNone/>
            </a:pPr>
            <a:r>
              <a:rPr lang="en-US" sz="1733" b="1">
                <a:solidFill>
                  <a:srgbClr val="C4561F"/>
                </a:solidFill>
                <a:latin typeface="Cambria" pitchFamily="34" charset="0"/>
                <a:ea typeface="Cambria" pitchFamily="34" charset="-122"/>
                <a:cs typeface="Cambria" pitchFamily="34" charset="-120"/>
              </a:rPr>
              <a:t>Why these metrics</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Macro averages weight all four tiers equally.</a:t>
            </a:r>
            <a:endParaRPr lang="en-US" sz="1600"/>
          </a:p>
          <a:p>
            <a:pPr marL="0" indent="0">
              <a:spcAft>
                <a:spcPts val="267"/>
              </a:spcAft>
              <a:buNone/>
            </a:pPr>
            <a:r>
              <a:rPr lang="en-US" sz="1733" b="1">
                <a:solidFill>
                  <a:srgbClr val="C4561F"/>
                </a:solidFill>
                <a:latin typeface="Cambria" pitchFamily="34" charset="0"/>
                <a:ea typeface="Cambria" pitchFamily="34" charset="-122"/>
                <a:cs typeface="Cambria" pitchFamily="34" charset="-120"/>
              </a:rPr>
              <a:t>Result</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Accuracy 0.249 → 0.418; macro F1 0.100 → 0.392</a:t>
            </a:r>
            <a:endParaRPr lang="en-US" sz="1600"/>
          </a:p>
        </p:txBody>
      </p:sp>
    </p:spTree>
    <p:extLst>
      <p:ext uri="{BB962C8B-B14F-4D97-AF65-F5344CB8AC3E}">
        <p14:creationId xmlns:p14="http://schemas.microsoft.com/office/powerpoint/2010/main" val="2045538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7924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4000" b="1">
                <a:solidFill>
                  <a:srgbClr val="0F2A3D"/>
                </a:solidFill>
                <a:latin typeface="Cambria" pitchFamily="34" charset="0"/>
                <a:ea typeface="Cambria" pitchFamily="34" charset="-122"/>
                <a:cs typeface="Cambria" pitchFamily="34" charset="-120"/>
              </a:rPr>
              <a:t>Baseline Error Analysis</a:t>
            </a:r>
            <a:endParaRPr lang="en-US" sz="4000"/>
          </a:p>
        </p:txBody>
      </p:sp>
      <p:sp>
        <p:nvSpPr>
          <p:cNvPr id="3" name="Text 1"/>
          <p:cNvSpPr txBox="1"/>
          <p:nvPr/>
        </p:nvSpPr>
        <p:spPr>
          <a:xfrm>
            <a:off x="609600" y="1194816"/>
            <a:ext cx="1097280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i="1">
                <a:solidFill>
                  <a:srgbClr val="0E7C86"/>
                </a:solidFill>
                <a:latin typeface="Calibri" pitchFamily="34" charset="0"/>
                <a:ea typeface="Calibri" pitchFamily="34" charset="-122"/>
                <a:cs typeface="Calibri" pitchFamily="34" charset="-120"/>
              </a:rPr>
              <a:t>Upper-Mid is the hardest tier; the model leans toward High</a:t>
            </a:r>
            <a:endParaRPr lang="en-US" sz="2133"/>
          </a:p>
        </p:txBody>
      </p:sp>
      <p:sp>
        <p:nvSpPr>
          <p:cNvPr id="5" name="Text 2"/>
          <p:cNvSpPr txBox="1"/>
          <p:nvPr/>
        </p:nvSpPr>
        <p:spPr>
          <a:xfrm>
            <a:off x="6461760" y="2011680"/>
            <a:ext cx="4876800" cy="4267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b="1">
                <a:solidFill>
                  <a:srgbClr val="0F2A3D"/>
                </a:solidFill>
                <a:latin typeface="Cambria" pitchFamily="34" charset="0"/>
                <a:ea typeface="Cambria" pitchFamily="34" charset="-122"/>
                <a:cs typeface="Cambria" pitchFamily="34" charset="-120"/>
              </a:rPr>
              <a:t>Recall by tier</a:t>
            </a:r>
            <a:endParaRPr lang="en-US" sz="2133"/>
          </a:p>
        </p:txBody>
      </p:sp>
      <p:sp>
        <p:nvSpPr>
          <p:cNvPr id="6" name="Text 3"/>
          <p:cNvSpPr txBox="1"/>
          <p:nvPr/>
        </p:nvSpPr>
        <p:spPr>
          <a:xfrm>
            <a:off x="6461760" y="2560320"/>
            <a:ext cx="14630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50">
                <a:solidFill>
                  <a:srgbClr val="0F2A3D"/>
                </a:solidFill>
                <a:latin typeface="Calibri"/>
                <a:ea typeface="Calibri"/>
                <a:cs typeface="Calibri"/>
              </a:rPr>
              <a:t>High</a:t>
            </a:r>
            <a:endParaRPr lang="en-US"/>
          </a:p>
        </p:txBody>
      </p:sp>
      <p:sp>
        <p:nvSpPr>
          <p:cNvPr id="7" name="RecBar0"/>
          <p:cNvSpPr/>
          <p:nvPr/>
        </p:nvSpPr>
        <p:spPr>
          <a:xfrm>
            <a:off x="7924800" y="2596896"/>
            <a:ext cx="2717075" cy="365760"/>
          </a:xfrm>
          <a:prstGeom prst="rect">
            <a:avLst/>
          </a:prstGeom>
          <a:solidFill>
            <a:srgbClr val="0E7C86"/>
          </a:solidFill>
          <a:ln w="12700">
            <a:solidFill>
              <a:srgbClr val="0E7C86"/>
            </a:solidFill>
            <a:prstDash val="solid"/>
          </a:ln>
        </p:spPr>
        <p:txBody>
          <a:bodyPr/>
          <a:lstStyle/>
          <a:p>
            <a:endParaRPr lang="en-US"/>
          </a:p>
        </p:txBody>
      </p:sp>
      <p:sp>
        <p:nvSpPr>
          <p:cNvPr id="8" name="Text 5"/>
          <p:cNvSpPr txBox="1"/>
          <p:nvPr/>
        </p:nvSpPr>
        <p:spPr>
          <a:xfrm>
            <a:off x="10739411" y="2560320"/>
            <a:ext cx="8534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0F2A3D"/>
                </a:solidFill>
                <a:latin typeface="Calibri" pitchFamily="34" charset="0"/>
                <a:ea typeface="Calibri" pitchFamily="34" charset="-122"/>
                <a:cs typeface="Calibri" pitchFamily="34" charset="-120"/>
              </a:rPr>
              <a:t>65%</a:t>
            </a:r>
            <a:endParaRPr lang="en-US" sz="1867"/>
          </a:p>
        </p:txBody>
      </p:sp>
      <p:sp>
        <p:nvSpPr>
          <p:cNvPr id="9" name="Text 6"/>
          <p:cNvSpPr txBox="1"/>
          <p:nvPr/>
        </p:nvSpPr>
        <p:spPr>
          <a:xfrm>
            <a:off x="6461760" y="3169920"/>
            <a:ext cx="14630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50">
                <a:solidFill>
                  <a:srgbClr val="0F2A3D"/>
                </a:solidFill>
                <a:latin typeface="Calibri"/>
                <a:ea typeface="Calibri"/>
                <a:cs typeface="Calibri"/>
              </a:rPr>
              <a:t>Low</a:t>
            </a:r>
            <a:endParaRPr lang="en-US"/>
          </a:p>
        </p:txBody>
      </p:sp>
      <p:sp>
        <p:nvSpPr>
          <p:cNvPr id="10" name="RecBar1"/>
          <p:cNvSpPr/>
          <p:nvPr/>
        </p:nvSpPr>
        <p:spPr>
          <a:xfrm>
            <a:off x="7924800" y="3206496"/>
            <a:ext cx="2257261" cy="365760"/>
          </a:xfrm>
          <a:prstGeom prst="rect">
            <a:avLst/>
          </a:prstGeom>
          <a:solidFill>
            <a:srgbClr val="0E7C86"/>
          </a:solidFill>
          <a:ln w="12700">
            <a:solidFill>
              <a:srgbClr val="0E7C86"/>
            </a:solidFill>
            <a:prstDash val="solid"/>
          </a:ln>
        </p:spPr>
        <p:txBody>
          <a:bodyPr/>
          <a:lstStyle/>
          <a:p>
            <a:endParaRPr lang="en-US"/>
          </a:p>
        </p:txBody>
      </p:sp>
      <p:sp>
        <p:nvSpPr>
          <p:cNvPr id="11" name="Text 8"/>
          <p:cNvSpPr txBox="1"/>
          <p:nvPr/>
        </p:nvSpPr>
        <p:spPr>
          <a:xfrm>
            <a:off x="10279597" y="3169920"/>
            <a:ext cx="8534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0F2A3D"/>
                </a:solidFill>
                <a:latin typeface="Calibri" pitchFamily="34" charset="0"/>
                <a:ea typeface="Calibri" pitchFamily="34" charset="-122"/>
                <a:cs typeface="Calibri" pitchFamily="34" charset="-120"/>
              </a:rPr>
              <a:t>54%</a:t>
            </a:r>
            <a:endParaRPr lang="en-US" sz="1867"/>
          </a:p>
        </p:txBody>
      </p:sp>
      <p:sp>
        <p:nvSpPr>
          <p:cNvPr id="12" name="Text 9"/>
          <p:cNvSpPr txBox="1"/>
          <p:nvPr/>
        </p:nvSpPr>
        <p:spPr>
          <a:xfrm>
            <a:off x="6461760" y="3779520"/>
            <a:ext cx="14630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50">
                <a:solidFill>
                  <a:srgbClr val="0F2A3D"/>
                </a:solidFill>
                <a:latin typeface="Calibri"/>
                <a:ea typeface="Calibri"/>
                <a:cs typeface="Calibri"/>
              </a:rPr>
              <a:t>Lower-Mid</a:t>
            </a:r>
            <a:endParaRPr lang="en-US"/>
          </a:p>
        </p:txBody>
      </p:sp>
      <p:sp>
        <p:nvSpPr>
          <p:cNvPr id="13" name="RecBar2"/>
          <p:cNvSpPr/>
          <p:nvPr/>
        </p:nvSpPr>
        <p:spPr>
          <a:xfrm>
            <a:off x="7924801" y="3816096"/>
            <a:ext cx="1588444" cy="365760"/>
          </a:xfrm>
          <a:prstGeom prst="rect">
            <a:avLst/>
          </a:prstGeom>
          <a:solidFill>
            <a:srgbClr val="0E7C86"/>
          </a:solidFill>
          <a:ln w="12700">
            <a:solidFill>
              <a:srgbClr val="0E7C86"/>
            </a:solidFill>
            <a:prstDash val="solid"/>
          </a:ln>
        </p:spPr>
        <p:txBody>
          <a:bodyPr/>
          <a:lstStyle/>
          <a:p>
            <a:endParaRPr lang="en-US"/>
          </a:p>
        </p:txBody>
      </p:sp>
      <p:sp>
        <p:nvSpPr>
          <p:cNvPr id="14" name="Text 11"/>
          <p:cNvSpPr txBox="1"/>
          <p:nvPr/>
        </p:nvSpPr>
        <p:spPr>
          <a:xfrm>
            <a:off x="9610780" y="3779520"/>
            <a:ext cx="8534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0F2A3D"/>
                </a:solidFill>
                <a:latin typeface="Calibri" pitchFamily="34" charset="0"/>
                <a:ea typeface="Calibri" pitchFamily="34" charset="-122"/>
                <a:cs typeface="Calibri" pitchFamily="34" charset="-120"/>
              </a:rPr>
              <a:t>38%</a:t>
            </a:r>
            <a:endParaRPr lang="en-US" sz="1867"/>
          </a:p>
        </p:txBody>
      </p:sp>
      <p:sp>
        <p:nvSpPr>
          <p:cNvPr id="15" name="Text 12"/>
          <p:cNvSpPr txBox="1"/>
          <p:nvPr/>
        </p:nvSpPr>
        <p:spPr>
          <a:xfrm>
            <a:off x="6461760" y="4389120"/>
            <a:ext cx="14630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50">
                <a:solidFill>
                  <a:srgbClr val="0F2A3D"/>
                </a:solidFill>
                <a:latin typeface="Calibri"/>
                <a:ea typeface="Calibri"/>
                <a:cs typeface="Calibri"/>
              </a:rPr>
              <a:t>Upper-Mid</a:t>
            </a:r>
            <a:endParaRPr lang="en-US"/>
          </a:p>
        </p:txBody>
      </p:sp>
      <p:sp>
        <p:nvSpPr>
          <p:cNvPr id="16" name="RecBar3"/>
          <p:cNvSpPr/>
          <p:nvPr/>
        </p:nvSpPr>
        <p:spPr>
          <a:xfrm>
            <a:off x="7924801" y="4425696"/>
            <a:ext cx="418012" cy="365760"/>
          </a:xfrm>
          <a:prstGeom prst="rect">
            <a:avLst/>
          </a:prstGeom>
          <a:solidFill>
            <a:srgbClr val="C8553D"/>
          </a:solidFill>
          <a:ln w="12700">
            <a:solidFill>
              <a:srgbClr val="C8553D"/>
            </a:solidFill>
            <a:prstDash val="solid"/>
          </a:ln>
        </p:spPr>
        <p:txBody>
          <a:bodyPr/>
          <a:lstStyle/>
          <a:p>
            <a:endParaRPr lang="en-US"/>
          </a:p>
        </p:txBody>
      </p:sp>
      <p:sp>
        <p:nvSpPr>
          <p:cNvPr id="17" name="Text 14"/>
          <p:cNvSpPr txBox="1"/>
          <p:nvPr/>
        </p:nvSpPr>
        <p:spPr>
          <a:xfrm>
            <a:off x="8440348" y="4389120"/>
            <a:ext cx="8534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a:solidFill>
                  <a:srgbClr val="0F2A3D"/>
                </a:solidFill>
                <a:latin typeface="Calibri" pitchFamily="34" charset="0"/>
                <a:ea typeface="Calibri" pitchFamily="34" charset="-122"/>
                <a:cs typeface="Calibri" pitchFamily="34" charset="-120"/>
              </a:rPr>
              <a:t>10%</a:t>
            </a:r>
            <a:endParaRPr lang="en-US" sz="1867"/>
          </a:p>
        </p:txBody>
      </p:sp>
      <p:sp>
        <p:nvSpPr>
          <p:cNvPr id="18" name="Text 15"/>
          <p:cNvSpPr txBox="1"/>
          <p:nvPr/>
        </p:nvSpPr>
        <p:spPr>
          <a:xfrm>
            <a:off x="6461760" y="5120640"/>
            <a:ext cx="5120640" cy="12192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700">
                <a:solidFill>
                  <a:srgbClr val="0F2A3D"/>
                </a:solidFill>
                <a:latin typeface="Calibri"/>
                <a:ea typeface="Calibri"/>
                <a:cs typeface="Calibri"/>
              </a:rPr>
              <a:t>~ 1,810 of 3,613 Upper-Mid records are predicted as High most of the time. </a:t>
            </a:r>
            <a:endParaRPr lang="en-US" sz="1700" dirty="0">
              <a:solidFill>
                <a:srgbClr val="12202F"/>
              </a:solidFill>
              <a:latin typeface="Calibri"/>
              <a:ea typeface="Calibri"/>
              <a:cs typeface="Calibri"/>
            </a:endParaRPr>
          </a:p>
          <a:p>
            <a:r>
              <a:rPr lang="en-US" sz="1700">
                <a:solidFill>
                  <a:srgbClr val="0F2A3D"/>
                </a:solidFill>
                <a:latin typeface="Calibri"/>
                <a:ea typeface="Calibri"/>
                <a:cs typeface="Calibri"/>
              </a:rPr>
              <a:t>~ Errors are not only in neighbor tiers (1,276 </a:t>
            </a:r>
            <a:r>
              <a:rPr lang="en-US" sz="1700" dirty="0">
                <a:solidFill>
                  <a:srgbClr val="0F2A3D"/>
                </a:solidFill>
                <a:latin typeface="Calibri"/>
                <a:ea typeface="Calibri"/>
                <a:cs typeface="Calibri"/>
              </a:rPr>
              <a:t>Lower-Mid predicted High).</a:t>
            </a:r>
            <a:endParaRPr lang="en-US" sz="1700">
              <a:latin typeface="Calibri"/>
              <a:ea typeface="Calibri"/>
              <a:cs typeface="Calibri"/>
            </a:endParaRPr>
          </a:p>
        </p:txBody>
      </p:sp>
      <p:pic>
        <p:nvPicPr>
          <p:cNvPr id="19" name="Picture 18">
            <a:extLst>
              <a:ext uri="{FF2B5EF4-FFF2-40B4-BE49-F238E27FC236}">
                <a16:creationId xmlns:a16="http://schemas.microsoft.com/office/drawing/2014/main" id="{4EDA6385-2770-5365-F901-F17FD51FC463}"/>
              </a:ext>
            </a:extLst>
          </p:cNvPr>
          <p:cNvPicPr>
            <a:picLocks noChangeAspect="1"/>
          </p:cNvPicPr>
          <p:nvPr/>
        </p:nvPicPr>
        <p:blipFill>
          <a:blip r:embed="rId3"/>
          <a:stretch>
            <a:fillRect/>
          </a:stretch>
        </p:blipFill>
        <p:spPr>
          <a:xfrm>
            <a:off x="138539" y="1509622"/>
            <a:ext cx="6106469" cy="5161472"/>
          </a:xfrm>
          <a:prstGeom prst="rect">
            <a:avLst/>
          </a:prstGeom>
        </p:spPr>
      </p:pic>
    </p:spTree>
    <p:extLst>
      <p:ext uri="{BB962C8B-B14F-4D97-AF65-F5344CB8AC3E}">
        <p14:creationId xmlns:p14="http://schemas.microsoft.com/office/powerpoint/2010/main" val="3913676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Model Selection: Challengers to the Baseline</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Each model tests a different idea, and all are scored on the same held-out test set</a:t>
            </a:r>
            <a:endParaRPr lang="en-US" sz="1867"/>
          </a:p>
        </p:txBody>
      </p:sp>
      <p:sp>
        <p:nvSpPr>
          <p:cNvPr id="5" name="Shape 3"/>
          <p:cNvSpPr/>
          <p:nvPr/>
        </p:nvSpPr>
        <p:spPr>
          <a:xfrm>
            <a:off x="731520" y="2011680"/>
            <a:ext cx="3413760" cy="2987040"/>
          </a:xfrm>
          <a:prstGeom prst="roundRect">
            <a:avLst>
              <a:gd name="adj" fmla="val 3265"/>
            </a:avLst>
          </a:prstGeom>
          <a:solidFill>
            <a:srgbClr val="FFFFFF"/>
          </a:solidFill>
          <a:ln w="9525">
            <a:solidFill>
              <a:srgbClr val="E8E4DA"/>
            </a:solidFill>
            <a:prstDash val="solid"/>
          </a:ln>
        </p:spPr>
      </p:sp>
      <p:sp>
        <p:nvSpPr>
          <p:cNvPr id="6" name="Shape 4"/>
          <p:cNvSpPr/>
          <p:nvPr/>
        </p:nvSpPr>
        <p:spPr>
          <a:xfrm>
            <a:off x="975360" y="2255520"/>
            <a:ext cx="609600" cy="73152"/>
          </a:xfrm>
          <a:prstGeom prst="rect">
            <a:avLst/>
          </a:prstGeom>
          <a:solidFill>
            <a:srgbClr val="E4733B"/>
          </a:solidFill>
          <a:ln w="12700">
            <a:solidFill>
              <a:srgbClr val="E4733B"/>
            </a:solidFill>
            <a:prstDash val="solid"/>
          </a:ln>
        </p:spPr>
      </p:sp>
      <p:sp>
        <p:nvSpPr>
          <p:cNvPr id="7" name="Text 5"/>
          <p:cNvSpPr txBox="1"/>
          <p:nvPr/>
        </p:nvSpPr>
        <p:spPr>
          <a:xfrm>
            <a:off x="975360" y="2414016"/>
            <a:ext cx="298704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b="1">
                <a:solidFill>
                  <a:srgbClr val="0F2A3D"/>
                </a:solidFill>
                <a:latin typeface="Cambria" pitchFamily="34" charset="0"/>
                <a:ea typeface="Cambria" pitchFamily="34" charset="-122"/>
                <a:cs typeface="Cambria" pitchFamily="34" charset="-120"/>
              </a:rPr>
              <a:t>Random Forest</a:t>
            </a:r>
            <a:endParaRPr lang="en-US" sz="2133"/>
          </a:p>
        </p:txBody>
      </p:sp>
      <p:sp>
        <p:nvSpPr>
          <p:cNvPr id="8" name="Text 6"/>
          <p:cNvSpPr txBox="1"/>
          <p:nvPr/>
        </p:nvSpPr>
        <p:spPr>
          <a:xfrm>
            <a:off x="975360" y="2987040"/>
            <a:ext cx="2987040" cy="19507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spcAft>
                <a:spcPts val="667"/>
              </a:spcAft>
              <a:buNone/>
            </a:pPr>
            <a:r>
              <a:rPr lang="en-US" sz="1600">
                <a:solidFill>
                  <a:srgbClr val="0F2A3D"/>
                </a:solidFill>
                <a:latin typeface="Calibri" pitchFamily="34" charset="0"/>
                <a:ea typeface="Calibri" pitchFamily="34" charset="-122"/>
                <a:cs typeface="Calibri" pitchFamily="34" charset="-120"/>
              </a:rPr>
              <a:t>300 trees, balanced class weights.</a:t>
            </a:r>
            <a:endParaRPr lang="en-US" sz="1600"/>
          </a:p>
          <a:p>
            <a:pPr marL="0" indent="0">
              <a:spcAft>
                <a:spcPts val="667"/>
              </a:spcAft>
              <a:buNone/>
            </a:pPr>
            <a:r>
              <a:rPr lang="en-US" sz="1600">
                <a:solidFill>
                  <a:srgbClr val="0F2A3D"/>
                </a:solidFill>
                <a:latin typeface="Calibri" pitchFamily="34" charset="0"/>
                <a:ea typeface="Calibri" pitchFamily="34" charset="-122"/>
                <a:cs typeface="Calibri" pitchFamily="34" charset="-120"/>
              </a:rPr>
              <a:t>Why: captures nonlinear interactions between role, location and seniority.</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Limit: harder to interpret.</a:t>
            </a:r>
            <a:endParaRPr lang="en-US" sz="1600"/>
          </a:p>
        </p:txBody>
      </p:sp>
      <p:sp>
        <p:nvSpPr>
          <p:cNvPr id="9" name="Shape 7"/>
          <p:cNvSpPr/>
          <p:nvPr/>
        </p:nvSpPr>
        <p:spPr>
          <a:xfrm>
            <a:off x="4389120" y="2011680"/>
            <a:ext cx="3413760" cy="2987040"/>
          </a:xfrm>
          <a:prstGeom prst="roundRect">
            <a:avLst>
              <a:gd name="adj" fmla="val 3265"/>
            </a:avLst>
          </a:prstGeom>
          <a:solidFill>
            <a:srgbClr val="FFFFFF"/>
          </a:solidFill>
          <a:ln w="9525">
            <a:solidFill>
              <a:srgbClr val="E8E4DA"/>
            </a:solidFill>
            <a:prstDash val="solid"/>
          </a:ln>
        </p:spPr>
      </p:sp>
      <p:sp>
        <p:nvSpPr>
          <p:cNvPr id="10" name="Shape 8"/>
          <p:cNvSpPr/>
          <p:nvPr/>
        </p:nvSpPr>
        <p:spPr>
          <a:xfrm>
            <a:off x="4632960" y="2255520"/>
            <a:ext cx="609600" cy="73152"/>
          </a:xfrm>
          <a:prstGeom prst="rect">
            <a:avLst/>
          </a:prstGeom>
          <a:solidFill>
            <a:srgbClr val="E4733B"/>
          </a:solidFill>
          <a:ln w="12700">
            <a:solidFill>
              <a:srgbClr val="E4733B"/>
            </a:solidFill>
            <a:prstDash val="solid"/>
          </a:ln>
        </p:spPr>
      </p:sp>
      <p:sp>
        <p:nvSpPr>
          <p:cNvPr id="11" name="Text 9"/>
          <p:cNvSpPr txBox="1"/>
          <p:nvPr/>
        </p:nvSpPr>
        <p:spPr>
          <a:xfrm>
            <a:off x="4632960" y="2414016"/>
            <a:ext cx="298704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b="1">
                <a:solidFill>
                  <a:srgbClr val="0F2A3D"/>
                </a:solidFill>
                <a:latin typeface="Cambria" pitchFamily="34" charset="0"/>
                <a:ea typeface="Cambria" pitchFamily="34" charset="-122"/>
                <a:cs typeface="Cambria" pitchFamily="34" charset="-120"/>
              </a:rPr>
              <a:t>Boosting &amp; XGBoost</a:t>
            </a:r>
            <a:endParaRPr lang="en-US" sz="2133"/>
          </a:p>
        </p:txBody>
      </p:sp>
      <p:sp>
        <p:nvSpPr>
          <p:cNvPr id="12" name="Text 10"/>
          <p:cNvSpPr txBox="1"/>
          <p:nvPr/>
        </p:nvSpPr>
        <p:spPr>
          <a:xfrm>
            <a:off x="4632960" y="2987040"/>
            <a:ext cx="2987040" cy="19507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spcAft>
                <a:spcPts val="667"/>
              </a:spcAft>
              <a:buNone/>
            </a:pPr>
            <a:r>
              <a:rPr lang="en-US" sz="1600">
                <a:solidFill>
                  <a:srgbClr val="0F2A3D"/>
                </a:solidFill>
                <a:latin typeface="Calibri" pitchFamily="34" charset="0"/>
                <a:ea typeface="Calibri" pitchFamily="34" charset="-122"/>
                <a:cs typeface="Calibri" pitchFamily="34" charset="-120"/>
              </a:rPr>
              <a:t>scikit-learn defaults; XGBoost with 400 trees, depth 6.</a:t>
            </a:r>
            <a:endParaRPr lang="en-US" sz="1600"/>
          </a:p>
          <a:p>
            <a:pPr marL="0" indent="0">
              <a:spcAft>
                <a:spcPts val="667"/>
              </a:spcAft>
              <a:buNone/>
            </a:pPr>
            <a:r>
              <a:rPr lang="en-US" sz="1600">
                <a:solidFill>
                  <a:srgbClr val="0F2A3D"/>
                </a:solidFill>
                <a:latin typeface="Calibri" pitchFamily="34" charset="0"/>
                <a:ea typeface="Calibri" pitchFamily="34" charset="-122"/>
                <a:cs typeface="Calibri" pitchFamily="34" charset="-120"/>
              </a:rPr>
              <a:t>Why: each tree fixes the last one's errors; XGBoost handles thousands of sparse title features quickly.</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Limit: slower and can overfit.</a:t>
            </a:r>
            <a:endParaRPr lang="en-US" sz="1600"/>
          </a:p>
        </p:txBody>
      </p:sp>
      <p:sp>
        <p:nvSpPr>
          <p:cNvPr id="13" name="Shape 11"/>
          <p:cNvSpPr/>
          <p:nvPr/>
        </p:nvSpPr>
        <p:spPr>
          <a:xfrm>
            <a:off x="8046720" y="2011680"/>
            <a:ext cx="3413760" cy="2987040"/>
          </a:xfrm>
          <a:prstGeom prst="roundRect">
            <a:avLst>
              <a:gd name="adj" fmla="val 3265"/>
            </a:avLst>
          </a:prstGeom>
          <a:solidFill>
            <a:srgbClr val="FFFFFF"/>
          </a:solidFill>
          <a:ln w="9525">
            <a:solidFill>
              <a:srgbClr val="E8E4DA"/>
            </a:solidFill>
            <a:prstDash val="solid"/>
          </a:ln>
        </p:spPr>
      </p:sp>
      <p:sp>
        <p:nvSpPr>
          <p:cNvPr id="14" name="Shape 12"/>
          <p:cNvSpPr/>
          <p:nvPr/>
        </p:nvSpPr>
        <p:spPr>
          <a:xfrm>
            <a:off x="8290560" y="2255520"/>
            <a:ext cx="609600" cy="73152"/>
          </a:xfrm>
          <a:prstGeom prst="rect">
            <a:avLst/>
          </a:prstGeom>
          <a:solidFill>
            <a:srgbClr val="E4733B"/>
          </a:solidFill>
          <a:ln w="12700">
            <a:solidFill>
              <a:srgbClr val="E4733B"/>
            </a:solidFill>
            <a:prstDash val="solid"/>
          </a:ln>
        </p:spPr>
      </p:sp>
      <p:sp>
        <p:nvSpPr>
          <p:cNvPr id="15" name="Text 13"/>
          <p:cNvSpPr txBox="1"/>
          <p:nvPr/>
        </p:nvSpPr>
        <p:spPr>
          <a:xfrm>
            <a:off x="8290560" y="2414016"/>
            <a:ext cx="298704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b="1">
                <a:solidFill>
                  <a:srgbClr val="0F2A3D"/>
                </a:solidFill>
                <a:latin typeface="Cambria" pitchFamily="34" charset="0"/>
                <a:ea typeface="Cambria" pitchFamily="34" charset="-122"/>
                <a:cs typeface="Cambria" pitchFamily="34" charset="-120"/>
              </a:rPr>
              <a:t>Logistic + ILO score</a:t>
            </a:r>
            <a:endParaRPr lang="en-US" sz="2133"/>
          </a:p>
        </p:txBody>
      </p:sp>
      <p:sp>
        <p:nvSpPr>
          <p:cNvPr id="16" name="Text 14"/>
          <p:cNvSpPr txBox="1"/>
          <p:nvPr/>
        </p:nvSpPr>
        <p:spPr>
          <a:xfrm>
            <a:off x="8290560" y="2987040"/>
            <a:ext cx="2987040" cy="19507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spcAft>
                <a:spcPts val="667"/>
              </a:spcAft>
              <a:buNone/>
            </a:pPr>
            <a:r>
              <a:rPr lang="en-US" sz="1600">
                <a:solidFill>
                  <a:srgbClr val="0F2A3D"/>
                </a:solidFill>
                <a:latin typeface="Calibri" pitchFamily="34" charset="0"/>
                <a:ea typeface="Calibri" pitchFamily="34" charset="-122"/>
                <a:cs typeface="Calibri" pitchFamily="34" charset="-120"/>
              </a:rPr>
              <a:t>Adds the Gmyrek exposure score.</a:t>
            </a:r>
            <a:endParaRPr lang="en-US" sz="1600"/>
          </a:p>
          <a:p>
            <a:pPr marL="0" indent="0">
              <a:spcAft>
                <a:spcPts val="667"/>
              </a:spcAft>
              <a:buNone/>
            </a:pPr>
            <a:r>
              <a:rPr lang="en-US" sz="1600">
                <a:solidFill>
                  <a:srgbClr val="0F2A3D"/>
                </a:solidFill>
                <a:latin typeface="Calibri" pitchFamily="34" charset="0"/>
                <a:ea typeface="Calibri" pitchFamily="34" charset="-122"/>
                <a:cs typeface="Calibri" pitchFamily="34" charset="-120"/>
              </a:rPr>
              <a:t>Why: directly tests the project's AI question.</a:t>
            </a:r>
            <a:endParaRPr lang="en-US" sz="1600"/>
          </a:p>
          <a:p>
            <a:pPr marL="0" indent="0">
              <a:spcAft>
                <a:spcPts val="1200"/>
              </a:spcAft>
              <a:buNone/>
            </a:pPr>
            <a:r>
              <a:rPr lang="en-US" sz="1600">
                <a:solidFill>
                  <a:srgbClr val="0F2A3D"/>
                </a:solidFill>
                <a:latin typeface="Calibri" pitchFamily="34" charset="0"/>
                <a:ea typeface="Calibri" pitchFamily="34" charset="-122"/>
                <a:cs typeface="Calibri" pitchFamily="34" charset="-120"/>
              </a:rPr>
              <a:t>Limit: only 5 distinct values, 56% missing.</a:t>
            </a:r>
            <a:endParaRPr lang="en-US" sz="1600"/>
          </a:p>
        </p:txBody>
      </p:sp>
      <p:sp>
        <p:nvSpPr>
          <p:cNvPr id="17" name="Shape 15"/>
          <p:cNvSpPr/>
          <p:nvPr/>
        </p:nvSpPr>
        <p:spPr>
          <a:xfrm>
            <a:off x="731520" y="5181600"/>
            <a:ext cx="10728960" cy="914400"/>
          </a:xfrm>
          <a:prstGeom prst="roundRect">
            <a:avLst>
              <a:gd name="adj" fmla="val 10667"/>
            </a:avLst>
          </a:prstGeom>
          <a:solidFill>
            <a:srgbClr val="FBE6DA"/>
          </a:solidFill>
          <a:ln w="9525">
            <a:solidFill>
              <a:srgbClr val="FBE6DA"/>
            </a:solidFill>
            <a:prstDash val="solid"/>
          </a:ln>
        </p:spPr>
      </p:sp>
      <p:sp>
        <p:nvSpPr>
          <p:cNvPr id="18" name="Text 16"/>
          <p:cNvSpPr txBox="1"/>
          <p:nvPr/>
        </p:nvSpPr>
        <p:spPr>
          <a:xfrm>
            <a:off x="975360" y="5181600"/>
            <a:ext cx="10241280" cy="914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00" b="1">
                <a:solidFill>
                  <a:srgbClr val="C4561F"/>
                </a:solidFill>
                <a:latin typeface="Calibri"/>
                <a:ea typeface="Calibri"/>
                <a:cs typeface="Calibri"/>
              </a:rPr>
              <a:t>Setup: </a:t>
            </a:r>
            <a:r>
              <a:rPr lang="en-US" sz="1500">
                <a:solidFill>
                  <a:srgbClr val="0F2A3D"/>
                </a:solidFill>
                <a:latin typeface="Calibri"/>
                <a:ea typeface="Calibri"/>
                <a:cs typeface="Calibri"/>
              </a:rPr>
              <a:t>every model, including the baseline, is re-scored on one stratified 80/20 split (seed 42, 14,383 test rows), with tier cut-offs from training data only. Design choices use 5-fold CV on training data; the test set is used once.</a:t>
            </a:r>
            <a:endParaRPr lang="en-US" sz="1500">
              <a:latin typeface="Calibri"/>
              <a:ea typeface="Calibri"/>
              <a:cs typeface="Calibri"/>
            </a:endParaRPr>
          </a:p>
        </p:txBody>
      </p:sp>
    </p:spTree>
    <p:extLst>
      <p:ext uri="{BB962C8B-B14F-4D97-AF65-F5344CB8AC3E}">
        <p14:creationId xmlns:p14="http://schemas.microsoft.com/office/powerpoint/2010/main" val="4164917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txBox="1"/>
          <p:nvPr/>
        </p:nvSpPr>
        <p:spPr>
          <a:xfrm>
            <a:off x="731520" y="658368"/>
            <a:ext cx="107289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600" b="1">
                <a:solidFill>
                  <a:srgbClr val="0F2A3D"/>
                </a:solidFill>
                <a:latin typeface="Cambria" pitchFamily="34" charset="0"/>
                <a:ea typeface="Cambria" pitchFamily="34" charset="-122"/>
                <a:cs typeface="Cambria" pitchFamily="34" charset="-120"/>
              </a:rPr>
              <a:t>Additional Preprocessing: Adding AI Exposure</a:t>
            </a:r>
            <a:endParaRPr lang="en-US" sz="3600"/>
          </a:p>
        </p:txBody>
      </p:sp>
      <p:sp>
        <p:nvSpPr>
          <p:cNvPr id="4" name="Text 2"/>
          <p:cNvSpPr txBox="1"/>
          <p:nvPr/>
        </p:nvSpPr>
        <p:spPr>
          <a:xfrm>
            <a:off x="731520" y="1365504"/>
            <a:ext cx="10728960" cy="3901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i="1">
                <a:solidFill>
                  <a:srgbClr val="5E666C"/>
                </a:solidFill>
                <a:latin typeface="Calibri" pitchFamily="34" charset="0"/>
                <a:ea typeface="Calibri" pitchFamily="34" charset="-122"/>
                <a:cs typeface="Calibri" pitchFamily="34" charset="-120"/>
              </a:rPr>
              <a:t>Attach the ILO score to each row, then handle the gaps without leakage</a:t>
            </a:r>
            <a:endParaRPr lang="en-US" sz="1867"/>
          </a:p>
        </p:txBody>
      </p:sp>
      <p:sp>
        <p:nvSpPr>
          <p:cNvPr id="5" name="Shape 3"/>
          <p:cNvSpPr/>
          <p:nvPr/>
        </p:nvSpPr>
        <p:spPr>
          <a:xfrm>
            <a:off x="731520" y="2011680"/>
            <a:ext cx="3413760" cy="2865120"/>
          </a:xfrm>
          <a:prstGeom prst="roundRect">
            <a:avLst>
              <a:gd name="adj" fmla="val 3404"/>
            </a:avLst>
          </a:prstGeom>
          <a:solidFill>
            <a:srgbClr val="FFFFFF"/>
          </a:solidFill>
          <a:ln w="9525">
            <a:solidFill>
              <a:srgbClr val="E8E4DA"/>
            </a:solidFill>
            <a:prstDash val="solid"/>
          </a:ln>
        </p:spPr>
      </p:sp>
      <p:sp>
        <p:nvSpPr>
          <p:cNvPr id="6" name="Text 4"/>
          <p:cNvSpPr txBox="1"/>
          <p:nvPr/>
        </p:nvSpPr>
        <p:spPr>
          <a:xfrm>
            <a:off x="975360" y="2194560"/>
            <a:ext cx="292608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b="1">
                <a:solidFill>
                  <a:srgbClr val="C4561F"/>
                </a:solidFill>
                <a:latin typeface="Cambria" pitchFamily="34" charset="0"/>
                <a:ea typeface="Cambria" pitchFamily="34" charset="-122"/>
                <a:cs typeface="Cambria" pitchFamily="34" charset="-120"/>
              </a:rPr>
              <a:t>What we did</a:t>
            </a:r>
            <a:endParaRPr lang="en-US" sz="2133"/>
          </a:p>
        </p:txBody>
      </p:sp>
      <p:sp>
        <p:nvSpPr>
          <p:cNvPr id="7" name="Text 5"/>
          <p:cNvSpPr txBox="1"/>
          <p:nvPr/>
        </p:nvSpPr>
        <p:spPr>
          <a:xfrm>
            <a:off x="975360" y="2804160"/>
            <a:ext cx="2950464" cy="2011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0F2A3D"/>
                </a:solidFill>
                <a:latin typeface="Calibri" pitchFamily="34" charset="0"/>
                <a:ea typeface="Calibri" pitchFamily="34" charset="-122"/>
                <a:cs typeface="Calibri" pitchFamily="34" charset="-120"/>
              </a:rPr>
              <a:t>Mapped each isco_group_hint to its averaged ILO exposure score (0.411 to 0.561). 31,373 of 71,913 rows matched.</a:t>
            </a:r>
            <a:endParaRPr lang="en-US" sz="1800"/>
          </a:p>
        </p:txBody>
      </p:sp>
      <p:sp>
        <p:nvSpPr>
          <p:cNvPr id="8" name="Shape 6"/>
          <p:cNvSpPr/>
          <p:nvPr/>
        </p:nvSpPr>
        <p:spPr>
          <a:xfrm>
            <a:off x="4389120" y="2011680"/>
            <a:ext cx="3413760" cy="2865120"/>
          </a:xfrm>
          <a:prstGeom prst="roundRect">
            <a:avLst>
              <a:gd name="adj" fmla="val 3404"/>
            </a:avLst>
          </a:prstGeom>
          <a:solidFill>
            <a:srgbClr val="FFFFFF"/>
          </a:solidFill>
          <a:ln w="9525">
            <a:solidFill>
              <a:srgbClr val="E8E4DA"/>
            </a:solidFill>
            <a:prstDash val="solid"/>
          </a:ln>
        </p:spPr>
      </p:sp>
      <p:sp>
        <p:nvSpPr>
          <p:cNvPr id="9" name="Text 7"/>
          <p:cNvSpPr txBox="1"/>
          <p:nvPr/>
        </p:nvSpPr>
        <p:spPr>
          <a:xfrm>
            <a:off x="4632960" y="2194560"/>
            <a:ext cx="292608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b="1">
                <a:solidFill>
                  <a:srgbClr val="C4561F"/>
                </a:solidFill>
                <a:latin typeface="Cambria" pitchFamily="34" charset="0"/>
                <a:ea typeface="Cambria" pitchFamily="34" charset="-122"/>
                <a:cs typeface="Cambria" pitchFamily="34" charset="-120"/>
              </a:rPr>
              <a:t>Missing values</a:t>
            </a:r>
            <a:endParaRPr lang="en-US" sz="2133"/>
          </a:p>
        </p:txBody>
      </p:sp>
      <p:sp>
        <p:nvSpPr>
          <p:cNvPr id="10" name="Text 8"/>
          <p:cNvSpPr txBox="1"/>
          <p:nvPr/>
        </p:nvSpPr>
        <p:spPr>
          <a:xfrm>
            <a:off x="4632960" y="2804160"/>
            <a:ext cx="2950464" cy="2011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0F2A3D"/>
                </a:solidFill>
                <a:latin typeface="Calibri" pitchFamily="34" charset="0"/>
                <a:ea typeface="Calibri" pitchFamily="34" charset="-122"/>
                <a:cs typeface="Calibri" pitchFamily="34" charset="-120"/>
              </a:rPr>
              <a:t>40,540 rows have no score. Median imputation plus a missing-indicator column lets the model tell imputed from real.</a:t>
            </a:r>
            <a:endParaRPr lang="en-US" sz="1800"/>
          </a:p>
        </p:txBody>
      </p:sp>
      <p:sp>
        <p:nvSpPr>
          <p:cNvPr id="11" name="Shape 9"/>
          <p:cNvSpPr/>
          <p:nvPr/>
        </p:nvSpPr>
        <p:spPr>
          <a:xfrm>
            <a:off x="8046720" y="2011680"/>
            <a:ext cx="3413760" cy="2865120"/>
          </a:xfrm>
          <a:prstGeom prst="roundRect">
            <a:avLst>
              <a:gd name="adj" fmla="val 3404"/>
            </a:avLst>
          </a:prstGeom>
          <a:solidFill>
            <a:srgbClr val="FFFFFF"/>
          </a:solidFill>
          <a:ln w="9525">
            <a:solidFill>
              <a:srgbClr val="E8E4DA"/>
            </a:solidFill>
            <a:prstDash val="solid"/>
          </a:ln>
        </p:spPr>
      </p:sp>
      <p:sp>
        <p:nvSpPr>
          <p:cNvPr id="12" name="Text 10"/>
          <p:cNvSpPr txBox="1"/>
          <p:nvPr/>
        </p:nvSpPr>
        <p:spPr>
          <a:xfrm>
            <a:off x="8290560" y="2194560"/>
            <a:ext cx="2926080" cy="487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133" b="1">
                <a:solidFill>
                  <a:srgbClr val="C4561F"/>
                </a:solidFill>
                <a:latin typeface="Cambria" pitchFamily="34" charset="0"/>
                <a:ea typeface="Cambria" pitchFamily="34" charset="-122"/>
                <a:cs typeface="Cambria" pitchFamily="34" charset="-120"/>
              </a:rPr>
              <a:t>Leakage guard</a:t>
            </a:r>
            <a:endParaRPr lang="en-US" sz="2133"/>
          </a:p>
        </p:txBody>
      </p:sp>
      <p:sp>
        <p:nvSpPr>
          <p:cNvPr id="13" name="Text 11"/>
          <p:cNvSpPr txBox="1"/>
          <p:nvPr/>
        </p:nvSpPr>
        <p:spPr>
          <a:xfrm>
            <a:off x="8290560" y="2804160"/>
            <a:ext cx="2950464" cy="2011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a:solidFill>
                  <a:srgbClr val="0F2A3D"/>
                </a:solidFill>
                <a:latin typeface="Calibri" pitchFamily="34" charset="0"/>
                <a:ea typeface="Calibri" pitchFamily="34" charset="-122"/>
                <a:cs typeface="Calibri" pitchFamily="34" charset="-120"/>
              </a:rPr>
              <a:t>The imputer and scaler sit inside the pipeline and are fit on training rows only.</a:t>
            </a:r>
            <a:endParaRPr lang="en-US" sz="1800"/>
          </a:p>
        </p:txBody>
      </p:sp>
      <p:sp>
        <p:nvSpPr>
          <p:cNvPr id="14" name="Shape 12"/>
          <p:cNvSpPr/>
          <p:nvPr/>
        </p:nvSpPr>
        <p:spPr>
          <a:xfrm>
            <a:off x="731520" y="5120640"/>
            <a:ext cx="10728960" cy="975360"/>
          </a:xfrm>
          <a:prstGeom prst="roundRect">
            <a:avLst>
              <a:gd name="adj" fmla="val 10000"/>
            </a:avLst>
          </a:prstGeom>
          <a:solidFill>
            <a:srgbClr val="0F2A3D"/>
          </a:solidFill>
          <a:ln w="9525">
            <a:solidFill>
              <a:srgbClr val="0F2A3D"/>
            </a:solidFill>
            <a:prstDash val="solid"/>
          </a:ln>
        </p:spPr>
      </p:sp>
      <p:sp>
        <p:nvSpPr>
          <p:cNvPr id="15" name="Text 13"/>
          <p:cNvSpPr txBox="1"/>
          <p:nvPr/>
        </p:nvSpPr>
        <p:spPr>
          <a:xfrm>
            <a:off x="1036320" y="5120640"/>
            <a:ext cx="1011936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67" b="1">
                <a:solidFill>
                  <a:srgbClr val="E4733B"/>
                </a:solidFill>
                <a:latin typeface="Calibri" pitchFamily="34" charset="0"/>
                <a:ea typeface="Calibri" pitchFamily="34" charset="-122"/>
                <a:cs typeface="Calibri" pitchFamily="34" charset="-120"/>
              </a:rPr>
              <a:t>Result: no gain. </a:t>
            </a:r>
            <a:r>
              <a:rPr lang="en-US" sz="1667">
                <a:solidFill>
                  <a:srgbClr val="FFFFFF"/>
                </a:solidFill>
                <a:latin typeface="Calibri" pitchFamily="34" charset="0"/>
                <a:ea typeface="Calibri" pitchFamily="34" charset="-122"/>
                <a:cs typeface="Calibri" pitchFamily="34" charset="-120"/>
              </a:rPr>
              <a:t>On the same test split, accuracy stays 0.417 and ROC-AUC stays 0.685. Each role family maps to exactly one score, so the score only repeats role_family, which the model already uses.</a:t>
            </a:r>
            <a:endParaRPr lang="en-US" sz="1667"/>
          </a:p>
        </p:txBody>
      </p:sp>
    </p:spTree>
    <p:extLst>
      <p:ext uri="{BB962C8B-B14F-4D97-AF65-F5344CB8AC3E}">
        <p14:creationId xmlns:p14="http://schemas.microsoft.com/office/powerpoint/2010/main" val="3400327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31520" y="658368"/>
            <a:ext cx="10725912" cy="667512"/>
          </a:xfrm>
          <a:prstGeom prst="rect">
            <a:avLst/>
          </a:prstGeom>
          <a:noFill/>
        </p:spPr>
        <p:txBody>
          <a:bodyPr wrap="square" lIns="0" tIns="0" rIns="0" bIns="0" anchor="ctr">
            <a:spAutoFit/>
          </a:bodyPr>
          <a:lstStyle/>
          <a:p>
            <a:pPr algn="l">
              <a:spcAft>
                <a:spcPts val="600"/>
              </a:spcAft>
            </a:pPr>
            <a:r>
              <a:rPr sz="3600" b="1" i="0">
                <a:solidFill>
                  <a:srgbClr val="0F2A3D"/>
                </a:solidFill>
                <a:latin typeface="Cambria"/>
              </a:rPr>
              <a:t>Why Every Model Ties: An Information Ceiling</a:t>
            </a:r>
          </a:p>
        </p:txBody>
      </p:sp>
      <p:sp>
        <p:nvSpPr>
          <p:cNvPr id="3" name="Subtitle"/>
          <p:cNvSpPr txBox="1"/>
          <p:nvPr/>
        </p:nvSpPr>
        <p:spPr>
          <a:xfrm>
            <a:off x="731520" y="1362456"/>
            <a:ext cx="10725912" cy="393192"/>
          </a:xfrm>
          <a:prstGeom prst="rect">
            <a:avLst/>
          </a:prstGeom>
          <a:noFill/>
        </p:spPr>
        <p:txBody>
          <a:bodyPr wrap="square" lIns="0" tIns="0" rIns="0" bIns="0" anchor="t">
            <a:spAutoFit/>
          </a:bodyPr>
          <a:lstStyle/>
          <a:p>
            <a:pPr algn="l">
              <a:spcAft>
                <a:spcPts val="600"/>
              </a:spcAft>
            </a:pPr>
            <a:r>
              <a:rPr sz="1850" b="0" i="1">
                <a:solidFill>
                  <a:srgbClr val="5E666C"/>
                </a:solidFill>
                <a:latin typeface="Calibri"/>
              </a:rPr>
              <a:t>The 8 features cap accuracy at 0.428, and the models already sit at about 0.42</a:t>
            </a:r>
          </a:p>
        </p:txBody>
      </p:sp>
      <p:graphicFrame>
        <p:nvGraphicFramePr>
          <p:cNvPr id="4" name="TiedModelsChart"/>
          <p:cNvGraphicFramePr>
            <a:graphicFrameLocks noGrp="1"/>
          </p:cNvGraphicFramePr>
          <p:nvPr/>
        </p:nvGraphicFramePr>
        <p:xfrm>
          <a:off x="594360" y="1874519"/>
          <a:ext cx="612648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CeilingStat0"/>
          <p:cNvSpPr/>
          <p:nvPr/>
        </p:nvSpPr>
        <p:spPr>
          <a:xfrm>
            <a:off x="6995160" y="1874519"/>
            <a:ext cx="4462272" cy="1024128"/>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23760" y="1947672"/>
            <a:ext cx="1600200" cy="877824"/>
          </a:xfrm>
          <a:prstGeom prst="rect">
            <a:avLst/>
          </a:prstGeom>
          <a:noFill/>
        </p:spPr>
        <p:txBody>
          <a:bodyPr wrap="square" lIns="0" tIns="0" rIns="0" bIns="0" anchor="ctr">
            <a:spAutoFit/>
          </a:bodyPr>
          <a:lstStyle/>
          <a:p>
            <a:pPr algn="l">
              <a:spcAft>
                <a:spcPts val="600"/>
              </a:spcAft>
            </a:pPr>
            <a:r>
              <a:rPr sz="3400" b="1" i="0">
                <a:solidFill>
                  <a:srgbClr val="0F2A3D"/>
                </a:solidFill>
                <a:latin typeface="Cambria"/>
              </a:rPr>
              <a:t>2,201</a:t>
            </a:r>
          </a:p>
        </p:txBody>
      </p:sp>
      <p:sp>
        <p:nvSpPr>
          <p:cNvPr id="7" name="TextBox 6"/>
          <p:cNvSpPr txBox="1"/>
          <p:nvPr/>
        </p:nvSpPr>
        <p:spPr>
          <a:xfrm>
            <a:off x="8869680" y="1947672"/>
            <a:ext cx="2423160" cy="877824"/>
          </a:xfrm>
          <a:prstGeom prst="rect">
            <a:avLst/>
          </a:prstGeom>
          <a:noFill/>
        </p:spPr>
        <p:txBody>
          <a:bodyPr wrap="square" lIns="0" tIns="0" rIns="0" bIns="0" anchor="ctr">
            <a:spAutoFit/>
          </a:bodyPr>
          <a:lstStyle/>
          <a:p>
            <a:pPr algn="l">
              <a:spcAft>
                <a:spcPts val="600"/>
              </a:spcAft>
            </a:pPr>
            <a:r>
              <a:rPr sz="1500" b="0" i="0">
                <a:solidFill>
                  <a:srgbClr val="0F2A3D"/>
                </a:solidFill>
                <a:latin typeface="Calibri"/>
              </a:rPr>
              <a:t>distinct feature profiles among 57,530 training rows</a:t>
            </a:r>
          </a:p>
        </p:txBody>
      </p:sp>
      <p:sp>
        <p:nvSpPr>
          <p:cNvPr id="8" name="CeilingStat1"/>
          <p:cNvSpPr/>
          <p:nvPr/>
        </p:nvSpPr>
        <p:spPr>
          <a:xfrm>
            <a:off x="6995160" y="3035808"/>
            <a:ext cx="4462272" cy="1024128"/>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0" y="3108960"/>
            <a:ext cx="1600200" cy="877824"/>
          </a:xfrm>
          <a:prstGeom prst="rect">
            <a:avLst/>
          </a:prstGeom>
          <a:noFill/>
        </p:spPr>
        <p:txBody>
          <a:bodyPr wrap="square" lIns="0" tIns="0" rIns="0" bIns="0" anchor="ctr">
            <a:spAutoFit/>
          </a:bodyPr>
          <a:lstStyle/>
          <a:p>
            <a:pPr algn="l">
              <a:spcAft>
                <a:spcPts val="600"/>
              </a:spcAft>
            </a:pPr>
            <a:r>
              <a:rPr sz="3400" b="1" i="0">
                <a:solidFill>
                  <a:srgbClr val="C4561F"/>
                </a:solidFill>
                <a:latin typeface="Cambria"/>
              </a:rPr>
              <a:t>0.428</a:t>
            </a:r>
          </a:p>
        </p:txBody>
      </p:sp>
      <p:sp>
        <p:nvSpPr>
          <p:cNvPr id="10" name="TextBox 9"/>
          <p:cNvSpPr txBox="1"/>
          <p:nvPr/>
        </p:nvSpPr>
        <p:spPr>
          <a:xfrm>
            <a:off x="8869680" y="3108960"/>
            <a:ext cx="2423160" cy="877824"/>
          </a:xfrm>
          <a:prstGeom prst="rect">
            <a:avLst/>
          </a:prstGeom>
          <a:noFill/>
        </p:spPr>
        <p:txBody>
          <a:bodyPr wrap="square" lIns="0" tIns="0" rIns="0" bIns="0" anchor="ctr">
            <a:spAutoFit/>
          </a:bodyPr>
          <a:lstStyle/>
          <a:p>
            <a:pPr algn="l">
              <a:spcAft>
                <a:spcPts val="600"/>
              </a:spcAft>
            </a:pPr>
            <a:r>
              <a:rPr sz="1500" b="0" i="0">
                <a:solidFill>
                  <a:srgbClr val="0F2A3D"/>
                </a:solidFill>
                <a:latin typeface="Calibri"/>
              </a:rPr>
              <a:t>best possible accuracy with these 8 features</a:t>
            </a:r>
          </a:p>
        </p:txBody>
      </p:sp>
      <p:sp>
        <p:nvSpPr>
          <p:cNvPr id="11" name="CeilingStat2"/>
          <p:cNvSpPr/>
          <p:nvPr/>
        </p:nvSpPr>
        <p:spPr>
          <a:xfrm>
            <a:off x="6995160" y="4197096"/>
            <a:ext cx="4462272" cy="1024128"/>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0" y="4270248"/>
            <a:ext cx="1600200" cy="877824"/>
          </a:xfrm>
          <a:prstGeom prst="rect">
            <a:avLst/>
          </a:prstGeom>
          <a:noFill/>
        </p:spPr>
        <p:txBody>
          <a:bodyPr wrap="square" lIns="0" tIns="0" rIns="0" bIns="0" anchor="ctr">
            <a:spAutoFit/>
          </a:bodyPr>
          <a:lstStyle/>
          <a:p>
            <a:pPr algn="l">
              <a:spcAft>
                <a:spcPts val="600"/>
              </a:spcAft>
            </a:pPr>
            <a:r>
              <a:rPr sz="3400" b="1" i="0">
                <a:solidFill>
                  <a:srgbClr val="0F2A3D"/>
                </a:solidFill>
                <a:latin typeface="Cambria"/>
              </a:rPr>
              <a:t>0.490</a:t>
            </a:r>
          </a:p>
        </p:txBody>
      </p:sp>
      <p:sp>
        <p:nvSpPr>
          <p:cNvPr id="13" name="TextBox 12"/>
          <p:cNvSpPr txBox="1"/>
          <p:nvPr/>
        </p:nvSpPr>
        <p:spPr>
          <a:xfrm>
            <a:off x="8869680" y="4270248"/>
            <a:ext cx="2423160" cy="877824"/>
          </a:xfrm>
          <a:prstGeom prst="rect">
            <a:avLst/>
          </a:prstGeom>
          <a:noFill/>
        </p:spPr>
        <p:txBody>
          <a:bodyPr wrap="square" lIns="0" tIns="0" rIns="0" bIns="0" anchor="ctr">
            <a:spAutoFit/>
          </a:bodyPr>
          <a:lstStyle/>
          <a:p>
            <a:pPr algn="l">
              <a:spcAft>
                <a:spcPts val="600"/>
              </a:spcAft>
            </a:pPr>
            <a:r>
              <a:rPr sz="1500" b="0" i="0">
                <a:solidFill>
                  <a:srgbClr val="0F2A3D"/>
                </a:solidFill>
                <a:latin typeface="Calibri"/>
              </a:rPr>
              <a:t>ceiling once the raw job title is added</a:t>
            </a:r>
          </a:p>
        </p:txBody>
      </p:sp>
      <p:sp>
        <p:nvSpPr>
          <p:cNvPr id="14" name="CeilingCallout"/>
          <p:cNvSpPr/>
          <p:nvPr/>
        </p:nvSpPr>
        <p:spPr>
          <a:xfrm>
            <a:off x="731520" y="5486400"/>
            <a:ext cx="10725912" cy="777240"/>
          </a:xfrm>
          <a:prstGeom prst="roundRect">
            <a:avLst>
              <a:gd name="adj" fmla="val 12000"/>
            </a:avLst>
          </a:prstGeom>
          <a:solidFill>
            <a:srgbClr val="FB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5486400"/>
            <a:ext cx="10222992" cy="777240"/>
          </a:xfrm>
          <a:prstGeom prst="rect">
            <a:avLst/>
          </a:prstGeom>
          <a:noFill/>
        </p:spPr>
        <p:txBody>
          <a:bodyPr wrap="square" lIns="0" tIns="0" rIns="0" bIns="0" anchor="ctr">
            <a:spAutoFit/>
          </a:bodyPr>
          <a:lstStyle/>
          <a:p>
            <a:pPr algn="l">
              <a:spcAft>
                <a:spcPts val="0"/>
              </a:spcAft>
            </a:pPr>
            <a:r>
              <a:rPr sz="1500" b="1" i="0">
                <a:solidFill>
                  <a:srgbClr val="C4561F"/>
                </a:solidFill>
                <a:latin typeface="Calibri"/>
              </a:rPr>
              <a:t>Implication: </a:t>
            </a:r>
            <a:r>
              <a:rPr sz="1500" b="0" i="0">
                <a:solidFill>
                  <a:srgbClr val="0F2A3D"/>
                </a:solidFill>
                <a:latin typeface="Calibri"/>
              </a:rPr>
              <a:t>tuning cannot pass this ceiling, so we did not run a hyperparameter search. We need new information, not a bigger model.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31520" y="658368"/>
            <a:ext cx="10725912" cy="667512"/>
          </a:xfrm>
          <a:prstGeom prst="rect">
            <a:avLst/>
          </a:prstGeom>
          <a:noFill/>
        </p:spPr>
        <p:txBody>
          <a:bodyPr wrap="square" lIns="0" tIns="0" rIns="0" bIns="0" anchor="ctr">
            <a:spAutoFit/>
          </a:bodyPr>
          <a:lstStyle/>
          <a:p>
            <a:pPr algn="l">
              <a:spcAft>
                <a:spcPts val="600"/>
              </a:spcAft>
            </a:pPr>
            <a:r>
              <a:rPr sz="3600" b="1" i="0">
                <a:solidFill>
                  <a:srgbClr val="0F2A3D"/>
                </a:solidFill>
                <a:latin typeface="Cambria"/>
              </a:rPr>
              <a:t>Feature Engineering: Bring Back the Job Title</a:t>
            </a:r>
          </a:p>
        </p:txBody>
      </p:sp>
      <p:sp>
        <p:nvSpPr>
          <p:cNvPr id="3" name="Subtitle"/>
          <p:cNvSpPr txBox="1"/>
          <p:nvPr/>
        </p:nvSpPr>
        <p:spPr>
          <a:xfrm>
            <a:off x="731520" y="1362456"/>
            <a:ext cx="10725912" cy="393192"/>
          </a:xfrm>
          <a:prstGeom prst="rect">
            <a:avLst/>
          </a:prstGeom>
          <a:noFill/>
        </p:spPr>
        <p:txBody>
          <a:bodyPr wrap="square" lIns="0" tIns="0" rIns="0" bIns="0" anchor="t">
            <a:spAutoFit/>
          </a:bodyPr>
          <a:lstStyle/>
          <a:p>
            <a:pPr algn="l">
              <a:spcAft>
                <a:spcPts val="600"/>
              </a:spcAft>
            </a:pPr>
            <a:r>
              <a:rPr sz="1850" b="0" i="1">
                <a:solidFill>
                  <a:srgbClr val="5E666C"/>
                </a:solidFill>
                <a:latin typeface="Calibri"/>
              </a:rPr>
              <a:t>New information, not a more complex model, is what moves performance</a:t>
            </a:r>
          </a:p>
        </p:txBody>
      </p:sp>
      <p:sp>
        <p:nvSpPr>
          <p:cNvPr id="4" name="FeatureCard"/>
          <p:cNvSpPr/>
          <p:nvPr/>
        </p:nvSpPr>
        <p:spPr>
          <a:xfrm>
            <a:off x="731520" y="1874519"/>
            <a:ext cx="4892040" cy="3429000"/>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78408" y="2121408"/>
            <a:ext cx="612648" cy="73152"/>
          </a:xfrm>
          <a:prstGeom prst="rect">
            <a:avLst/>
          </a:prstGeom>
          <a:solidFill>
            <a:srgbClr val="E47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2377440"/>
            <a:ext cx="4434840" cy="2834640"/>
          </a:xfrm>
          <a:prstGeom prst="rect">
            <a:avLst/>
          </a:prstGeom>
          <a:noFill/>
        </p:spPr>
        <p:txBody>
          <a:bodyPr wrap="square" lIns="0" tIns="0" rIns="0" bIns="0" anchor="t">
            <a:spAutoFit/>
          </a:bodyPr>
          <a:lstStyle/>
          <a:p>
            <a:pPr algn="l">
              <a:spcAft>
                <a:spcPts val="1400"/>
              </a:spcAft>
            </a:pPr>
            <a:r>
              <a:rPr sz="1600" b="1" i="0">
                <a:solidFill>
                  <a:srgbClr val="C4561F"/>
                </a:solidFill>
                <a:latin typeface="Calibri"/>
              </a:rPr>
              <a:t>Keyword flags: </a:t>
            </a:r>
            <a:r>
              <a:rPr sz="1600" b="0" i="0">
                <a:solidFill>
                  <a:srgbClr val="0F2A3D"/>
                </a:solidFill>
                <a:latin typeface="Calibri"/>
              </a:rPr>
              <a:t>senior / staff / lead, manager / director / head, junior / associate / intern</a:t>
            </a:r>
          </a:p>
          <a:p>
            <a:pPr algn="l">
              <a:spcAft>
                <a:spcPts val="1400"/>
              </a:spcAft>
            </a:pPr>
            <a:r>
              <a:rPr sz="1600" b="1" i="0">
                <a:solidFill>
                  <a:srgbClr val="C4561F"/>
                </a:solidFill>
                <a:latin typeface="Calibri"/>
              </a:rPr>
              <a:t>TF-IDF on the full title: </a:t>
            </a:r>
            <a:r>
              <a:rPr sz="1600" b="0" i="0">
                <a:solidFill>
                  <a:srgbClr val="0F2A3D"/>
                </a:solidFill>
                <a:latin typeface="Calibri"/>
              </a:rPr>
              <a:t>weights for words and word pairs, e.g. “machine learning”, “data analyst”</a:t>
            </a:r>
          </a:p>
          <a:p>
            <a:pPr algn="l">
              <a:spcAft>
                <a:spcPts val="1400"/>
              </a:spcAft>
            </a:pPr>
            <a:r>
              <a:rPr sz="1600" b="1" i="0">
                <a:solidFill>
                  <a:srgbClr val="C4561F"/>
                </a:solidFill>
                <a:latin typeface="Calibri"/>
              </a:rPr>
              <a:t>Not leakage: </a:t>
            </a:r>
            <a:r>
              <a:rPr sz="1600" b="0" i="0">
                <a:solidFill>
                  <a:srgbClr val="0F2A3D"/>
                </a:solidFill>
                <a:latin typeface="Calibri"/>
              </a:rPr>
              <a:t>the title is known before the salary; it was dropped earlier only as a duplicate of role_family</a:t>
            </a:r>
          </a:p>
        </p:txBody>
      </p:sp>
      <p:graphicFrame>
        <p:nvGraphicFramePr>
          <p:cNvPr id="7" name="FeatureStepsChart"/>
          <p:cNvGraphicFramePr>
            <a:graphicFrameLocks noGrp="1"/>
          </p:cNvGraphicFramePr>
          <p:nvPr/>
        </p:nvGraphicFramePr>
        <p:xfrm>
          <a:off x="5897880" y="1828800"/>
          <a:ext cx="56692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8" name="FeatureCallout"/>
          <p:cNvSpPr/>
          <p:nvPr/>
        </p:nvSpPr>
        <p:spPr>
          <a:xfrm>
            <a:off x="731520" y="5486400"/>
            <a:ext cx="10725912" cy="777240"/>
          </a:xfrm>
          <a:prstGeom prst="roundRect">
            <a:avLst>
              <a:gd name="adj" fmla="val 12000"/>
            </a:avLst>
          </a:prstGeom>
          <a:solidFill>
            <a:srgbClr val="FB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5486400"/>
            <a:ext cx="10222992" cy="777240"/>
          </a:xfrm>
          <a:prstGeom prst="rect">
            <a:avLst/>
          </a:prstGeom>
          <a:noFill/>
        </p:spPr>
        <p:txBody>
          <a:bodyPr wrap="square" lIns="0" tIns="0" rIns="0" bIns="0" anchor="ctr">
            <a:spAutoFit/>
          </a:bodyPr>
          <a:lstStyle/>
          <a:p>
            <a:pPr algn="l">
              <a:spcAft>
                <a:spcPts val="0"/>
              </a:spcAft>
            </a:pPr>
            <a:r>
              <a:rPr sz="1500" b="1" i="0">
                <a:solidFill>
                  <a:srgbClr val="C4561F"/>
                </a:solidFill>
                <a:latin typeface="Calibri"/>
              </a:rPr>
              <a:t>Result: </a:t>
            </a:r>
            <a:r>
              <a:rPr sz="1500" b="0" i="0">
                <a:solidFill>
                  <a:srgbClr val="0F2A3D"/>
                </a:solidFill>
                <a:latin typeface="Calibri"/>
              </a:rPr>
              <a:t>keywords add little; the full-title TF-IDF lifts CV accuracy 0.411 → 0.441 and macro F1 0.395 → 0.423.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31520" y="658368"/>
            <a:ext cx="10725912" cy="667512"/>
          </a:xfrm>
          <a:prstGeom prst="rect">
            <a:avLst/>
          </a:prstGeom>
          <a:noFill/>
        </p:spPr>
        <p:txBody>
          <a:bodyPr wrap="square" lIns="0" tIns="0" rIns="0" bIns="0" anchor="ctr">
            <a:spAutoFit/>
          </a:bodyPr>
          <a:lstStyle/>
          <a:p>
            <a:pPr algn="l">
              <a:spcAft>
                <a:spcPts val="600"/>
              </a:spcAft>
            </a:pPr>
            <a:r>
              <a:rPr sz="3600" b="1" i="0">
                <a:solidFill>
                  <a:srgbClr val="0F2A3D"/>
                </a:solidFill>
                <a:latin typeface="Cambria"/>
              </a:rPr>
              <a:t>Model Comparison on the Same 14,383 Test Rows</a:t>
            </a:r>
          </a:p>
        </p:txBody>
      </p:sp>
      <p:sp>
        <p:nvSpPr>
          <p:cNvPr id="3" name="Subtitle"/>
          <p:cNvSpPr txBox="1"/>
          <p:nvPr/>
        </p:nvSpPr>
        <p:spPr>
          <a:xfrm>
            <a:off x="731520" y="1362456"/>
            <a:ext cx="10725912" cy="393192"/>
          </a:xfrm>
          <a:prstGeom prst="rect">
            <a:avLst/>
          </a:prstGeom>
          <a:noFill/>
        </p:spPr>
        <p:txBody>
          <a:bodyPr wrap="square" lIns="0" tIns="0" rIns="0" bIns="0" anchor="t">
            <a:spAutoFit/>
          </a:bodyPr>
          <a:lstStyle/>
          <a:p>
            <a:pPr algn="l">
              <a:spcAft>
                <a:spcPts val="600"/>
              </a:spcAft>
            </a:pPr>
            <a:r>
              <a:rPr sz="1850" b="0" i="1">
                <a:solidFill>
                  <a:srgbClr val="5E666C"/>
                </a:solidFill>
                <a:latin typeface="Calibri"/>
              </a:rPr>
              <a:t>Title features beat every earlier model on every metric</a:t>
            </a:r>
          </a:p>
        </p:txBody>
      </p:sp>
      <p:graphicFrame>
        <p:nvGraphicFramePr>
          <p:cNvPr id="4" name="ComparisonTable"/>
          <p:cNvGraphicFramePr>
            <a:graphicFrameLocks noGrp="1"/>
          </p:cNvGraphicFramePr>
          <p:nvPr/>
        </p:nvGraphicFramePr>
        <p:xfrm>
          <a:off x="731520" y="1874519"/>
          <a:ext cx="10725912" cy="3127248"/>
        </p:xfrm>
        <a:graphic>
          <a:graphicData uri="http://schemas.openxmlformats.org/drawingml/2006/table">
            <a:tbl>
              <a:tblPr/>
              <a:tblGrid>
                <a:gridCol w="3410712">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47472">
                <a:tc>
                  <a:txBody>
                    <a:bodyPr/>
                    <a:lstStyle/>
                    <a:p>
                      <a:pPr algn="l"/>
                      <a:r>
                        <a:rPr sz="1400" b="1">
                          <a:solidFill>
                            <a:srgbClr val="FFFFFF"/>
                          </a:solidFill>
                          <a:latin typeface="Calibri"/>
                        </a:rPr>
                        <a:t>Model</a:t>
                      </a:r>
                    </a:p>
                  </a:txBody>
                  <a:tcPr marT="18288" marB="18288" anchor="ctr">
                    <a:solidFill>
                      <a:srgbClr val="0F2A3D"/>
                    </a:solidFill>
                  </a:tcPr>
                </a:tc>
                <a:tc>
                  <a:txBody>
                    <a:bodyPr/>
                    <a:lstStyle/>
                    <a:p>
                      <a:pPr algn="ctr"/>
                      <a:r>
                        <a:rPr sz="1400" b="1">
                          <a:solidFill>
                            <a:srgbClr val="FFFFFF"/>
                          </a:solidFill>
                          <a:latin typeface="Calibri"/>
                        </a:rPr>
                        <a:t>Accuracy</a:t>
                      </a:r>
                    </a:p>
                  </a:txBody>
                  <a:tcPr marT="18288" marB="18288" anchor="ctr">
                    <a:solidFill>
                      <a:srgbClr val="0F2A3D"/>
                    </a:solidFill>
                  </a:tcPr>
                </a:tc>
                <a:tc>
                  <a:txBody>
                    <a:bodyPr/>
                    <a:lstStyle/>
                    <a:p>
                      <a:pPr algn="ctr"/>
                      <a:r>
                        <a:rPr sz="1400" b="1">
                          <a:solidFill>
                            <a:srgbClr val="FFFFFF"/>
                          </a:solidFill>
                          <a:latin typeface="Calibri"/>
                        </a:rPr>
                        <a:t>Precision</a:t>
                      </a:r>
                    </a:p>
                  </a:txBody>
                  <a:tcPr marT="18288" marB="18288" anchor="ctr">
                    <a:solidFill>
                      <a:srgbClr val="0F2A3D"/>
                    </a:solidFill>
                  </a:tcPr>
                </a:tc>
                <a:tc>
                  <a:txBody>
                    <a:bodyPr/>
                    <a:lstStyle/>
                    <a:p>
                      <a:pPr algn="ctr"/>
                      <a:r>
                        <a:rPr sz="1400" b="1">
                          <a:solidFill>
                            <a:srgbClr val="FFFFFF"/>
                          </a:solidFill>
                          <a:latin typeface="Calibri"/>
                        </a:rPr>
                        <a:t>Recall</a:t>
                      </a:r>
                    </a:p>
                  </a:txBody>
                  <a:tcPr marT="18288" marB="18288" anchor="ctr">
                    <a:solidFill>
                      <a:srgbClr val="0F2A3D"/>
                    </a:solidFill>
                  </a:tcPr>
                </a:tc>
                <a:tc>
                  <a:txBody>
                    <a:bodyPr/>
                    <a:lstStyle/>
                    <a:p>
                      <a:pPr algn="ctr"/>
                      <a:r>
                        <a:rPr sz="1400" b="1">
                          <a:solidFill>
                            <a:srgbClr val="FFFFFF"/>
                          </a:solidFill>
                          <a:latin typeface="Calibri"/>
                        </a:rPr>
                        <a:t>F1</a:t>
                      </a:r>
                    </a:p>
                  </a:txBody>
                  <a:tcPr marT="18288" marB="18288" anchor="ctr">
                    <a:solidFill>
                      <a:srgbClr val="0F2A3D"/>
                    </a:solidFill>
                  </a:tcPr>
                </a:tc>
                <a:tc>
                  <a:txBody>
                    <a:bodyPr/>
                    <a:lstStyle/>
                    <a:p>
                      <a:pPr algn="ctr"/>
                      <a:r>
                        <a:rPr sz="1400" b="1">
                          <a:solidFill>
                            <a:srgbClr val="FFFFFF"/>
                          </a:solidFill>
                          <a:latin typeface="Calibri"/>
                        </a:rPr>
                        <a:t>ROC-AUC</a:t>
                      </a:r>
                    </a:p>
                  </a:txBody>
                  <a:tcPr marT="18288" marB="18288" anchor="ctr">
                    <a:solidFill>
                      <a:srgbClr val="0F2A3D"/>
                    </a:solidFill>
                  </a:tcPr>
                </a:tc>
                <a:tc>
                  <a:txBody>
                    <a:bodyPr/>
                    <a:lstStyle/>
                    <a:p>
                      <a:pPr algn="ctr"/>
                      <a:r>
                        <a:rPr sz="1400" b="1">
                          <a:solidFill>
                            <a:srgbClr val="FFFFFF"/>
                          </a:solidFill>
                          <a:latin typeface="Calibri"/>
                        </a:rPr>
                        <a:t>Within 1 tier</a:t>
                      </a:r>
                    </a:p>
                  </a:txBody>
                  <a:tcPr marT="18288" marB="18288" anchor="ctr">
                    <a:solidFill>
                      <a:srgbClr val="0F2A3D"/>
                    </a:solidFill>
                  </a:tcPr>
                </a:tc>
                <a:extLst>
                  <a:ext uri="{0D108BD9-81ED-4DB2-BD59-A6C34878D82A}">
                    <a16:rowId xmlns:a16="http://schemas.microsoft.com/office/drawing/2014/main" val="10000"/>
                  </a:ext>
                </a:extLst>
              </a:tr>
              <a:tr h="347472">
                <a:tc>
                  <a:txBody>
                    <a:bodyPr/>
                    <a:lstStyle/>
                    <a:p>
                      <a:pPr algn="l"/>
                      <a:r>
                        <a:rPr sz="1400">
                          <a:solidFill>
                            <a:srgbClr val="0F2A3D"/>
                          </a:solidFill>
                          <a:latin typeface="Calibri"/>
                        </a:rPr>
                        <a:t>Dummy (most frequent)</a:t>
                      </a:r>
                    </a:p>
                  </a:txBody>
                  <a:tcPr marT="18288" marB="18288" anchor="ctr">
                    <a:solidFill>
                      <a:srgbClr val="FFFFFF"/>
                    </a:solidFill>
                  </a:tcPr>
                </a:tc>
                <a:tc>
                  <a:txBody>
                    <a:bodyPr/>
                    <a:lstStyle/>
                    <a:p>
                      <a:pPr algn="ctr"/>
                      <a:r>
                        <a:rPr sz="1400">
                          <a:solidFill>
                            <a:srgbClr val="0F2A3D"/>
                          </a:solidFill>
                          <a:latin typeface="Calibri"/>
                        </a:rPr>
                        <a:t>0.250</a:t>
                      </a:r>
                    </a:p>
                  </a:txBody>
                  <a:tcPr marT="18288" marB="18288" anchor="ctr">
                    <a:solidFill>
                      <a:srgbClr val="FFFFFF"/>
                    </a:solidFill>
                  </a:tcPr>
                </a:tc>
                <a:tc>
                  <a:txBody>
                    <a:bodyPr/>
                    <a:lstStyle/>
                    <a:p>
                      <a:pPr algn="ctr"/>
                      <a:r>
                        <a:rPr sz="1400">
                          <a:solidFill>
                            <a:srgbClr val="0F2A3D"/>
                          </a:solidFill>
                          <a:latin typeface="Calibri"/>
                        </a:rPr>
                        <a:t>0.063</a:t>
                      </a:r>
                    </a:p>
                  </a:txBody>
                  <a:tcPr marT="18288" marB="18288" anchor="ctr">
                    <a:solidFill>
                      <a:srgbClr val="FFFFFF"/>
                    </a:solidFill>
                  </a:tcPr>
                </a:tc>
                <a:tc>
                  <a:txBody>
                    <a:bodyPr/>
                    <a:lstStyle/>
                    <a:p>
                      <a:pPr algn="ctr"/>
                      <a:r>
                        <a:rPr sz="1400">
                          <a:solidFill>
                            <a:srgbClr val="0F2A3D"/>
                          </a:solidFill>
                          <a:latin typeface="Calibri"/>
                        </a:rPr>
                        <a:t>0.250</a:t>
                      </a:r>
                    </a:p>
                  </a:txBody>
                  <a:tcPr marT="18288" marB="18288" anchor="ctr">
                    <a:solidFill>
                      <a:srgbClr val="FFFFFF"/>
                    </a:solidFill>
                  </a:tcPr>
                </a:tc>
                <a:tc>
                  <a:txBody>
                    <a:bodyPr/>
                    <a:lstStyle/>
                    <a:p>
                      <a:pPr algn="ctr"/>
                      <a:r>
                        <a:rPr sz="1400">
                          <a:solidFill>
                            <a:srgbClr val="0F2A3D"/>
                          </a:solidFill>
                          <a:latin typeface="Calibri"/>
                        </a:rPr>
                        <a:t>0.100</a:t>
                      </a:r>
                    </a:p>
                  </a:txBody>
                  <a:tcPr marT="18288" marB="18288" anchor="ctr">
                    <a:solidFill>
                      <a:srgbClr val="FFFFFF"/>
                    </a:solidFill>
                  </a:tcPr>
                </a:tc>
                <a:tc>
                  <a:txBody>
                    <a:bodyPr/>
                    <a:lstStyle/>
                    <a:p>
                      <a:pPr algn="ctr"/>
                      <a:r>
                        <a:rPr sz="1400">
                          <a:solidFill>
                            <a:srgbClr val="0F2A3D"/>
                          </a:solidFill>
                          <a:latin typeface="Calibri"/>
                        </a:rPr>
                        <a:t>0.500</a:t>
                      </a:r>
                    </a:p>
                  </a:txBody>
                  <a:tcPr marT="18288" marB="18288" anchor="ctr">
                    <a:solidFill>
                      <a:srgbClr val="FFFFFF"/>
                    </a:solidFill>
                  </a:tcPr>
                </a:tc>
                <a:tc>
                  <a:txBody>
                    <a:bodyPr/>
                    <a:lstStyle/>
                    <a:p>
                      <a:pPr algn="ctr"/>
                      <a:r>
                        <a:rPr sz="1400">
                          <a:solidFill>
                            <a:srgbClr val="0F2A3D"/>
                          </a:solidFill>
                          <a:latin typeface="Calibri"/>
                        </a:rPr>
                        <a:t>0.500</a:t>
                      </a:r>
                    </a:p>
                  </a:txBody>
                  <a:tcPr marT="18288" marB="18288" anchor="ctr">
                    <a:solidFill>
                      <a:srgbClr val="FFFFFF"/>
                    </a:solidFill>
                  </a:tcPr>
                </a:tc>
                <a:extLst>
                  <a:ext uri="{0D108BD9-81ED-4DB2-BD59-A6C34878D82A}">
                    <a16:rowId xmlns:a16="http://schemas.microsoft.com/office/drawing/2014/main" val="10001"/>
                  </a:ext>
                </a:extLst>
              </a:tr>
              <a:tr h="347472">
                <a:tc>
                  <a:txBody>
                    <a:bodyPr/>
                    <a:lstStyle/>
                    <a:p>
                      <a:pPr algn="l"/>
                      <a:r>
                        <a:rPr sz="1400">
                          <a:solidFill>
                            <a:srgbClr val="0F2A3D"/>
                          </a:solidFill>
                          <a:latin typeface="Calibri"/>
                        </a:rPr>
                        <a:t>Logistic Regression (baseline)</a:t>
                      </a:r>
                    </a:p>
                  </a:txBody>
                  <a:tcPr marT="18288" marB="18288" anchor="ctr">
                    <a:solidFill>
                      <a:srgbClr val="FFFFFF"/>
                    </a:solidFill>
                  </a:tcPr>
                </a:tc>
                <a:tc>
                  <a:txBody>
                    <a:bodyPr/>
                    <a:lstStyle/>
                    <a:p>
                      <a:pPr algn="ctr"/>
                      <a:r>
                        <a:rPr sz="1400">
                          <a:solidFill>
                            <a:srgbClr val="0F2A3D"/>
                          </a:solidFill>
                          <a:latin typeface="Calibri"/>
                        </a:rPr>
                        <a:t>0.417</a:t>
                      </a:r>
                    </a:p>
                  </a:txBody>
                  <a:tcPr marT="18288" marB="18288" anchor="ctr">
                    <a:solidFill>
                      <a:srgbClr val="FFFFFF"/>
                    </a:solidFill>
                  </a:tcPr>
                </a:tc>
                <a:tc>
                  <a:txBody>
                    <a:bodyPr/>
                    <a:lstStyle/>
                    <a:p>
                      <a:pPr algn="ctr"/>
                      <a:r>
                        <a:rPr sz="1400">
                          <a:solidFill>
                            <a:srgbClr val="0F2A3D"/>
                          </a:solidFill>
                          <a:latin typeface="Calibri"/>
                        </a:rPr>
                        <a:t>0.417</a:t>
                      </a:r>
                    </a:p>
                  </a:txBody>
                  <a:tcPr marT="18288" marB="18288" anchor="ctr">
                    <a:solidFill>
                      <a:srgbClr val="FFFFFF"/>
                    </a:solidFill>
                  </a:tcPr>
                </a:tc>
                <a:tc>
                  <a:txBody>
                    <a:bodyPr/>
                    <a:lstStyle/>
                    <a:p>
                      <a:pPr algn="ctr"/>
                      <a:r>
                        <a:rPr sz="1400">
                          <a:solidFill>
                            <a:srgbClr val="0F2A3D"/>
                          </a:solidFill>
                          <a:latin typeface="Calibri"/>
                        </a:rPr>
                        <a:t>0.417</a:t>
                      </a:r>
                    </a:p>
                  </a:txBody>
                  <a:tcPr marT="18288" marB="18288" anchor="ctr">
                    <a:solidFill>
                      <a:srgbClr val="FFFFFF"/>
                    </a:solidFill>
                  </a:tcPr>
                </a:tc>
                <a:tc>
                  <a:txBody>
                    <a:bodyPr/>
                    <a:lstStyle/>
                    <a:p>
                      <a:pPr algn="ctr"/>
                      <a:r>
                        <a:rPr sz="1400">
                          <a:solidFill>
                            <a:srgbClr val="0F2A3D"/>
                          </a:solidFill>
                          <a:latin typeface="Calibri"/>
                        </a:rPr>
                        <a:t>0.403</a:t>
                      </a:r>
                    </a:p>
                  </a:txBody>
                  <a:tcPr marT="18288" marB="18288" anchor="ctr">
                    <a:solidFill>
                      <a:srgbClr val="FFFFFF"/>
                    </a:solidFill>
                  </a:tcPr>
                </a:tc>
                <a:tc>
                  <a:txBody>
                    <a:bodyPr/>
                    <a:lstStyle/>
                    <a:p>
                      <a:pPr algn="ctr"/>
                      <a:r>
                        <a:rPr sz="1400">
                          <a:solidFill>
                            <a:srgbClr val="0F2A3D"/>
                          </a:solidFill>
                          <a:latin typeface="Calibri"/>
                        </a:rPr>
                        <a:t>0.685</a:t>
                      </a:r>
                    </a:p>
                  </a:txBody>
                  <a:tcPr marT="18288" marB="18288" anchor="ctr">
                    <a:solidFill>
                      <a:srgbClr val="FFFFFF"/>
                    </a:solidFill>
                  </a:tcPr>
                </a:tc>
                <a:tc>
                  <a:txBody>
                    <a:bodyPr/>
                    <a:lstStyle/>
                    <a:p>
                      <a:pPr algn="ctr"/>
                      <a:r>
                        <a:rPr sz="1400">
                          <a:solidFill>
                            <a:srgbClr val="0F2A3D"/>
                          </a:solidFill>
                          <a:latin typeface="Calibri"/>
                        </a:rPr>
                        <a:t>0.792</a:t>
                      </a:r>
                    </a:p>
                  </a:txBody>
                  <a:tcPr marT="18288" marB="18288" anchor="ctr">
                    <a:solidFill>
                      <a:srgbClr val="FFFFFF"/>
                    </a:solidFill>
                  </a:tcPr>
                </a:tc>
                <a:extLst>
                  <a:ext uri="{0D108BD9-81ED-4DB2-BD59-A6C34878D82A}">
                    <a16:rowId xmlns:a16="http://schemas.microsoft.com/office/drawing/2014/main" val="10002"/>
                  </a:ext>
                </a:extLst>
              </a:tr>
              <a:tr h="347472">
                <a:tc>
                  <a:txBody>
                    <a:bodyPr/>
                    <a:lstStyle/>
                    <a:p>
                      <a:pPr algn="l"/>
                      <a:r>
                        <a:rPr sz="1400">
                          <a:solidFill>
                            <a:srgbClr val="0F2A3D"/>
                          </a:solidFill>
                          <a:latin typeface="Calibri"/>
                        </a:rPr>
                        <a:t>Random Forest</a:t>
                      </a:r>
                    </a:p>
                  </a:txBody>
                  <a:tcPr marT="18288" marB="18288" anchor="ctr">
                    <a:solidFill>
                      <a:srgbClr val="FFFFFF"/>
                    </a:solidFill>
                  </a:tcPr>
                </a:tc>
                <a:tc>
                  <a:txBody>
                    <a:bodyPr/>
                    <a:lstStyle/>
                    <a:p>
                      <a:pPr algn="ctr"/>
                      <a:r>
                        <a:rPr sz="1400">
                          <a:solidFill>
                            <a:srgbClr val="0F2A3D"/>
                          </a:solidFill>
                          <a:latin typeface="Calibri"/>
                        </a:rPr>
                        <a:t>0.411</a:t>
                      </a:r>
                    </a:p>
                  </a:txBody>
                  <a:tcPr marT="18288" marB="18288" anchor="ctr">
                    <a:solidFill>
                      <a:srgbClr val="FFFFFF"/>
                    </a:solidFill>
                  </a:tcPr>
                </a:tc>
                <a:tc>
                  <a:txBody>
                    <a:bodyPr/>
                    <a:lstStyle/>
                    <a:p>
                      <a:pPr algn="ctr"/>
                      <a:r>
                        <a:rPr sz="1400">
                          <a:solidFill>
                            <a:srgbClr val="0F2A3D"/>
                          </a:solidFill>
                          <a:latin typeface="Calibri"/>
                        </a:rPr>
                        <a:t>0.408</a:t>
                      </a:r>
                    </a:p>
                  </a:txBody>
                  <a:tcPr marT="18288" marB="18288" anchor="ctr">
                    <a:solidFill>
                      <a:srgbClr val="FFFFFF"/>
                    </a:solidFill>
                  </a:tcPr>
                </a:tc>
                <a:tc>
                  <a:txBody>
                    <a:bodyPr/>
                    <a:lstStyle/>
                    <a:p>
                      <a:pPr algn="ctr"/>
                      <a:r>
                        <a:rPr sz="1400">
                          <a:solidFill>
                            <a:srgbClr val="0F2A3D"/>
                          </a:solidFill>
                          <a:latin typeface="Calibri"/>
                        </a:rPr>
                        <a:t>0.411</a:t>
                      </a:r>
                    </a:p>
                  </a:txBody>
                  <a:tcPr marT="18288" marB="18288" anchor="ctr">
                    <a:solidFill>
                      <a:srgbClr val="FFFFFF"/>
                    </a:solidFill>
                  </a:tcPr>
                </a:tc>
                <a:tc>
                  <a:txBody>
                    <a:bodyPr/>
                    <a:lstStyle/>
                    <a:p>
                      <a:pPr algn="ctr"/>
                      <a:r>
                        <a:rPr sz="1400">
                          <a:solidFill>
                            <a:srgbClr val="0F2A3D"/>
                          </a:solidFill>
                          <a:latin typeface="Calibri"/>
                        </a:rPr>
                        <a:t>0.399</a:t>
                      </a:r>
                    </a:p>
                  </a:txBody>
                  <a:tcPr marT="18288" marB="18288" anchor="ctr">
                    <a:solidFill>
                      <a:srgbClr val="FFFFFF"/>
                    </a:solidFill>
                  </a:tcPr>
                </a:tc>
                <a:tc>
                  <a:txBody>
                    <a:bodyPr/>
                    <a:lstStyle/>
                    <a:p>
                      <a:pPr algn="ctr"/>
                      <a:r>
                        <a:rPr sz="1400">
                          <a:solidFill>
                            <a:srgbClr val="0F2A3D"/>
                          </a:solidFill>
                          <a:latin typeface="Calibri"/>
                        </a:rPr>
                        <a:t>0.678</a:t>
                      </a:r>
                    </a:p>
                  </a:txBody>
                  <a:tcPr marT="18288" marB="18288" anchor="ctr">
                    <a:solidFill>
                      <a:srgbClr val="FFFFFF"/>
                    </a:solidFill>
                  </a:tcPr>
                </a:tc>
                <a:tc>
                  <a:txBody>
                    <a:bodyPr/>
                    <a:lstStyle/>
                    <a:p>
                      <a:pPr algn="ctr"/>
                      <a:r>
                        <a:rPr sz="1400">
                          <a:solidFill>
                            <a:srgbClr val="0F2A3D"/>
                          </a:solidFill>
                          <a:latin typeface="Calibri"/>
                        </a:rPr>
                        <a:t>0.786</a:t>
                      </a:r>
                    </a:p>
                  </a:txBody>
                  <a:tcPr marT="18288" marB="18288" anchor="ctr">
                    <a:solidFill>
                      <a:srgbClr val="FFFFFF"/>
                    </a:solidFill>
                  </a:tcPr>
                </a:tc>
                <a:extLst>
                  <a:ext uri="{0D108BD9-81ED-4DB2-BD59-A6C34878D82A}">
                    <a16:rowId xmlns:a16="http://schemas.microsoft.com/office/drawing/2014/main" val="10003"/>
                  </a:ext>
                </a:extLst>
              </a:tr>
              <a:tr h="347472">
                <a:tc>
                  <a:txBody>
                    <a:bodyPr/>
                    <a:lstStyle/>
                    <a:p>
                      <a:pPr algn="l"/>
                      <a:r>
                        <a:rPr sz="1400">
                          <a:solidFill>
                            <a:srgbClr val="0F2A3D"/>
                          </a:solidFill>
                          <a:latin typeface="Calibri"/>
                        </a:rPr>
                        <a:t>Gradient Boosting</a:t>
                      </a:r>
                    </a:p>
                  </a:txBody>
                  <a:tcPr marT="18288" marB="18288" anchor="ctr">
                    <a:solidFill>
                      <a:srgbClr val="FFFFFF"/>
                    </a:solidFill>
                  </a:tcPr>
                </a:tc>
                <a:tc>
                  <a:txBody>
                    <a:bodyPr/>
                    <a:lstStyle/>
                    <a:p>
                      <a:pPr algn="ctr"/>
                      <a:r>
                        <a:rPr sz="1400">
                          <a:solidFill>
                            <a:srgbClr val="0F2A3D"/>
                          </a:solidFill>
                          <a:latin typeface="Calibri"/>
                        </a:rPr>
                        <a:t>0.419</a:t>
                      </a:r>
                    </a:p>
                  </a:txBody>
                  <a:tcPr marT="18288" marB="18288" anchor="ctr">
                    <a:solidFill>
                      <a:srgbClr val="FFFFFF"/>
                    </a:solidFill>
                  </a:tcPr>
                </a:tc>
                <a:tc>
                  <a:txBody>
                    <a:bodyPr/>
                    <a:lstStyle/>
                    <a:p>
                      <a:pPr algn="ctr"/>
                      <a:r>
                        <a:rPr sz="1400">
                          <a:solidFill>
                            <a:srgbClr val="0F2A3D"/>
                          </a:solidFill>
                          <a:latin typeface="Calibri"/>
                        </a:rPr>
                        <a:t>0.417</a:t>
                      </a:r>
                    </a:p>
                  </a:txBody>
                  <a:tcPr marT="18288" marB="18288" anchor="ctr">
                    <a:solidFill>
                      <a:srgbClr val="FFFFFF"/>
                    </a:solidFill>
                  </a:tcPr>
                </a:tc>
                <a:tc>
                  <a:txBody>
                    <a:bodyPr/>
                    <a:lstStyle/>
                    <a:p>
                      <a:pPr algn="ctr"/>
                      <a:r>
                        <a:rPr sz="1400">
                          <a:solidFill>
                            <a:srgbClr val="0F2A3D"/>
                          </a:solidFill>
                          <a:latin typeface="Calibri"/>
                        </a:rPr>
                        <a:t>0.419</a:t>
                      </a:r>
                    </a:p>
                  </a:txBody>
                  <a:tcPr marT="18288" marB="18288" anchor="ctr">
                    <a:solidFill>
                      <a:srgbClr val="FFFFFF"/>
                    </a:solidFill>
                  </a:tcPr>
                </a:tc>
                <a:tc>
                  <a:txBody>
                    <a:bodyPr/>
                    <a:lstStyle/>
                    <a:p>
                      <a:pPr algn="ctr"/>
                      <a:r>
                        <a:rPr sz="1400">
                          <a:solidFill>
                            <a:srgbClr val="0F2A3D"/>
                          </a:solidFill>
                          <a:latin typeface="Calibri"/>
                        </a:rPr>
                        <a:t>0.398</a:t>
                      </a:r>
                    </a:p>
                  </a:txBody>
                  <a:tcPr marT="18288" marB="18288" anchor="ctr">
                    <a:solidFill>
                      <a:srgbClr val="FFFFFF"/>
                    </a:solidFill>
                  </a:tcPr>
                </a:tc>
                <a:tc>
                  <a:txBody>
                    <a:bodyPr/>
                    <a:lstStyle/>
                    <a:p>
                      <a:pPr algn="ctr"/>
                      <a:r>
                        <a:rPr sz="1400">
                          <a:solidFill>
                            <a:srgbClr val="0F2A3D"/>
                          </a:solidFill>
                          <a:latin typeface="Calibri"/>
                        </a:rPr>
                        <a:t>0.686</a:t>
                      </a:r>
                    </a:p>
                  </a:txBody>
                  <a:tcPr marT="18288" marB="18288" anchor="ctr">
                    <a:solidFill>
                      <a:srgbClr val="FFFFFF"/>
                    </a:solidFill>
                  </a:tcPr>
                </a:tc>
                <a:tc>
                  <a:txBody>
                    <a:bodyPr/>
                    <a:lstStyle/>
                    <a:p>
                      <a:pPr algn="ctr"/>
                      <a:r>
                        <a:rPr sz="1400">
                          <a:solidFill>
                            <a:srgbClr val="0F2A3D"/>
                          </a:solidFill>
                          <a:latin typeface="Calibri"/>
                        </a:rPr>
                        <a:t>0.786</a:t>
                      </a:r>
                    </a:p>
                  </a:txBody>
                  <a:tcPr marT="18288" marB="18288" anchor="ctr">
                    <a:solidFill>
                      <a:srgbClr val="FFFFFF"/>
                    </a:solidFill>
                  </a:tcPr>
                </a:tc>
                <a:extLst>
                  <a:ext uri="{0D108BD9-81ED-4DB2-BD59-A6C34878D82A}">
                    <a16:rowId xmlns:a16="http://schemas.microsoft.com/office/drawing/2014/main" val="10004"/>
                  </a:ext>
                </a:extLst>
              </a:tr>
              <a:tr h="347472">
                <a:tc>
                  <a:txBody>
                    <a:bodyPr/>
                    <a:lstStyle/>
                    <a:p>
                      <a:pPr algn="l"/>
                      <a:r>
                        <a:rPr sz="1400">
                          <a:solidFill>
                            <a:srgbClr val="0F2A3D"/>
                          </a:solidFill>
                          <a:latin typeface="Calibri"/>
                        </a:rPr>
                        <a:t>Logistic + ILO exposure</a:t>
                      </a:r>
                    </a:p>
                  </a:txBody>
                  <a:tcPr marT="18288" marB="18288" anchor="ctr">
                    <a:solidFill>
                      <a:srgbClr val="FFFFFF"/>
                    </a:solidFill>
                  </a:tcPr>
                </a:tc>
                <a:tc>
                  <a:txBody>
                    <a:bodyPr/>
                    <a:lstStyle/>
                    <a:p>
                      <a:pPr algn="ctr"/>
                      <a:r>
                        <a:rPr sz="1400">
                          <a:solidFill>
                            <a:srgbClr val="0F2A3D"/>
                          </a:solidFill>
                          <a:latin typeface="Calibri"/>
                        </a:rPr>
                        <a:t>0.417</a:t>
                      </a:r>
                    </a:p>
                  </a:txBody>
                  <a:tcPr marT="18288" marB="18288" anchor="ctr">
                    <a:solidFill>
                      <a:srgbClr val="FFFFFF"/>
                    </a:solidFill>
                  </a:tcPr>
                </a:tc>
                <a:tc>
                  <a:txBody>
                    <a:bodyPr/>
                    <a:lstStyle/>
                    <a:p>
                      <a:pPr algn="ctr"/>
                      <a:r>
                        <a:rPr sz="1400">
                          <a:solidFill>
                            <a:srgbClr val="0F2A3D"/>
                          </a:solidFill>
                          <a:latin typeface="Calibri"/>
                        </a:rPr>
                        <a:t>0.417</a:t>
                      </a:r>
                    </a:p>
                  </a:txBody>
                  <a:tcPr marT="18288" marB="18288" anchor="ctr">
                    <a:solidFill>
                      <a:srgbClr val="FFFFFF"/>
                    </a:solidFill>
                  </a:tcPr>
                </a:tc>
                <a:tc>
                  <a:txBody>
                    <a:bodyPr/>
                    <a:lstStyle/>
                    <a:p>
                      <a:pPr algn="ctr"/>
                      <a:r>
                        <a:rPr sz="1400">
                          <a:solidFill>
                            <a:srgbClr val="0F2A3D"/>
                          </a:solidFill>
                          <a:latin typeface="Calibri"/>
                        </a:rPr>
                        <a:t>0.417</a:t>
                      </a:r>
                    </a:p>
                  </a:txBody>
                  <a:tcPr marT="18288" marB="18288" anchor="ctr">
                    <a:solidFill>
                      <a:srgbClr val="FFFFFF"/>
                    </a:solidFill>
                  </a:tcPr>
                </a:tc>
                <a:tc>
                  <a:txBody>
                    <a:bodyPr/>
                    <a:lstStyle/>
                    <a:p>
                      <a:pPr algn="ctr"/>
                      <a:r>
                        <a:rPr sz="1400">
                          <a:solidFill>
                            <a:srgbClr val="0F2A3D"/>
                          </a:solidFill>
                          <a:latin typeface="Calibri"/>
                        </a:rPr>
                        <a:t>0.403</a:t>
                      </a:r>
                    </a:p>
                  </a:txBody>
                  <a:tcPr marT="18288" marB="18288" anchor="ctr">
                    <a:solidFill>
                      <a:srgbClr val="FFFFFF"/>
                    </a:solidFill>
                  </a:tcPr>
                </a:tc>
                <a:tc>
                  <a:txBody>
                    <a:bodyPr/>
                    <a:lstStyle/>
                    <a:p>
                      <a:pPr algn="ctr"/>
                      <a:r>
                        <a:rPr sz="1400">
                          <a:solidFill>
                            <a:srgbClr val="0F2A3D"/>
                          </a:solidFill>
                          <a:latin typeface="Calibri"/>
                        </a:rPr>
                        <a:t>0.685</a:t>
                      </a:r>
                    </a:p>
                  </a:txBody>
                  <a:tcPr marT="18288" marB="18288" anchor="ctr">
                    <a:solidFill>
                      <a:srgbClr val="FFFFFF"/>
                    </a:solidFill>
                  </a:tcPr>
                </a:tc>
                <a:tc>
                  <a:txBody>
                    <a:bodyPr/>
                    <a:lstStyle/>
                    <a:p>
                      <a:pPr algn="ctr"/>
                      <a:r>
                        <a:rPr sz="1400">
                          <a:solidFill>
                            <a:srgbClr val="0F2A3D"/>
                          </a:solidFill>
                          <a:latin typeface="Calibri"/>
                        </a:rPr>
                        <a:t>0.792</a:t>
                      </a:r>
                    </a:p>
                  </a:txBody>
                  <a:tcPr marT="18288" marB="18288" anchor="ctr">
                    <a:solidFill>
                      <a:srgbClr val="FFFFFF"/>
                    </a:solidFill>
                  </a:tcPr>
                </a:tc>
                <a:extLst>
                  <a:ext uri="{0D108BD9-81ED-4DB2-BD59-A6C34878D82A}">
                    <a16:rowId xmlns:a16="http://schemas.microsoft.com/office/drawing/2014/main" val="10005"/>
                  </a:ext>
                </a:extLst>
              </a:tr>
              <a:tr h="347472">
                <a:tc>
                  <a:txBody>
                    <a:bodyPr/>
                    <a:lstStyle/>
                    <a:p>
                      <a:pPr algn="l"/>
                      <a:r>
                        <a:rPr sz="1400" b="1">
                          <a:solidFill>
                            <a:srgbClr val="0F2A3D"/>
                          </a:solidFill>
                          <a:latin typeface="Calibri"/>
                        </a:rPr>
                        <a:t>Logistic + title features (final)</a:t>
                      </a:r>
                    </a:p>
                  </a:txBody>
                  <a:tcPr marT="18288" marB="18288" anchor="ctr">
                    <a:solidFill>
                      <a:srgbClr val="FBE6DA"/>
                    </a:solidFill>
                  </a:tcPr>
                </a:tc>
                <a:tc>
                  <a:txBody>
                    <a:bodyPr/>
                    <a:lstStyle/>
                    <a:p>
                      <a:pPr algn="ctr"/>
                      <a:r>
                        <a:rPr sz="1400" b="1">
                          <a:solidFill>
                            <a:srgbClr val="0F2A3D"/>
                          </a:solidFill>
                          <a:latin typeface="Calibri"/>
                        </a:rPr>
                        <a:t>0.447</a:t>
                      </a:r>
                    </a:p>
                  </a:txBody>
                  <a:tcPr marT="18288" marB="18288" anchor="ctr">
                    <a:solidFill>
                      <a:srgbClr val="F6C9AE"/>
                    </a:solidFill>
                  </a:tcPr>
                </a:tc>
                <a:tc>
                  <a:txBody>
                    <a:bodyPr/>
                    <a:lstStyle/>
                    <a:p>
                      <a:pPr algn="ctr"/>
                      <a:r>
                        <a:rPr sz="1400" b="1">
                          <a:solidFill>
                            <a:srgbClr val="0F2A3D"/>
                          </a:solidFill>
                          <a:latin typeface="Calibri"/>
                        </a:rPr>
                        <a:t>0.433</a:t>
                      </a:r>
                    </a:p>
                  </a:txBody>
                  <a:tcPr marT="18288" marB="18288" anchor="ctr">
                    <a:solidFill>
                      <a:srgbClr val="FBE6DA"/>
                    </a:solidFill>
                  </a:tcPr>
                </a:tc>
                <a:tc>
                  <a:txBody>
                    <a:bodyPr/>
                    <a:lstStyle/>
                    <a:p>
                      <a:pPr algn="ctr"/>
                      <a:r>
                        <a:rPr sz="1400" b="1">
                          <a:solidFill>
                            <a:srgbClr val="0F2A3D"/>
                          </a:solidFill>
                          <a:latin typeface="Calibri"/>
                        </a:rPr>
                        <a:t>0.447</a:t>
                      </a:r>
                    </a:p>
                  </a:txBody>
                  <a:tcPr marT="18288" marB="18288" anchor="ctr">
                    <a:solidFill>
                      <a:srgbClr val="F6C9AE"/>
                    </a:solidFill>
                  </a:tcPr>
                </a:tc>
                <a:tc>
                  <a:txBody>
                    <a:bodyPr/>
                    <a:lstStyle/>
                    <a:p>
                      <a:pPr algn="ctr"/>
                      <a:r>
                        <a:rPr sz="1400" b="1">
                          <a:solidFill>
                            <a:srgbClr val="0F2A3D"/>
                          </a:solidFill>
                          <a:latin typeface="Calibri"/>
                        </a:rPr>
                        <a:t>0.429</a:t>
                      </a:r>
                    </a:p>
                  </a:txBody>
                  <a:tcPr marT="18288" marB="18288" anchor="ctr">
                    <a:solidFill>
                      <a:srgbClr val="F6C9AE"/>
                    </a:solidFill>
                  </a:tcPr>
                </a:tc>
                <a:tc>
                  <a:txBody>
                    <a:bodyPr/>
                    <a:lstStyle/>
                    <a:p>
                      <a:pPr algn="ctr"/>
                      <a:r>
                        <a:rPr sz="1400" b="1">
                          <a:solidFill>
                            <a:srgbClr val="0F2A3D"/>
                          </a:solidFill>
                          <a:latin typeface="Calibri"/>
                        </a:rPr>
                        <a:t>0.713</a:t>
                      </a:r>
                    </a:p>
                  </a:txBody>
                  <a:tcPr marT="18288" marB="18288" anchor="ctr">
                    <a:solidFill>
                      <a:srgbClr val="FBE6DA"/>
                    </a:solidFill>
                  </a:tcPr>
                </a:tc>
                <a:tc>
                  <a:txBody>
                    <a:bodyPr/>
                    <a:lstStyle/>
                    <a:p>
                      <a:pPr algn="ctr"/>
                      <a:r>
                        <a:rPr sz="1400" b="1">
                          <a:solidFill>
                            <a:srgbClr val="0F2A3D"/>
                          </a:solidFill>
                          <a:latin typeface="Calibri"/>
                        </a:rPr>
                        <a:t>0.811</a:t>
                      </a:r>
                    </a:p>
                  </a:txBody>
                  <a:tcPr marT="18288" marB="18288" anchor="ctr">
                    <a:solidFill>
                      <a:srgbClr val="FBE6DA"/>
                    </a:solidFill>
                  </a:tcPr>
                </a:tc>
                <a:extLst>
                  <a:ext uri="{0D108BD9-81ED-4DB2-BD59-A6C34878D82A}">
                    <a16:rowId xmlns:a16="http://schemas.microsoft.com/office/drawing/2014/main" val="10006"/>
                  </a:ext>
                </a:extLst>
              </a:tr>
              <a:tr h="347472">
                <a:tc>
                  <a:txBody>
                    <a:bodyPr/>
                    <a:lstStyle/>
                    <a:p>
                      <a:pPr algn="l"/>
                      <a:r>
                        <a:rPr sz="1400">
                          <a:solidFill>
                            <a:srgbClr val="0F2A3D"/>
                          </a:solidFill>
                          <a:latin typeface="Calibri"/>
                        </a:rPr>
                        <a:t>XGBoost + title features</a:t>
                      </a:r>
                    </a:p>
                  </a:txBody>
                  <a:tcPr marT="18288" marB="18288" anchor="ctr">
                    <a:solidFill>
                      <a:srgbClr val="FFFFFF"/>
                    </a:solidFill>
                  </a:tcPr>
                </a:tc>
                <a:tc>
                  <a:txBody>
                    <a:bodyPr/>
                    <a:lstStyle/>
                    <a:p>
                      <a:pPr algn="ctr"/>
                      <a:r>
                        <a:rPr sz="1400">
                          <a:solidFill>
                            <a:srgbClr val="0F2A3D"/>
                          </a:solidFill>
                          <a:latin typeface="Calibri"/>
                        </a:rPr>
                        <a:t>0.444</a:t>
                      </a:r>
                    </a:p>
                  </a:txBody>
                  <a:tcPr marT="18288" marB="18288" anchor="ctr">
                    <a:solidFill>
                      <a:srgbClr val="FFFFFF"/>
                    </a:solidFill>
                  </a:tcPr>
                </a:tc>
                <a:tc>
                  <a:txBody>
                    <a:bodyPr/>
                    <a:lstStyle/>
                    <a:p>
                      <a:pPr algn="ctr"/>
                      <a:r>
                        <a:rPr sz="1400">
                          <a:solidFill>
                            <a:srgbClr val="0F2A3D"/>
                          </a:solidFill>
                          <a:latin typeface="Calibri"/>
                        </a:rPr>
                        <a:t>0.427</a:t>
                      </a:r>
                    </a:p>
                  </a:txBody>
                  <a:tcPr marT="18288" marB="18288" anchor="ctr">
                    <a:solidFill>
                      <a:srgbClr val="FFFFFF"/>
                    </a:solidFill>
                  </a:tcPr>
                </a:tc>
                <a:tc>
                  <a:txBody>
                    <a:bodyPr/>
                    <a:lstStyle/>
                    <a:p>
                      <a:pPr algn="ctr"/>
                      <a:r>
                        <a:rPr sz="1400">
                          <a:solidFill>
                            <a:srgbClr val="0F2A3D"/>
                          </a:solidFill>
                          <a:latin typeface="Calibri"/>
                        </a:rPr>
                        <a:t>0.444</a:t>
                      </a:r>
                    </a:p>
                  </a:txBody>
                  <a:tcPr marT="18288" marB="18288" anchor="ctr">
                    <a:solidFill>
                      <a:srgbClr val="FFFFFF"/>
                    </a:solidFill>
                  </a:tcPr>
                </a:tc>
                <a:tc>
                  <a:txBody>
                    <a:bodyPr/>
                    <a:lstStyle/>
                    <a:p>
                      <a:pPr algn="ctr"/>
                      <a:r>
                        <a:rPr sz="1400">
                          <a:solidFill>
                            <a:srgbClr val="0F2A3D"/>
                          </a:solidFill>
                          <a:latin typeface="Calibri"/>
                        </a:rPr>
                        <a:t>0.425</a:t>
                      </a:r>
                    </a:p>
                  </a:txBody>
                  <a:tcPr marT="18288" marB="18288" anchor="ctr">
                    <a:solidFill>
                      <a:srgbClr val="FFFFFF"/>
                    </a:solidFill>
                  </a:tcPr>
                </a:tc>
                <a:tc>
                  <a:txBody>
                    <a:bodyPr/>
                    <a:lstStyle/>
                    <a:p>
                      <a:pPr algn="ctr"/>
                      <a:r>
                        <a:rPr sz="1400" b="1">
                          <a:solidFill>
                            <a:srgbClr val="0F2A3D"/>
                          </a:solidFill>
                          <a:latin typeface="Calibri"/>
                        </a:rPr>
                        <a:t>0.714</a:t>
                      </a:r>
                    </a:p>
                  </a:txBody>
                  <a:tcPr marT="18288" marB="18288" anchor="ctr">
                    <a:solidFill>
                      <a:srgbClr val="F6C9AE"/>
                    </a:solidFill>
                  </a:tcPr>
                </a:tc>
                <a:tc>
                  <a:txBody>
                    <a:bodyPr/>
                    <a:lstStyle/>
                    <a:p>
                      <a:pPr algn="ctr"/>
                      <a:r>
                        <a:rPr sz="1400">
                          <a:solidFill>
                            <a:srgbClr val="0F2A3D"/>
                          </a:solidFill>
                          <a:latin typeface="Calibri"/>
                        </a:rPr>
                        <a:t>0.812</a:t>
                      </a:r>
                    </a:p>
                  </a:txBody>
                  <a:tcPr marT="18288" marB="18288" anchor="ctr">
                    <a:solidFill>
                      <a:srgbClr val="FFFFFF"/>
                    </a:solidFill>
                  </a:tcPr>
                </a:tc>
                <a:extLst>
                  <a:ext uri="{0D108BD9-81ED-4DB2-BD59-A6C34878D82A}">
                    <a16:rowId xmlns:a16="http://schemas.microsoft.com/office/drawing/2014/main" val="10007"/>
                  </a:ext>
                </a:extLst>
              </a:tr>
              <a:tr h="347472">
                <a:tc>
                  <a:txBody>
                    <a:bodyPr/>
                    <a:lstStyle/>
                    <a:p>
                      <a:pPr algn="l"/>
                      <a:r>
                        <a:rPr sz="1400">
                          <a:solidFill>
                            <a:srgbClr val="0F2A3D"/>
                          </a:solidFill>
                          <a:latin typeface="Calibri"/>
                        </a:rPr>
                        <a:t>Ridge log-salary → tier</a:t>
                      </a:r>
                    </a:p>
                  </a:txBody>
                  <a:tcPr marT="18288" marB="18288" anchor="ctr">
                    <a:solidFill>
                      <a:srgbClr val="FFFFFF"/>
                    </a:solidFill>
                  </a:tcPr>
                </a:tc>
                <a:tc>
                  <a:txBody>
                    <a:bodyPr/>
                    <a:lstStyle/>
                    <a:p>
                      <a:pPr algn="ctr"/>
                      <a:r>
                        <a:rPr sz="1400">
                          <a:solidFill>
                            <a:srgbClr val="0F2A3D"/>
                          </a:solidFill>
                          <a:latin typeface="Calibri"/>
                        </a:rPr>
                        <a:t>0.405</a:t>
                      </a:r>
                    </a:p>
                  </a:txBody>
                  <a:tcPr marT="18288" marB="18288" anchor="ctr">
                    <a:solidFill>
                      <a:srgbClr val="FFFFFF"/>
                    </a:solidFill>
                  </a:tcPr>
                </a:tc>
                <a:tc>
                  <a:txBody>
                    <a:bodyPr/>
                    <a:lstStyle/>
                    <a:p>
                      <a:pPr algn="ctr"/>
                      <a:r>
                        <a:rPr sz="1400" b="1">
                          <a:solidFill>
                            <a:srgbClr val="0F2A3D"/>
                          </a:solidFill>
                          <a:latin typeface="Calibri"/>
                        </a:rPr>
                        <a:t>0.480</a:t>
                      </a:r>
                    </a:p>
                  </a:txBody>
                  <a:tcPr marT="18288" marB="18288" anchor="ctr">
                    <a:solidFill>
                      <a:srgbClr val="F6C9AE"/>
                    </a:solidFill>
                  </a:tcPr>
                </a:tc>
                <a:tc>
                  <a:txBody>
                    <a:bodyPr/>
                    <a:lstStyle/>
                    <a:p>
                      <a:pPr algn="ctr"/>
                      <a:r>
                        <a:rPr sz="1400">
                          <a:solidFill>
                            <a:srgbClr val="0F2A3D"/>
                          </a:solidFill>
                          <a:latin typeface="Calibri"/>
                        </a:rPr>
                        <a:t>0.405</a:t>
                      </a:r>
                    </a:p>
                  </a:txBody>
                  <a:tcPr marT="18288" marB="18288" anchor="ctr">
                    <a:solidFill>
                      <a:srgbClr val="FFFFFF"/>
                    </a:solidFill>
                  </a:tcPr>
                </a:tc>
                <a:tc>
                  <a:txBody>
                    <a:bodyPr/>
                    <a:lstStyle/>
                    <a:p>
                      <a:pPr algn="ctr"/>
                      <a:r>
                        <a:rPr sz="1400">
                          <a:solidFill>
                            <a:srgbClr val="0F2A3D"/>
                          </a:solidFill>
                          <a:latin typeface="Calibri"/>
                        </a:rPr>
                        <a:t>0.404</a:t>
                      </a:r>
                    </a:p>
                  </a:txBody>
                  <a:tcPr marT="18288" marB="18288" anchor="ctr">
                    <a:solidFill>
                      <a:srgbClr val="FFFFFF"/>
                    </a:solidFill>
                  </a:tcPr>
                </a:tc>
                <a:tc>
                  <a:txBody>
                    <a:bodyPr/>
                    <a:lstStyle/>
                    <a:p>
                      <a:pPr algn="ctr"/>
                      <a:r>
                        <a:rPr sz="1400">
                          <a:solidFill>
                            <a:srgbClr val="0F2A3D"/>
                          </a:solidFill>
                          <a:latin typeface="Calibri"/>
                        </a:rPr>
                        <a:t>n/a</a:t>
                      </a:r>
                    </a:p>
                  </a:txBody>
                  <a:tcPr marT="18288" marB="18288" anchor="ctr">
                    <a:solidFill>
                      <a:srgbClr val="FFFFFF"/>
                    </a:solidFill>
                  </a:tcPr>
                </a:tc>
                <a:tc>
                  <a:txBody>
                    <a:bodyPr/>
                    <a:lstStyle/>
                    <a:p>
                      <a:pPr algn="ctr"/>
                      <a:r>
                        <a:rPr sz="1400" b="1">
                          <a:solidFill>
                            <a:srgbClr val="0F2A3D"/>
                          </a:solidFill>
                          <a:latin typeface="Calibri"/>
                        </a:rPr>
                        <a:t>0.888</a:t>
                      </a:r>
                    </a:p>
                  </a:txBody>
                  <a:tcPr marT="18288" marB="18288" anchor="ctr">
                    <a:solidFill>
                      <a:srgbClr val="F6C9AE"/>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731520" y="5056632"/>
            <a:ext cx="10725912" cy="274320"/>
          </a:xfrm>
          <a:prstGeom prst="rect">
            <a:avLst/>
          </a:prstGeom>
          <a:noFill/>
        </p:spPr>
        <p:txBody>
          <a:bodyPr wrap="square" lIns="0" tIns="0" rIns="0" bIns="0" anchor="t">
            <a:spAutoFit/>
          </a:bodyPr>
          <a:lstStyle/>
          <a:p>
            <a:pPr algn="l">
              <a:spcAft>
                <a:spcPts val="600"/>
              </a:spcAft>
            </a:pPr>
            <a:r>
              <a:rPr sz="1100" b="0" i="1">
                <a:solidFill>
                  <a:srgbClr val="5E666C"/>
                </a:solidFill>
                <a:latin typeface="Calibri"/>
              </a:rPr>
              <a:t>Precision, recall and F1 are macro-averaged. Darker cells: best value in each column.</a:t>
            </a:r>
          </a:p>
        </p:txBody>
      </p:sp>
      <p:sp>
        <p:nvSpPr>
          <p:cNvPr id="6" name="RobustnessBar"/>
          <p:cNvSpPr/>
          <p:nvPr/>
        </p:nvSpPr>
        <p:spPr>
          <a:xfrm>
            <a:off x="731520" y="5440680"/>
            <a:ext cx="10725912" cy="868680"/>
          </a:xfrm>
          <a:prstGeom prst="roundRect">
            <a:avLst>
              <a:gd name="adj" fmla="val 12000"/>
            </a:avLst>
          </a:prstGeom>
          <a:solidFill>
            <a:srgbClr val="0F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5440680"/>
            <a:ext cx="10222992" cy="868680"/>
          </a:xfrm>
          <a:prstGeom prst="rect">
            <a:avLst/>
          </a:prstGeom>
          <a:noFill/>
        </p:spPr>
        <p:txBody>
          <a:bodyPr wrap="square" lIns="0" tIns="0" rIns="0" bIns="0" anchor="ctr">
            <a:spAutoFit/>
          </a:bodyPr>
          <a:lstStyle/>
          <a:p>
            <a:pPr algn="l">
              <a:spcAft>
                <a:spcPts val="0"/>
              </a:spcAft>
            </a:pPr>
            <a:r>
              <a:rPr sz="1500" b="1" i="0">
                <a:solidFill>
                  <a:srgbClr val="E4733B"/>
                </a:solidFill>
                <a:latin typeface="Calibri"/>
              </a:rPr>
              <a:t>Is the gain real?  </a:t>
            </a:r>
            <a:r>
              <a:rPr sz="1500" b="0" i="0">
                <a:solidFill>
                  <a:srgbClr val="FFFFFF"/>
                </a:solidFill>
                <a:latin typeface="Calibri"/>
              </a:rPr>
              <a:t>Bootstrap: +0.026 F1, 95% CI [+0.019, +0.032].  5-fold CV: F1 0.395 → 0.423.  Trained on 2020–24, tested on 2025: accuracy 0.409 → 0.440.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31520" y="658368"/>
            <a:ext cx="10725912" cy="667512"/>
          </a:xfrm>
          <a:prstGeom prst="rect">
            <a:avLst/>
          </a:prstGeom>
          <a:noFill/>
        </p:spPr>
        <p:txBody>
          <a:bodyPr wrap="square" lIns="0" tIns="0" rIns="0" bIns="0" anchor="ctr">
            <a:spAutoFit/>
          </a:bodyPr>
          <a:lstStyle/>
          <a:p>
            <a:pPr algn="l">
              <a:spcAft>
                <a:spcPts val="600"/>
              </a:spcAft>
            </a:pPr>
            <a:r>
              <a:rPr sz="3600" b="1" i="0">
                <a:solidFill>
                  <a:srgbClr val="0F2A3D"/>
                </a:solidFill>
                <a:latin typeface="Cambria"/>
              </a:rPr>
              <a:t>What the Model Learned, and Where It Fails</a:t>
            </a:r>
          </a:p>
        </p:txBody>
      </p:sp>
      <p:sp>
        <p:nvSpPr>
          <p:cNvPr id="3" name="Subtitle"/>
          <p:cNvSpPr txBox="1"/>
          <p:nvPr/>
        </p:nvSpPr>
        <p:spPr>
          <a:xfrm>
            <a:off x="731520" y="1362456"/>
            <a:ext cx="10725912" cy="393192"/>
          </a:xfrm>
          <a:prstGeom prst="rect">
            <a:avLst/>
          </a:prstGeom>
          <a:noFill/>
        </p:spPr>
        <p:txBody>
          <a:bodyPr wrap="square" lIns="0" tIns="0" rIns="0" bIns="0" anchor="t">
            <a:spAutoFit/>
          </a:bodyPr>
          <a:lstStyle/>
          <a:p>
            <a:pPr algn="l">
              <a:spcAft>
                <a:spcPts val="600"/>
              </a:spcAft>
            </a:pPr>
            <a:r>
              <a:rPr sz="1850" b="0" i="1">
                <a:solidFill>
                  <a:srgbClr val="5E666C"/>
                </a:solidFill>
                <a:latin typeface="Calibri"/>
              </a:rPr>
              <a:t>Job title, experience and location drive predictions; the crowded middle tiers are hardest</a:t>
            </a:r>
          </a:p>
        </p:txBody>
      </p:sp>
      <p:graphicFrame>
        <p:nvGraphicFramePr>
          <p:cNvPr id="4" name="ShapChart"/>
          <p:cNvGraphicFramePr>
            <a:graphicFrameLocks noGrp="1"/>
          </p:cNvGraphicFramePr>
          <p:nvPr/>
        </p:nvGraphicFramePr>
        <p:xfrm>
          <a:off x="594360" y="1828800"/>
          <a:ext cx="5120640" cy="3520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SalaryBandChart"/>
          <p:cNvGraphicFramePr>
            <a:graphicFrameLocks noGrp="1"/>
          </p:cNvGraphicFramePr>
          <p:nvPr/>
        </p:nvGraphicFramePr>
        <p:xfrm>
          <a:off x="5943600" y="1828800"/>
          <a:ext cx="5669280" cy="3520440"/>
        </p:xfrm>
        <a:graphic>
          <a:graphicData uri="http://schemas.openxmlformats.org/drawingml/2006/chart">
            <c:chart xmlns:c="http://schemas.openxmlformats.org/drawingml/2006/chart" xmlns:r="http://schemas.openxmlformats.org/officeDocument/2006/relationships" r:id="rId4"/>
          </a:graphicData>
        </a:graphic>
      </p:graphicFrame>
      <p:sp>
        <p:nvSpPr>
          <p:cNvPr id="6" name="TitleTermsCallout"/>
          <p:cNvSpPr/>
          <p:nvPr/>
        </p:nvSpPr>
        <p:spPr>
          <a:xfrm>
            <a:off x="731520" y="5486400"/>
            <a:ext cx="10725912" cy="777240"/>
          </a:xfrm>
          <a:prstGeom prst="roundRect">
            <a:avLst>
              <a:gd name="adj" fmla="val 12000"/>
            </a:avLst>
          </a:prstGeom>
          <a:solidFill>
            <a:srgbClr val="FBE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5486400"/>
            <a:ext cx="10222992" cy="777240"/>
          </a:xfrm>
          <a:prstGeom prst="rect">
            <a:avLst/>
          </a:prstGeom>
          <a:noFill/>
        </p:spPr>
        <p:txBody>
          <a:bodyPr wrap="square" lIns="0" tIns="0" rIns="0" bIns="0" anchor="ctr">
            <a:spAutoFit/>
          </a:bodyPr>
          <a:lstStyle/>
          <a:p>
            <a:pPr algn="l">
              <a:spcAft>
                <a:spcPts val="0"/>
              </a:spcAft>
            </a:pPr>
            <a:r>
              <a:rPr sz="1400" b="1" i="0">
                <a:solidFill>
                  <a:srgbClr val="C4561F"/>
                </a:solidFill>
                <a:latin typeface="Calibri"/>
              </a:rPr>
              <a:t>Title words: </a:t>
            </a:r>
            <a:r>
              <a:rPr sz="1400" b="0" i="0">
                <a:solidFill>
                  <a:srgbClr val="0F2A3D"/>
                </a:solidFill>
                <a:latin typeface="Calibri"/>
              </a:rPr>
              <a:t>“engineering manager”, “quantitative researcher”, “ML” push toward High; “analyst”, “BI”, “specialist” push toward Low. Association, not cause.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31520" y="658368"/>
            <a:ext cx="10725912" cy="667512"/>
          </a:xfrm>
          <a:prstGeom prst="rect">
            <a:avLst/>
          </a:prstGeom>
          <a:noFill/>
        </p:spPr>
        <p:txBody>
          <a:bodyPr wrap="square" lIns="0" tIns="0" rIns="0" bIns="0" anchor="ctr">
            <a:spAutoFit/>
          </a:bodyPr>
          <a:lstStyle/>
          <a:p>
            <a:pPr algn="l">
              <a:spcAft>
                <a:spcPts val="600"/>
              </a:spcAft>
            </a:pPr>
            <a:r>
              <a:rPr sz="3600" b="1" i="0">
                <a:solidFill>
                  <a:srgbClr val="0F2A3D"/>
                </a:solidFill>
                <a:latin typeface="Cambria"/>
              </a:rPr>
              <a:t>Key Findings, Tied Back to Our Objectives</a:t>
            </a:r>
          </a:p>
        </p:txBody>
      </p:sp>
      <p:sp>
        <p:nvSpPr>
          <p:cNvPr id="3" name="FindingCard0"/>
          <p:cNvSpPr/>
          <p:nvPr/>
        </p:nvSpPr>
        <p:spPr>
          <a:xfrm>
            <a:off x="731520" y="1581912"/>
            <a:ext cx="3410712" cy="2926080"/>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78408" y="1828800"/>
            <a:ext cx="612648" cy="73152"/>
          </a:xfrm>
          <a:prstGeom prst="rect">
            <a:avLst/>
          </a:prstGeom>
          <a:solidFill>
            <a:srgbClr val="E47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1993392"/>
            <a:ext cx="2953512" cy="457200"/>
          </a:xfrm>
          <a:prstGeom prst="rect">
            <a:avLst/>
          </a:prstGeom>
          <a:noFill/>
        </p:spPr>
        <p:txBody>
          <a:bodyPr wrap="square" lIns="0" tIns="0" rIns="0" bIns="0" anchor="t">
            <a:spAutoFit/>
          </a:bodyPr>
          <a:lstStyle/>
          <a:p>
            <a:pPr algn="l">
              <a:spcAft>
                <a:spcPts val="600"/>
              </a:spcAft>
            </a:pPr>
            <a:r>
              <a:rPr sz="2100" b="1" i="0">
                <a:solidFill>
                  <a:srgbClr val="0F2A3D"/>
                </a:solidFill>
                <a:latin typeface="Cambria"/>
              </a:rPr>
              <a:t>1. Baseline</a:t>
            </a:r>
          </a:p>
        </p:txBody>
      </p:sp>
      <p:sp>
        <p:nvSpPr>
          <p:cNvPr id="6" name="TextBox 5"/>
          <p:cNvSpPr txBox="1"/>
          <p:nvPr/>
        </p:nvSpPr>
        <p:spPr>
          <a:xfrm>
            <a:off x="978408" y="2606040"/>
            <a:ext cx="2953512" cy="1828800"/>
          </a:xfrm>
          <a:prstGeom prst="rect">
            <a:avLst/>
          </a:prstGeom>
          <a:noFill/>
        </p:spPr>
        <p:txBody>
          <a:bodyPr wrap="square" lIns="0" tIns="0" rIns="0" bIns="0" anchor="t">
            <a:spAutoFit/>
          </a:bodyPr>
          <a:lstStyle/>
          <a:p>
            <a:pPr algn="l">
              <a:spcAft>
                <a:spcPts val="600"/>
              </a:spcAft>
            </a:pPr>
            <a:r>
              <a:rPr sz="1600" b="0" i="0">
                <a:solidFill>
                  <a:srgbClr val="0F2A3D"/>
                </a:solidFill>
                <a:latin typeface="Calibri"/>
              </a:rPr>
              <a:t>A leak-safe logistic baseline lifts accuracy from 25% to 41.7%.</a:t>
            </a:r>
          </a:p>
        </p:txBody>
      </p:sp>
      <p:sp>
        <p:nvSpPr>
          <p:cNvPr id="7" name="FindingCard1"/>
          <p:cNvSpPr/>
          <p:nvPr/>
        </p:nvSpPr>
        <p:spPr>
          <a:xfrm>
            <a:off x="4389120" y="1581912"/>
            <a:ext cx="3410712" cy="2926080"/>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636008" y="1828800"/>
            <a:ext cx="612648" cy="73152"/>
          </a:xfrm>
          <a:prstGeom prst="rect">
            <a:avLst/>
          </a:prstGeom>
          <a:solidFill>
            <a:srgbClr val="E47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1993392"/>
            <a:ext cx="2953512" cy="457200"/>
          </a:xfrm>
          <a:prstGeom prst="rect">
            <a:avLst/>
          </a:prstGeom>
          <a:noFill/>
        </p:spPr>
        <p:txBody>
          <a:bodyPr wrap="square" lIns="0" tIns="0" rIns="0" bIns="0" anchor="t">
            <a:spAutoFit/>
          </a:bodyPr>
          <a:lstStyle/>
          <a:p>
            <a:pPr algn="l">
              <a:spcAft>
                <a:spcPts val="600"/>
              </a:spcAft>
            </a:pPr>
            <a:r>
              <a:rPr sz="2100" b="1" i="0">
                <a:solidFill>
                  <a:srgbClr val="0F2A3D"/>
                </a:solidFill>
                <a:latin typeface="Cambria"/>
              </a:rPr>
              <a:t>2. Better models</a:t>
            </a:r>
          </a:p>
        </p:txBody>
      </p:sp>
      <p:sp>
        <p:nvSpPr>
          <p:cNvPr id="10" name="TextBox 9"/>
          <p:cNvSpPr txBox="1"/>
          <p:nvPr/>
        </p:nvSpPr>
        <p:spPr>
          <a:xfrm>
            <a:off x="4636008" y="2606040"/>
            <a:ext cx="2953512" cy="1828800"/>
          </a:xfrm>
          <a:prstGeom prst="rect">
            <a:avLst/>
          </a:prstGeom>
          <a:noFill/>
        </p:spPr>
        <p:txBody>
          <a:bodyPr wrap="square" lIns="0" tIns="0" rIns="0" bIns="0" anchor="t">
            <a:spAutoFit/>
          </a:bodyPr>
          <a:lstStyle/>
          <a:p>
            <a:pPr algn="l">
              <a:spcAft>
                <a:spcPts val="600"/>
              </a:spcAft>
            </a:pPr>
            <a:r>
              <a:rPr sz="1600" b="0" i="0">
                <a:solidFill>
                  <a:srgbClr val="0F2A3D"/>
                </a:solidFill>
                <a:latin typeface="Calibri"/>
              </a:rPr>
              <a:t>RF and boosting tie the baseline: the 8 features are the limit. Adding the job title lifts accuracy to 44.7% and ROC-AUC to 0.713.</a:t>
            </a:r>
          </a:p>
        </p:txBody>
      </p:sp>
      <p:sp>
        <p:nvSpPr>
          <p:cNvPr id="11" name="FindingCard2"/>
          <p:cNvSpPr/>
          <p:nvPr/>
        </p:nvSpPr>
        <p:spPr>
          <a:xfrm>
            <a:off x="8046720" y="1581912"/>
            <a:ext cx="3410712" cy="2926080"/>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93608" y="1828800"/>
            <a:ext cx="612648" cy="73152"/>
          </a:xfrm>
          <a:prstGeom prst="rect">
            <a:avLst/>
          </a:prstGeom>
          <a:solidFill>
            <a:srgbClr val="E47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3608" y="1993392"/>
            <a:ext cx="2953512" cy="457200"/>
          </a:xfrm>
          <a:prstGeom prst="rect">
            <a:avLst/>
          </a:prstGeom>
          <a:noFill/>
        </p:spPr>
        <p:txBody>
          <a:bodyPr wrap="square" lIns="0" tIns="0" rIns="0" bIns="0" anchor="t">
            <a:spAutoFit/>
          </a:bodyPr>
          <a:lstStyle/>
          <a:p>
            <a:pPr algn="l">
              <a:spcAft>
                <a:spcPts val="600"/>
              </a:spcAft>
            </a:pPr>
            <a:r>
              <a:rPr sz="2100" b="1" i="0">
                <a:solidFill>
                  <a:srgbClr val="0F2A3D"/>
                </a:solidFill>
                <a:latin typeface="Cambria"/>
              </a:rPr>
              <a:t>3. AI exposure</a:t>
            </a:r>
          </a:p>
        </p:txBody>
      </p:sp>
      <p:sp>
        <p:nvSpPr>
          <p:cNvPr id="14" name="TextBox 13"/>
          <p:cNvSpPr txBox="1"/>
          <p:nvPr/>
        </p:nvSpPr>
        <p:spPr>
          <a:xfrm>
            <a:off x="8293608" y="2606040"/>
            <a:ext cx="2953512" cy="1828800"/>
          </a:xfrm>
          <a:prstGeom prst="rect">
            <a:avLst/>
          </a:prstGeom>
          <a:noFill/>
        </p:spPr>
        <p:txBody>
          <a:bodyPr wrap="square" lIns="0" tIns="0" rIns="0" bIns="0" anchor="t">
            <a:spAutoFit/>
          </a:bodyPr>
          <a:lstStyle/>
          <a:p>
            <a:pPr algn="l">
              <a:spcAft>
                <a:spcPts val="600"/>
              </a:spcAft>
            </a:pPr>
            <a:r>
              <a:rPr sz="1600" b="0" i="0">
                <a:solidFill>
                  <a:srgbClr val="0F2A3D"/>
                </a:solidFill>
                <a:latin typeface="Calibri"/>
              </a:rPr>
              <a:t>The ILO score changes nothing: it is a relabel of role_family, so this data cannot test the AI–pay link.</a:t>
            </a:r>
          </a:p>
        </p:txBody>
      </p:sp>
      <p:sp>
        <p:nvSpPr>
          <p:cNvPr id="15" name="AnswerBar"/>
          <p:cNvSpPr/>
          <p:nvPr/>
        </p:nvSpPr>
        <p:spPr>
          <a:xfrm>
            <a:off x="731520" y="4818888"/>
            <a:ext cx="10725912" cy="1280160"/>
          </a:xfrm>
          <a:prstGeom prst="roundRect">
            <a:avLst>
              <a:gd name="adj" fmla="val 12000"/>
            </a:avLst>
          </a:prstGeom>
          <a:solidFill>
            <a:srgbClr val="0F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818888"/>
            <a:ext cx="10222992" cy="1280160"/>
          </a:xfrm>
          <a:prstGeom prst="rect">
            <a:avLst/>
          </a:prstGeom>
          <a:noFill/>
        </p:spPr>
        <p:txBody>
          <a:bodyPr wrap="square" lIns="0" tIns="0" rIns="0" bIns="0" anchor="ctr">
            <a:spAutoFit/>
          </a:bodyPr>
          <a:lstStyle/>
          <a:p>
            <a:pPr algn="l">
              <a:spcAft>
                <a:spcPts val="0"/>
              </a:spcAft>
            </a:pPr>
            <a:r>
              <a:rPr sz="1700" b="1" i="0">
                <a:solidFill>
                  <a:srgbClr val="E4733B"/>
                </a:solidFill>
                <a:latin typeface="Calibri"/>
              </a:rPr>
              <a:t>Answer to our question: </a:t>
            </a:r>
            <a:r>
              <a:rPr sz="1700" b="0" i="0">
                <a:solidFill>
                  <a:srgbClr val="FFFFFF"/>
                </a:solidFill>
                <a:latin typeface="Calibri"/>
              </a:rPr>
              <a:t>job details predict salary tier modestly: 45% exactly right and 81% within one tier, against 25% by chance. Job title, seniority and location matter most.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31520" y="658368"/>
            <a:ext cx="10725912" cy="667512"/>
          </a:xfrm>
          <a:prstGeom prst="rect">
            <a:avLst/>
          </a:prstGeom>
          <a:noFill/>
        </p:spPr>
        <p:txBody>
          <a:bodyPr wrap="square" lIns="0" tIns="0" rIns="0" bIns="0" anchor="ctr">
            <a:spAutoFit/>
          </a:bodyPr>
          <a:lstStyle/>
          <a:p>
            <a:pPr algn="l">
              <a:spcAft>
                <a:spcPts val="600"/>
              </a:spcAft>
            </a:pPr>
            <a:r>
              <a:rPr sz="3600" b="1" i="0">
                <a:solidFill>
                  <a:srgbClr val="0F2A3D"/>
                </a:solidFill>
                <a:latin typeface="Cambria"/>
              </a:rPr>
              <a:t>Limitations, Conclusion and Future Work</a:t>
            </a:r>
          </a:p>
        </p:txBody>
      </p:sp>
      <p:sp>
        <p:nvSpPr>
          <p:cNvPr id="3" name="ConclusionCard0"/>
          <p:cNvSpPr/>
          <p:nvPr/>
        </p:nvSpPr>
        <p:spPr>
          <a:xfrm>
            <a:off x="731520" y="1581912"/>
            <a:ext cx="3410712" cy="4526280"/>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78408" y="1828800"/>
            <a:ext cx="612648" cy="73152"/>
          </a:xfrm>
          <a:prstGeom prst="rect">
            <a:avLst/>
          </a:prstGeom>
          <a:solidFill>
            <a:srgbClr val="E47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1993392"/>
            <a:ext cx="2953512" cy="457200"/>
          </a:xfrm>
          <a:prstGeom prst="rect">
            <a:avLst/>
          </a:prstGeom>
          <a:noFill/>
        </p:spPr>
        <p:txBody>
          <a:bodyPr wrap="square" lIns="0" tIns="0" rIns="0" bIns="0" anchor="t">
            <a:spAutoFit/>
          </a:bodyPr>
          <a:lstStyle/>
          <a:p>
            <a:pPr algn="l">
              <a:spcAft>
                <a:spcPts val="600"/>
              </a:spcAft>
            </a:pPr>
            <a:r>
              <a:rPr sz="2100" b="1" i="0">
                <a:solidFill>
                  <a:srgbClr val="0F2A3D"/>
                </a:solidFill>
                <a:latin typeface="Cambria"/>
              </a:rPr>
              <a:t>Limitations</a:t>
            </a:r>
          </a:p>
        </p:txBody>
      </p:sp>
      <p:sp>
        <p:nvSpPr>
          <p:cNvPr id="6" name="TextBox 5"/>
          <p:cNvSpPr txBox="1"/>
          <p:nvPr/>
        </p:nvSpPr>
        <p:spPr>
          <a:xfrm>
            <a:off x="978408" y="2606040"/>
            <a:ext cx="2971800" cy="3383280"/>
          </a:xfrm>
          <a:prstGeom prst="rect">
            <a:avLst/>
          </a:prstGeom>
          <a:noFill/>
        </p:spPr>
        <p:txBody>
          <a:bodyPr wrap="square" lIns="0" tIns="0" rIns="0" bIns="0" anchor="t">
            <a:spAutoFit/>
          </a:bodyPr>
          <a:lstStyle/>
          <a:p>
            <a:pPr marL="201168" indent="-201168" algn="l">
              <a:spcAft>
                <a:spcPts val="1200"/>
              </a:spcAft>
              <a:buChar char="•"/>
            </a:pPr>
            <a:r>
              <a:rPr sz="1600" b="0" i="0">
                <a:solidFill>
                  <a:srgbClr val="0F2A3D"/>
                </a:solidFill>
                <a:latin typeface="Calibri"/>
              </a:rPr>
              <a:t>Self-reported salaries; 84% US-based, 92% from 2024–25</a:t>
            </a:r>
          </a:p>
          <a:p>
            <a:pPr marL="201168" indent="-201168" algn="l">
              <a:spcAft>
                <a:spcPts val="1200"/>
              </a:spcAft>
              <a:buChar char="•"/>
            </a:pPr>
            <a:r>
              <a:rPr sz="1600" b="0" i="0">
                <a:solidFill>
                  <a:srgbClr val="0F2A3D"/>
                </a:solidFill>
                <a:latin typeface="Calibri"/>
              </a:rPr>
              <a:t>Four tiers hide wide pay ranges within each tier</a:t>
            </a:r>
          </a:p>
          <a:p>
            <a:pPr marL="201168" indent="-201168" algn="l">
              <a:spcAft>
                <a:spcPts val="1200"/>
              </a:spcAft>
              <a:buChar char="•"/>
            </a:pPr>
            <a:r>
              <a:rPr sz="1600" b="0" i="0">
                <a:solidFill>
                  <a:srgbClr val="0F2A3D"/>
                </a:solidFill>
                <a:latin typeface="Calibri"/>
              </a:rPr>
              <a:t>Free-text titles vary between companies</a:t>
            </a:r>
          </a:p>
          <a:p>
            <a:pPr marL="201168" indent="-201168" algn="l">
              <a:spcAft>
                <a:spcPts val="1200"/>
              </a:spcAft>
              <a:buChar char="•"/>
            </a:pPr>
            <a:r>
              <a:rPr sz="1600" b="0" i="0">
                <a:solidFill>
                  <a:srgbClr val="0F2A3D"/>
                </a:solidFill>
                <a:latin typeface="Calibri"/>
              </a:rPr>
              <a:t>One exposure score per role family</a:t>
            </a:r>
          </a:p>
        </p:txBody>
      </p:sp>
      <p:sp>
        <p:nvSpPr>
          <p:cNvPr id="7" name="ConclusionCard1"/>
          <p:cNvSpPr/>
          <p:nvPr/>
        </p:nvSpPr>
        <p:spPr>
          <a:xfrm>
            <a:off x="4389120" y="1581912"/>
            <a:ext cx="3410712" cy="4526280"/>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636008" y="1828800"/>
            <a:ext cx="612648" cy="73152"/>
          </a:xfrm>
          <a:prstGeom prst="rect">
            <a:avLst/>
          </a:prstGeom>
          <a:solidFill>
            <a:srgbClr val="E47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1993392"/>
            <a:ext cx="2953512" cy="457200"/>
          </a:xfrm>
          <a:prstGeom prst="rect">
            <a:avLst/>
          </a:prstGeom>
          <a:noFill/>
        </p:spPr>
        <p:txBody>
          <a:bodyPr wrap="square" lIns="0" tIns="0" rIns="0" bIns="0" anchor="t">
            <a:spAutoFit/>
          </a:bodyPr>
          <a:lstStyle/>
          <a:p>
            <a:pPr algn="l">
              <a:spcAft>
                <a:spcPts val="600"/>
              </a:spcAft>
            </a:pPr>
            <a:r>
              <a:rPr sz="2100" b="1" i="0">
                <a:solidFill>
                  <a:srgbClr val="0F2A3D"/>
                </a:solidFill>
                <a:latin typeface="Cambria"/>
              </a:rPr>
              <a:t>What it means</a:t>
            </a:r>
          </a:p>
        </p:txBody>
      </p:sp>
      <p:sp>
        <p:nvSpPr>
          <p:cNvPr id="10" name="TextBox 9"/>
          <p:cNvSpPr txBox="1"/>
          <p:nvPr/>
        </p:nvSpPr>
        <p:spPr>
          <a:xfrm>
            <a:off x="4636008" y="2606040"/>
            <a:ext cx="2971800" cy="3383280"/>
          </a:xfrm>
          <a:prstGeom prst="rect">
            <a:avLst/>
          </a:prstGeom>
          <a:noFill/>
        </p:spPr>
        <p:txBody>
          <a:bodyPr wrap="square" lIns="0" tIns="0" rIns="0" bIns="0" anchor="t">
            <a:spAutoFit/>
          </a:bodyPr>
          <a:lstStyle/>
          <a:p>
            <a:pPr marL="201168" indent="-201168" algn="l">
              <a:spcAft>
                <a:spcPts val="1200"/>
              </a:spcAft>
              <a:buChar char="•"/>
            </a:pPr>
            <a:r>
              <a:rPr sz="1600" b="0" i="0">
                <a:solidFill>
                  <a:srgbClr val="0F2A3D"/>
                </a:solidFill>
                <a:latin typeface="Calibri"/>
              </a:rPr>
              <a:t>A rough benchmark, not a pay calculator</a:t>
            </a:r>
          </a:p>
          <a:p>
            <a:pPr marL="201168" indent="-201168" algn="l">
              <a:spcAft>
                <a:spcPts val="1200"/>
              </a:spcAft>
              <a:buChar char="•"/>
            </a:pPr>
            <a:r>
              <a:rPr sz="1600" b="0" i="0">
                <a:solidFill>
                  <a:srgbClr val="0F2A3D"/>
                </a:solidFill>
                <a:latin typeface="Calibri"/>
              </a:rPr>
              <a:t>Reliable at the extremes, weak in the middle tiers</a:t>
            </a:r>
          </a:p>
          <a:p>
            <a:pPr marL="201168" indent="-201168" algn="l">
              <a:spcAft>
                <a:spcPts val="1200"/>
              </a:spcAft>
              <a:buChar char="•"/>
            </a:pPr>
            <a:r>
              <a:rPr sz="1600" b="0" i="0">
                <a:solidFill>
                  <a:srgbClr val="0F2A3D"/>
                </a:solidFill>
                <a:latin typeface="Calibri"/>
              </a:rPr>
              <a:t>Importance shows association, not cause</a:t>
            </a:r>
          </a:p>
        </p:txBody>
      </p:sp>
      <p:sp>
        <p:nvSpPr>
          <p:cNvPr id="11" name="ConclusionCard2"/>
          <p:cNvSpPr/>
          <p:nvPr/>
        </p:nvSpPr>
        <p:spPr>
          <a:xfrm>
            <a:off x="8046720" y="1581912"/>
            <a:ext cx="3410712" cy="4526280"/>
          </a:xfrm>
          <a:prstGeom prst="roundRect">
            <a:avLst>
              <a:gd name="adj" fmla="val 4000"/>
            </a:avLst>
          </a:prstGeom>
          <a:solidFill>
            <a:srgbClr val="FFFFFF"/>
          </a:solidFill>
          <a:ln w="9525">
            <a:solidFill>
              <a:srgbClr val="E8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93608" y="1828800"/>
            <a:ext cx="612648" cy="73152"/>
          </a:xfrm>
          <a:prstGeom prst="rect">
            <a:avLst/>
          </a:prstGeom>
          <a:solidFill>
            <a:srgbClr val="E47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3608" y="1993392"/>
            <a:ext cx="2953512" cy="457200"/>
          </a:xfrm>
          <a:prstGeom prst="rect">
            <a:avLst/>
          </a:prstGeom>
          <a:noFill/>
        </p:spPr>
        <p:txBody>
          <a:bodyPr wrap="square" lIns="0" tIns="0" rIns="0" bIns="0" anchor="t">
            <a:spAutoFit/>
          </a:bodyPr>
          <a:lstStyle/>
          <a:p>
            <a:pPr algn="l">
              <a:spcAft>
                <a:spcPts val="600"/>
              </a:spcAft>
            </a:pPr>
            <a:r>
              <a:rPr sz="2100" b="1" i="0">
                <a:solidFill>
                  <a:srgbClr val="0F2A3D"/>
                </a:solidFill>
                <a:latin typeface="Cambria"/>
              </a:rPr>
              <a:t>Next steps</a:t>
            </a:r>
          </a:p>
        </p:txBody>
      </p:sp>
      <p:sp>
        <p:nvSpPr>
          <p:cNvPr id="14" name="TextBox 13"/>
          <p:cNvSpPr txBox="1"/>
          <p:nvPr/>
        </p:nvSpPr>
        <p:spPr>
          <a:xfrm>
            <a:off x="8293608" y="2606040"/>
            <a:ext cx="2971800" cy="3383280"/>
          </a:xfrm>
          <a:prstGeom prst="rect">
            <a:avLst/>
          </a:prstGeom>
          <a:noFill/>
        </p:spPr>
        <p:txBody>
          <a:bodyPr wrap="square" lIns="0" tIns="0" rIns="0" bIns="0" anchor="t">
            <a:spAutoFit/>
          </a:bodyPr>
          <a:lstStyle/>
          <a:p>
            <a:pPr marL="201168" indent="-201168" algn="l">
              <a:spcAft>
                <a:spcPts val="1200"/>
              </a:spcAft>
              <a:buChar char="•"/>
            </a:pPr>
            <a:r>
              <a:rPr sz="1600" b="0" i="0">
                <a:solidFill>
                  <a:srgbClr val="0F2A3D"/>
                </a:solidFill>
                <a:latin typeface="Calibri"/>
              </a:rPr>
              <a:t>Match titles to detailed ISCO codes so exposure varies</a:t>
            </a:r>
          </a:p>
          <a:p>
            <a:pPr marL="201168" indent="-201168" algn="l">
              <a:spcAft>
                <a:spcPts val="1200"/>
              </a:spcAft>
              <a:buChar char="•"/>
            </a:pPr>
            <a:r>
              <a:rPr sz="1600" b="0" i="0">
                <a:solidFill>
                  <a:srgbClr val="0F2A3D"/>
                </a:solidFill>
                <a:latin typeface="Calibri"/>
              </a:rPr>
              <a:t>Ordinal models that respect tier order</a:t>
            </a:r>
          </a:p>
          <a:p>
            <a:pPr marL="201168" indent="-201168" algn="l">
              <a:spcAft>
                <a:spcPts val="1200"/>
              </a:spcAft>
              <a:buChar char="•"/>
            </a:pPr>
            <a:r>
              <a:rPr sz="1600" b="0" i="0">
                <a:solidFill>
                  <a:srgbClr val="0F2A3D"/>
                </a:solidFill>
                <a:latin typeface="Calibri"/>
              </a:rPr>
              <a:t>Cost-of-living adjustment for non-US pay</a:t>
            </a:r>
          </a:p>
          <a:p>
            <a:pPr marL="201168" indent="-201168" algn="l">
              <a:spcAft>
                <a:spcPts val="1200"/>
              </a:spcAft>
              <a:buChar char="•"/>
            </a:pPr>
            <a:r>
              <a:rPr sz="1600" b="0" i="0">
                <a:solidFill>
                  <a:srgbClr val="0F2A3D"/>
                </a:solidFill>
                <a:latin typeface="Calibri"/>
              </a:rPr>
              <a:t>Refresh tier cut-offs each year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31520" y="658368"/>
            <a:ext cx="10725912" cy="667512"/>
          </a:xfrm>
          <a:prstGeom prst="rect">
            <a:avLst/>
          </a:prstGeom>
          <a:noFill/>
        </p:spPr>
        <p:txBody>
          <a:bodyPr wrap="square" lIns="0" tIns="0" rIns="0" bIns="0" anchor="ctr">
            <a:spAutoFit/>
          </a:bodyPr>
          <a:lstStyle/>
          <a:p>
            <a:pPr algn="l">
              <a:spcAft>
                <a:spcPts val="600"/>
              </a:spcAft>
            </a:pPr>
            <a:r>
              <a:rPr sz="3600" b="1" i="0">
                <a:solidFill>
                  <a:srgbClr val="0F2A3D"/>
                </a:solidFill>
                <a:latin typeface="Cambria"/>
              </a:rPr>
              <a:t>References and Questions</a:t>
            </a:r>
          </a:p>
        </p:txBody>
      </p:sp>
      <p:sp>
        <p:nvSpPr>
          <p:cNvPr id="3" name="TextBox 2"/>
          <p:cNvSpPr txBox="1"/>
          <p:nvPr/>
        </p:nvSpPr>
        <p:spPr>
          <a:xfrm>
            <a:off x="731520" y="1600200"/>
            <a:ext cx="10725912" cy="3474720"/>
          </a:xfrm>
          <a:prstGeom prst="rect">
            <a:avLst/>
          </a:prstGeom>
          <a:noFill/>
        </p:spPr>
        <p:txBody>
          <a:bodyPr wrap="square" lIns="0" tIns="0" rIns="0" bIns="0" anchor="t">
            <a:spAutoFit/>
          </a:bodyPr>
          <a:lstStyle/>
          <a:p>
            <a:pPr algn="l">
              <a:spcAft>
                <a:spcPts val="900"/>
              </a:spcAft>
            </a:pPr>
            <a:r>
              <a:rPr sz="1400" b="0" i="0">
                <a:solidFill>
                  <a:srgbClr val="0F2A3D"/>
                </a:solidFill>
                <a:latin typeface="Calibri"/>
              </a:rPr>
              <a:t>foorilla. (2025). ai-jobs-net-salaries [Data set]. GitHub. CC0 1.0.</a:t>
            </a:r>
          </a:p>
          <a:p>
            <a:pPr algn="l">
              <a:spcAft>
                <a:spcPts val="900"/>
              </a:spcAft>
            </a:pPr>
            <a:r>
              <a:rPr sz="1400" b="0" i="0">
                <a:solidFill>
                  <a:srgbClr val="0F2A3D"/>
                </a:solidFill>
                <a:latin typeface="Calibri"/>
              </a:rPr>
              <a:t>Gmyrek, P., Berg, J., Kamiński, K., Konopczyński, F., Ładna, A., Nafradi, B., Rosłaniec, K., &amp; Troszyński, M. (2025). Generative AI and jobs: A refined global index of occupational exposure (ILO Working Paper 140). International Labour Office. https://doi.org/10.54394/HETP0387 (CC BY 4.0)</a:t>
            </a:r>
          </a:p>
          <a:p>
            <a:pPr algn="l">
              <a:spcAft>
                <a:spcPts val="900"/>
              </a:spcAft>
            </a:pPr>
            <a:r>
              <a:rPr sz="1400" b="0" i="0">
                <a:solidFill>
                  <a:srgbClr val="0F2A3D"/>
                </a:solidFill>
                <a:latin typeface="Calibri"/>
              </a:rPr>
              <a:t>Pedregosa, F., et al. (2011). Scikit-learn: Machine learning in Python. Journal of Machine Learning Research, 12, 2825–2830.</a:t>
            </a:r>
          </a:p>
          <a:p>
            <a:pPr algn="l">
              <a:spcAft>
                <a:spcPts val="900"/>
              </a:spcAft>
            </a:pPr>
            <a:r>
              <a:rPr sz="1400" b="0" i="0">
                <a:solidFill>
                  <a:srgbClr val="0F2A3D"/>
                </a:solidFill>
                <a:latin typeface="Calibri"/>
              </a:rPr>
              <a:t>Chen, T., &amp; Guestrin, C. (2016). XGBoost: A scalable tree boosting system. Proceedings of KDD 2016, 785–794.</a:t>
            </a:r>
          </a:p>
          <a:p>
            <a:pPr algn="l">
              <a:spcAft>
                <a:spcPts val="900"/>
              </a:spcAft>
            </a:pPr>
            <a:r>
              <a:rPr sz="1400" b="0" i="0">
                <a:solidFill>
                  <a:srgbClr val="0F2A3D"/>
                </a:solidFill>
                <a:latin typeface="Calibri"/>
              </a:rPr>
              <a:t>Lundberg, S. M., &amp; Lee, S.-I. (2017). A unified approach to interpreting model predictions. Advances in Neural Information Processing Systems, 30.</a:t>
            </a:r>
          </a:p>
          <a:p>
            <a:pPr algn="l">
              <a:spcAft>
                <a:spcPts val="900"/>
              </a:spcAft>
            </a:pPr>
            <a:r>
              <a:rPr sz="1400" b="0" i="0">
                <a:solidFill>
                  <a:srgbClr val="0F2A3D"/>
                </a:solidFill>
                <a:latin typeface="Calibri"/>
              </a:rPr>
              <a:t>Software: pandas, matplotlib, seaborn, shap.</a:t>
            </a:r>
          </a:p>
        </p:txBody>
      </p:sp>
      <p:sp>
        <p:nvSpPr>
          <p:cNvPr id="4" name="TextBox 3"/>
          <p:cNvSpPr txBox="1"/>
          <p:nvPr/>
        </p:nvSpPr>
        <p:spPr>
          <a:xfrm>
            <a:off x="731520" y="5212080"/>
            <a:ext cx="10725912" cy="731520"/>
          </a:xfrm>
          <a:prstGeom prst="rect">
            <a:avLst/>
          </a:prstGeom>
          <a:noFill/>
        </p:spPr>
        <p:txBody>
          <a:bodyPr wrap="square" lIns="0" tIns="0" rIns="0" bIns="0" anchor="t">
            <a:spAutoFit/>
          </a:bodyPr>
          <a:lstStyle/>
          <a:p>
            <a:pPr algn="l">
              <a:spcAft>
                <a:spcPts val="600"/>
              </a:spcAft>
            </a:pPr>
            <a:r>
              <a:rPr sz="3600" b="1" i="0">
                <a:solidFill>
                  <a:srgbClr val="C4561F"/>
                </a:solidFill>
                <a:latin typeface="Cambria"/>
              </a:rPr>
              <a:t>Thank you. Questions?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a:solidFill>
                  <a:srgbClr val="E8743B"/>
                </a:solidFill>
                <a:latin typeface="Arial" pitchFamily="34" charset="0"/>
                <a:ea typeface="Arial" pitchFamily="34" charset="-122"/>
                <a:cs typeface="Arial" pitchFamily="34" charset="-120"/>
              </a:rPr>
              <a:t>BACKUP · MODEL DETAIL</a:t>
            </a:r>
            <a:endParaRPr lang="en-US" sz="1400"/>
          </a:p>
        </p:txBody>
      </p:sp>
      <p:sp>
        <p:nvSpPr>
          <p:cNvPr id="3" name="Text 1"/>
          <p:cNvSpPr>
            <a:spLocks noGrp="1"/>
          </p:cNvSpPr>
          <p:nvPr>
            <p:ph type="title"/>
          </p:nvPr>
        </p:nvSpPr>
        <p:spPr>
          <a:xfrm>
            <a:off x="812800" y="131569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0" i="0">
                <a:solidFill>
                  <a:srgbClr val="12202F"/>
                </a:solidFill>
                <a:latin typeface="Georgia" pitchFamily="18" charset="0"/>
                <a:ea typeface="Georgia" pitchFamily="18" charset="-122"/>
                <a:cs typeface="Georgia" pitchFamily="18" charset="-120"/>
              </a:rPr>
              <a:t>Logistic regression, per-tier report</a:t>
            </a:r>
            <a:endParaRPr lang="en-US" sz="32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29420"/>
          <a:ext cx="10553700" cy="2286000"/>
        </p:xfrm>
        <a:graphic>
          <a:graphicData uri="http://schemas.openxmlformats.org/drawingml/2006/table">
            <a:tbl>
              <a:tblPr/>
              <a:tblGrid>
                <a:gridCol w="2638425">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2638425">
                  <a:extLst>
                    <a:ext uri="{9D8B030D-6E8A-4147-A177-3AD203B41FA5}">
                      <a16:colId xmlns:a16="http://schemas.microsoft.com/office/drawing/2014/main" val="20002"/>
                    </a:ext>
                  </a:extLst>
                </a:gridCol>
                <a:gridCol w="2638425">
                  <a:extLst>
                    <a:ext uri="{9D8B030D-6E8A-4147-A177-3AD203B41FA5}">
                      <a16:colId xmlns:a16="http://schemas.microsoft.com/office/drawing/2014/main" val="20003"/>
                    </a:ext>
                  </a:extLst>
                </a:gridCol>
              </a:tblGrid>
              <a:tr h="457200">
                <a:tc>
                  <a:txBody>
                    <a:bodyPr/>
                    <a:lstStyle/>
                    <a:p>
                      <a:pPr marL="0" indent="0">
                        <a:lnSpc>
                          <a:spcPts val="2100"/>
                        </a:lnSpc>
                        <a:buNone/>
                      </a:pPr>
                      <a:r>
                        <a:rPr lang="en-US" sz="1500" b="1">
                          <a:solidFill>
                            <a:srgbClr val="12202F"/>
                          </a:solidFill>
                          <a:latin typeface="Arial" pitchFamily="34" charset="0"/>
                          <a:ea typeface="Arial" pitchFamily="34" charset="-122"/>
                          <a:cs typeface="Arial" pitchFamily="34" charset="-120"/>
                        </a:rPr>
                        <a:t>Tier</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2100"/>
                        </a:lnSpc>
                        <a:buNone/>
                      </a:pPr>
                      <a:r>
                        <a:rPr lang="en-US" sz="1500" b="1">
                          <a:solidFill>
                            <a:srgbClr val="12202F"/>
                          </a:solidFill>
                          <a:latin typeface="Arial" pitchFamily="34" charset="0"/>
                          <a:ea typeface="Arial" pitchFamily="34" charset="-122"/>
                          <a:cs typeface="Arial" pitchFamily="34" charset="-120"/>
                        </a:rPr>
                        <a:t>Precision</a:t>
                      </a:r>
                      <a:endParaRPr lang="en-US" sz="1500">
                        <a:latin typeface="Arial" charset="0"/>
                        <a:ea typeface="Arial" charset="0"/>
                        <a:cs typeface="Arial" charset="0"/>
                      </a:endParaRPr>
                    </a:p>
                  </a:txBody>
                  <a:tcPr marL="127000" marR="127000" marT="88900" marB="8890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2100"/>
                        </a:lnSpc>
                        <a:buNone/>
                      </a:pPr>
                      <a:r>
                        <a:rPr lang="en-US" sz="1500" b="1">
                          <a:solidFill>
                            <a:srgbClr val="12202F"/>
                          </a:solidFill>
                          <a:latin typeface="Arial" pitchFamily="34" charset="0"/>
                          <a:ea typeface="Arial" pitchFamily="34" charset="-122"/>
                          <a:cs typeface="Arial" pitchFamily="34" charset="-120"/>
                        </a:rPr>
                        <a:t>Recall</a:t>
                      </a:r>
                      <a:endParaRPr lang="en-US" sz="1500">
                        <a:latin typeface="Arial" charset="0"/>
                        <a:ea typeface="Arial" charset="0"/>
                        <a:cs typeface="Arial" charset="0"/>
                      </a:endParaRPr>
                    </a:p>
                  </a:txBody>
                  <a:tcPr marL="127000" marR="127000" marT="88900" marB="8890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2100"/>
                        </a:lnSpc>
                        <a:buNone/>
                      </a:pPr>
                      <a:r>
                        <a:rPr lang="en-US" sz="1500" b="1">
                          <a:solidFill>
                            <a:srgbClr val="12202F"/>
                          </a:solidFill>
                          <a:latin typeface="Arial" pitchFamily="34" charset="0"/>
                          <a:ea typeface="Arial" pitchFamily="34" charset="-122"/>
                          <a:cs typeface="Arial" pitchFamily="34" charset="-120"/>
                        </a:rPr>
                        <a:t>F1</a:t>
                      </a:r>
                      <a:endParaRPr lang="en-US" sz="1500">
                        <a:latin typeface="Arial" charset="0"/>
                        <a:ea typeface="Arial" charset="0"/>
                        <a:cs typeface="Arial" charset="0"/>
                      </a:endParaRPr>
                    </a:p>
                  </a:txBody>
                  <a:tcPr marL="127000" marR="127000" marT="88900" marB="8890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Low</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0.40</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0.65</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0.49</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Lower-Mid</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0.62</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0.54</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0.58</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Upper-Mid</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0.32</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0.38</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0.35</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High</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0.34</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0.10</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0.15</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56942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5B6572"/>
                </a:solidFill>
                <a:latin typeface="Arial" pitchFamily="34" charset="0"/>
                <a:ea typeface="Arial" pitchFamily="34" charset="-122"/>
                <a:cs typeface="Arial" pitchFamily="34" charset="-120"/>
              </a:rPr>
              <a:t>Macro average: precision 0.42, recall 0.42, F1 0.39 on 14,383 test rows.</a:t>
            </a:r>
            <a:endParaRPr lang="en-US" sz="1400"/>
          </a:p>
        </p:txBody>
      </p:sp>
      <p:sp>
        <p:nvSpPr>
          <p:cNvPr id="6" name="Text 3"/>
          <p:cNvSpPr/>
          <p:nvPr/>
        </p:nvSpPr>
        <p:spPr>
          <a:xfrm>
            <a:off x="812800" y="6238280"/>
            <a:ext cx="3090148"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B6572"/>
                </a:solidFill>
                <a:latin typeface="Arial" pitchFamily="34" charset="0"/>
                <a:ea typeface="Arial" pitchFamily="34" charset="-122"/>
                <a:cs typeface="Arial" pitchFamily="34" charset="-120"/>
              </a:rPr>
              <a:t>Backup · Baseline classification report</a:t>
            </a:r>
            <a:endParaRPr 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a:solidFill>
                  <a:srgbClr val="E8743B"/>
                </a:solidFill>
                <a:latin typeface="Arial" pitchFamily="34" charset="0"/>
                <a:ea typeface="Arial" pitchFamily="34" charset="-122"/>
                <a:cs typeface="Arial" pitchFamily="34" charset="-120"/>
              </a:rPr>
              <a:t>BACKUP · DATA DETAIL</a:t>
            </a:r>
            <a:endParaRPr lang="en-US" sz="1400"/>
          </a:p>
        </p:txBody>
      </p:sp>
      <p:sp>
        <p:nvSpPr>
          <p:cNvPr id="3" name="Text 1"/>
          <p:cNvSpPr>
            <a:spLocks noGrp="1"/>
          </p:cNvSpPr>
          <p:nvPr>
            <p:ph type="title"/>
          </p:nvPr>
        </p:nvSpPr>
        <p:spPr>
          <a:xfrm>
            <a:off x="812800" y="131569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0" i="0">
                <a:solidFill>
                  <a:srgbClr val="12202F"/>
                </a:solidFill>
                <a:latin typeface="Georgia" pitchFamily="18" charset="0"/>
                <a:ea typeface="Georgia" pitchFamily="18" charset="-122"/>
                <a:cs typeface="Georgia" pitchFamily="18" charset="-120"/>
              </a:rPr>
              <a:t>Category balance</a:t>
            </a:r>
            <a:endParaRPr lang="en-US" sz="32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29420"/>
          <a:ext cx="10553700" cy="3200400"/>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57200">
                <a:tc>
                  <a:txBody>
                    <a:bodyPr/>
                    <a:lstStyle/>
                    <a:p>
                      <a:pPr marL="0" indent="0">
                        <a:lnSpc>
                          <a:spcPts val="2100"/>
                        </a:lnSpc>
                        <a:buNone/>
                      </a:pPr>
                      <a:r>
                        <a:rPr lang="en-US" sz="1500" b="1">
                          <a:solidFill>
                            <a:srgbClr val="12202F"/>
                          </a:solidFill>
                          <a:latin typeface="Arial" pitchFamily="34" charset="0"/>
                          <a:ea typeface="Arial" pitchFamily="34" charset="-122"/>
                          <a:cs typeface="Arial" pitchFamily="34" charset="-120"/>
                        </a:rPr>
                        <a:t>Variable</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2100"/>
                        </a:lnSpc>
                        <a:buNone/>
                      </a:pPr>
                      <a:r>
                        <a:rPr lang="en-US" sz="1500" b="1">
                          <a:solidFill>
                            <a:srgbClr val="12202F"/>
                          </a:solidFill>
                          <a:latin typeface="Arial" pitchFamily="34" charset="0"/>
                          <a:ea typeface="Arial" pitchFamily="34" charset="-122"/>
                          <a:cs typeface="Arial" pitchFamily="34" charset="-120"/>
                        </a:rPr>
                        <a:t>Dominant category</a:t>
                      </a:r>
                      <a:endParaRPr lang="en-US" sz="1500">
                        <a:latin typeface="Arial" charset="0"/>
                        <a:ea typeface="Arial" charset="0"/>
                        <a:cs typeface="Arial" charset="0"/>
                      </a:endParaRPr>
                    </a:p>
                  </a:txBody>
                  <a:tcPr marL="127000" marR="127000" marT="88900" marB="8890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2100"/>
                        </a:lnSpc>
                        <a:buNone/>
                      </a:pPr>
                      <a:r>
                        <a:rPr lang="en-US" sz="1500" b="1">
                          <a:solidFill>
                            <a:srgbClr val="12202F"/>
                          </a:solidFill>
                          <a:latin typeface="Arial" pitchFamily="34" charset="0"/>
                          <a:ea typeface="Arial" pitchFamily="34" charset="-122"/>
                          <a:cs typeface="Arial" pitchFamily="34" charset="-120"/>
                        </a:rPr>
                        <a:t>Share</a:t>
                      </a:r>
                      <a:endParaRPr lang="en-US" sz="1500">
                        <a:latin typeface="Arial" charset="0"/>
                        <a:ea typeface="Arial" charset="0"/>
                        <a:cs typeface="Arial" charset="0"/>
                      </a:endParaRPr>
                    </a:p>
                  </a:txBody>
                  <a:tcPr marL="127000" marR="127000" marT="88900" marB="8890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experience_level</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Senior</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52.4%</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employment_type</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Full-time</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99.0%</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company_size</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Medium</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97.5%</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remote_ratio</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On-site (0)</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75.2%</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role_family</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Other / Unclassified</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56.4%</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work_year</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2025</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a:solidFill>
                            <a:srgbClr val="12202F"/>
                          </a:solidFill>
                          <a:latin typeface="Arial" pitchFamily="34" charset="0"/>
                          <a:ea typeface="Arial" pitchFamily="34" charset="-122"/>
                          <a:cs typeface="Arial" pitchFamily="34" charset="-120"/>
                        </a:rPr>
                        <a:t>53.2%</a:t>
                      </a:r>
                      <a:endParaRPr lang="en-US" sz="1500">
                        <a:latin typeface="Arial" charset="0"/>
                        <a:ea typeface="Arial" charset="0"/>
                        <a:cs typeface="Arial" charset="0"/>
                      </a:endParaRPr>
                    </a:p>
                  </a:txBody>
                  <a:tcPr marL="127000" marR="127000" marT="88900" marB="8890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3476685"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B6572"/>
                </a:solidFill>
                <a:latin typeface="Arial" pitchFamily="34" charset="0"/>
                <a:ea typeface="Arial" pitchFamily="34" charset="-122"/>
                <a:cs typeface="Arial" pitchFamily="34" charset="-120"/>
              </a:rPr>
              <a:t>Backup · Notebook variable-balance check</a:t>
            </a:r>
            <a:endParaRPr lang="en-US" sz="1200"/>
          </a:p>
        </p:txBody>
      </p:sp>
    </p:spTree>
  </p:cSld>
  <p:clrMapOvr>
    <a:masterClrMapping/>
  </p:clrMapOvr>
</p:sld>
</file>

<file path=ppt/theme/theme1.xml><?xml version="1.0" encoding="utf-8"?>
<a:theme xmlns:a="http://schemas.openxmlformats.org/drawingml/2006/main" name="AI Impact on Jobs &amp; Salaries — Salary Tier Prediction">
  <a:themeElements>
    <a:clrScheme name="AI Impact on Jobs &amp; Salaries — Salary Tier Prediction">
      <a:dk1>
        <a:srgbClr val="12202F"/>
      </a:dk1>
      <a:lt1>
        <a:srgbClr val="F6F4EE"/>
      </a:lt1>
      <a:dk2>
        <a:srgbClr val="4B555F"/>
      </a:dk2>
      <a:lt2>
        <a:srgbClr val="DFDFDB"/>
      </a:lt2>
      <a:accent1>
        <a:srgbClr val="E8743B"/>
      </a:accent1>
      <a:accent2>
        <a:srgbClr val="2A7FD4"/>
      </a:accent2>
      <a:accent3>
        <a:srgbClr val="2B3440"/>
      </a:accent3>
      <a:accent4>
        <a:srgbClr val="5B6572"/>
      </a:accent4>
      <a:accent5>
        <a:srgbClr val="C9D3DE"/>
      </a:accent5>
      <a:accent6>
        <a:srgbClr val="9FB0C2"/>
      </a:accent6>
      <a:hlink>
        <a:srgbClr val="0563C1"/>
      </a:hlink>
      <a:folHlink>
        <a:srgbClr val="954F72"/>
      </a:folHlink>
    </a:clrScheme>
    <a:fontScheme name="AI Impact on Jobs &amp; Salaries — Salary Tier Predic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3920</Words>
  <Application>Microsoft Office PowerPoint</Application>
  <PresentationFormat>Widescreen</PresentationFormat>
  <Paragraphs>431</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Georgia</vt:lpstr>
      <vt:lpstr>AI Impact on Jobs &amp; Salaries — Salary Tier Prediction</vt:lpstr>
      <vt:lpstr>Can Job Details Predict Salary in the Age of AI?</vt:lpstr>
      <vt:lpstr>Background and Motivation</vt:lpstr>
      <vt:lpstr>PowerPoint Presentation</vt:lpstr>
      <vt:lpstr>Isco_group_hint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Baseline Error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Logistic regression, per-tier report</vt:lpstr>
      <vt:lpstr>Category balance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Impact on Jobs &amp; Salaries — Salary Tier Prediction</dc:title>
  <dc:subject/>
  <dc:creator>Subhiksha Paulraj</dc:creator>
  <cp:lastModifiedBy>Subhiksha Paulraj</cp:lastModifiedBy>
  <cp:revision>114</cp:revision>
  <dcterms:created xsi:type="dcterms:W3CDTF">2026-10-09T19:24:39Z</dcterms:created>
  <dcterms:modified xsi:type="dcterms:W3CDTF">2026-10-12T13:48:40Z</dcterms:modified>
</cp:coreProperties>
</file>